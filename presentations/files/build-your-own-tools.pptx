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asking who has already tried one of these tools. Usually a third of the room. Build on that instead of starting from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 the two headline lines swap emphasis and reposition. This is the effect to point at when someone asks how the deck was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binding constraint on a workshop is not skill — it is daily free-tier caps. Demo Lovable from the front on one facilitator account, then have everyone build in Bolt.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 the headline and body reposition and rewrite in place — the effect carries the idea from "here is what it is" to "here is why it bites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pairs with the live web version, where the room can flip the switch themselves. If you have the site up, do it there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 the box recolours and the row list dissolves to empty in place. This is the single best use of Morph in the deck — do not click past it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Ted — you will know this territory better than the room does. The framing that lands is that this is the only decision on the whole day that is genuinely hard to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6345936"/>
            <a:ext cx="6583680" cy="274320"/>
          </a:xfrm>
          <a:prstGeom prst="rect">
            <a:avLst/>
          </a:prstGeom>
          <a:noFill/>
          <a:ln/>
        </p:spPr>
        <p:txBody>
          <a:bodyPr wrap="square" lIns="0" tIns="0" rIns="0" bIns="0" rtlCol="0" anchor="ctr"/>
          <a:lstStyle/>
          <a:p>
            <a:pPr indent="0" marL="0">
              <a:buNone/>
            </a:pPr>
            <a:r>
              <a:rPr lang="en-US" sz="900" dirty="0">
                <a:solidFill>
                  <a:srgbClr val="B4BCC5"/>
                </a:solidFill>
                <a:latin typeface="Calibri" pitchFamily="34" charset="0"/>
                <a:ea typeface="Calibri" pitchFamily="34" charset="-122"/>
                <a:cs typeface="Calibri" pitchFamily="34" charset="-120"/>
              </a:rPr>
              <a:t>© 2026 Ted Gonzalez, JD/MBA. All rights reserved.</a:t>
            </a:r>
            <a:endParaRPr lang="en-US" sz="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A1A2E"/>
        </a:solidFill>
      </p:bgPr>
    </p:bg>
    <p:spTree>
      <p:nvGrpSpPr>
        <p:cNvPr id="1" name=""/>
        <p:cNvGrpSpPr/>
        <p:nvPr/>
      </p:nvGrpSpPr>
      <p:grpSpPr>
        <a:xfrm>
          <a:off x="0" y="0"/>
          <a:ext cx="0" cy="0"/>
          <a:chOff x="0" y="0"/>
          <a:chExt cx="0" cy="0"/>
        </a:xfrm>
      </p:grpSpPr>
      <p:sp>
        <p:nvSpPr>
          <p:cNvPr id="2" name="Text 0"/>
          <p:cNvSpPr/>
          <p:nvPr/>
        </p:nvSpPr>
        <p:spPr>
          <a:xfrm>
            <a:off x="914400" y="6345936"/>
            <a:ext cx="6583680" cy="274320"/>
          </a:xfrm>
          <a:prstGeom prst="rect">
            <a:avLst/>
          </a:prstGeom>
          <a:noFill/>
          <a:ln/>
        </p:spPr>
        <p:txBody>
          <a:bodyPr wrap="square" lIns="0" tIns="0" rIns="0" bIns="0" rtlCol="0" anchor="ctr"/>
          <a:lstStyle/>
          <a:p>
            <a:pPr indent="0" marL="0">
              <a:buNone/>
            </a:pPr>
            <a:r>
              <a:rPr lang="en-US" sz="900" dirty="0">
                <a:solidFill>
                  <a:srgbClr val="4E5F72"/>
                </a:solidFill>
                <a:latin typeface="Calibri" pitchFamily="34" charset="0"/>
                <a:ea typeface="Calibri" pitchFamily="34" charset="-122"/>
                <a:cs typeface="Calibri" pitchFamily="34" charset="-120"/>
              </a:rPr>
              <a:t>© 2026 Ted Gonzalez, JD/MBA. All rights reserved.</a:t>
            </a:r>
            <a:endParaRPr lang="en-US" sz="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UE">
    <p:bg>
      <p:bgPr>
        <a:solidFill>
          <a:srgbClr val="003366"/>
        </a:solidFill>
      </p:bgPr>
    </p:bg>
    <p:spTree>
      <p:nvGrpSpPr>
        <p:cNvPr id="1" name=""/>
        <p:cNvGrpSpPr/>
        <p:nvPr/>
      </p:nvGrpSpPr>
      <p:grpSpPr>
        <a:xfrm>
          <a:off x="0" y="0"/>
          <a:ext cx="0" cy="0"/>
          <a:chOff x="0" y="0"/>
          <a:chExt cx="0" cy="0"/>
        </a:xfrm>
      </p:grpSpPr>
      <p:sp>
        <p:nvSpPr>
          <p:cNvPr id="2" name="Text 0"/>
          <p:cNvSpPr/>
          <p:nvPr/>
        </p:nvSpPr>
        <p:spPr>
          <a:xfrm>
            <a:off x="914400" y="6345936"/>
            <a:ext cx="6583680" cy="274320"/>
          </a:xfrm>
          <a:prstGeom prst="rect">
            <a:avLst/>
          </a:prstGeom>
          <a:noFill/>
          <a:ln/>
        </p:spPr>
        <p:txBody>
          <a:bodyPr wrap="square" lIns="0" tIns="0" rIns="0" bIns="0" rtlCol="0" anchor="ctr"/>
          <a:lstStyle/>
          <a:p>
            <a:pPr indent="0" marL="0">
              <a:buNone/>
            </a:pPr>
            <a:r>
              <a:rPr lang="en-US" sz="900" dirty="0">
                <a:solidFill>
                  <a:srgbClr val="5A82A8"/>
                </a:solidFill>
                <a:latin typeface="Calibri" pitchFamily="34" charset="0"/>
                <a:ea typeface="Calibri" pitchFamily="34" charset="-122"/>
                <a:cs typeface="Calibri" pitchFamily="34" charset="-120"/>
              </a:rPr>
              <a:t>© 2026 Ted Gonzalez, JD/MBA. All rights reserved.</a:t>
            </a:r>
            <a:endParaRPr lang="en-US" sz="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heroA"/>
          <p:cNvSpPr/>
          <p:nvPr/>
        </p:nvSpPr>
        <p:spPr>
          <a:xfrm>
            <a:off x="914400" y="1874520"/>
            <a:ext cx="10362895" cy="310896"/>
          </a:xfrm>
          <a:prstGeom prst="rect">
            <a:avLst/>
          </a:prstGeom>
          <a:noFill/>
          <a:ln/>
        </p:spPr>
        <p:txBody>
          <a:bodyPr wrap="square" lIns="0" tIns="0" rIns="0" bIns="0" rtlCol="0" anchor="ctr">
            <a:normAutofit/>
          </a:bodyPr>
          <a:lstStyle/>
          <a:p>
            <a:pPr indent="0" marL="0">
              <a:buNone/>
            </a:pPr>
            <a:r>
              <a:rPr lang="en-US" sz="1250" b="1" spc="300" kern="0" dirty="0">
                <a:solidFill>
                  <a:srgbClr val="FF6600"/>
                </a:solidFill>
                <a:latin typeface="Calibri" pitchFamily="34" charset="0"/>
                <a:ea typeface="Calibri" pitchFamily="34" charset="-122"/>
                <a:cs typeface="Calibri" pitchFamily="34" charset="-120"/>
              </a:rPr>
              <a:t>MCLENNAN COMMUNITY COLLEGE · PROFESSIONAL DEVELOPMENT</a:t>
            </a:r>
            <a:endParaRPr lang="en-US" sz="1250" dirty="0"/>
          </a:p>
        </p:txBody>
      </p:sp>
      <p:sp>
        <p:nvSpPr>
          <p:cNvPr id="3" name="!!heroB"/>
          <p:cNvSpPr/>
          <p:nvPr/>
        </p:nvSpPr>
        <p:spPr>
          <a:xfrm>
            <a:off x="914400" y="2331720"/>
            <a:ext cx="10362895" cy="1051560"/>
          </a:xfrm>
          <a:prstGeom prst="rect">
            <a:avLst/>
          </a:prstGeom>
          <a:noFill/>
          <a:ln/>
        </p:spPr>
        <p:txBody>
          <a:bodyPr wrap="square" lIns="0" tIns="0" rIns="0" bIns="0" rtlCol="0" anchor="ctr">
            <a:normAutofit/>
          </a:bodyPr>
          <a:lstStyle/>
          <a:p>
            <a:pPr indent="0" marL="0">
              <a:lnSpc>
                <a:spcPts val="6800"/>
              </a:lnSpc>
              <a:buNone/>
            </a:pPr>
            <a:r>
              <a:rPr lang="en-US" sz="6200" b="1" dirty="0">
                <a:solidFill>
                  <a:srgbClr val="FFFFFF"/>
                </a:solidFill>
                <a:latin typeface="Poppins" pitchFamily="34" charset="0"/>
                <a:ea typeface="Poppins" pitchFamily="34" charset="-122"/>
                <a:cs typeface="Poppins" pitchFamily="34" charset="-120"/>
              </a:rPr>
              <a:t>You can build</a:t>
            </a:r>
            <a:endParaRPr lang="en-US" sz="6200" dirty="0"/>
          </a:p>
        </p:txBody>
      </p:sp>
      <p:sp>
        <p:nvSpPr>
          <p:cNvPr id="4" name="Text 2"/>
          <p:cNvSpPr/>
          <p:nvPr/>
        </p:nvSpPr>
        <p:spPr>
          <a:xfrm>
            <a:off x="914400" y="3310128"/>
            <a:ext cx="10362895" cy="1051560"/>
          </a:xfrm>
          <a:prstGeom prst="rect">
            <a:avLst/>
          </a:prstGeom>
          <a:noFill/>
          <a:ln/>
        </p:spPr>
        <p:txBody>
          <a:bodyPr wrap="square" lIns="0" tIns="0" rIns="0" bIns="0" rtlCol="0" anchor="ctr">
            <a:normAutofit/>
          </a:bodyPr>
          <a:lstStyle/>
          <a:p>
            <a:pPr indent="0" marL="0">
              <a:lnSpc>
                <a:spcPts val="6800"/>
              </a:lnSpc>
              <a:buNone/>
            </a:pPr>
            <a:r>
              <a:rPr lang="en-US" sz="6200" b="1" dirty="0">
                <a:solidFill>
                  <a:srgbClr val="5C6E82"/>
                </a:solidFill>
                <a:latin typeface="Poppins" pitchFamily="34" charset="0"/>
                <a:ea typeface="Poppins" pitchFamily="34" charset="-122"/>
                <a:cs typeface="Poppins" pitchFamily="34" charset="-120"/>
              </a:rPr>
              <a:t>your own software.</a:t>
            </a:r>
            <a:endParaRPr lang="en-US" sz="6200" dirty="0"/>
          </a:p>
        </p:txBody>
      </p:sp>
      <p:sp>
        <p:nvSpPr>
          <p:cNvPr id="5" name="Text 3"/>
          <p:cNvSpPr/>
          <p:nvPr/>
        </p:nvSpPr>
        <p:spPr>
          <a:xfrm>
            <a:off x="914400" y="4754880"/>
            <a:ext cx="10362895" cy="365760"/>
          </a:xfrm>
          <a:prstGeom prst="rect">
            <a:avLst/>
          </a:prstGeom>
          <a:noFill/>
          <a:ln/>
        </p:spPr>
        <p:txBody>
          <a:bodyPr wrap="square" lIns="0" tIns="0" rIns="0" bIns="0" rtlCol="0" anchor="ctr">
            <a:normAutofit/>
          </a:bodyPr>
          <a:lstStyle/>
          <a:p>
            <a:pPr indent="0" marL="0">
              <a:buNone/>
            </a:pPr>
            <a:r>
              <a:rPr lang="en-US" sz="1900" dirty="0">
                <a:solidFill>
                  <a:srgbClr val="A7B7C9"/>
                </a:solidFill>
                <a:latin typeface="Calibri" pitchFamily="34" charset="0"/>
                <a:ea typeface="Calibri" pitchFamily="34" charset="-122"/>
                <a:cs typeface="Calibri" pitchFamily="34" charset="-120"/>
              </a:rPr>
              <a:t>Three hours. Four things you build. Nothing you have to pay for.</a:t>
            </a:r>
            <a:endParaRPr lang="en-US" sz="1900" dirty="0"/>
          </a:p>
        </p:txBody>
      </p:sp>
      <p:sp>
        <p:nvSpPr>
          <p:cNvPr id="6" name="Text 4"/>
          <p:cNvSpPr/>
          <p:nvPr/>
        </p:nvSpPr>
        <p:spPr>
          <a:xfrm>
            <a:off x="914400" y="5193792"/>
            <a:ext cx="10362895" cy="365760"/>
          </a:xfrm>
          <a:prstGeom prst="rect">
            <a:avLst/>
          </a:prstGeom>
          <a:noFill/>
          <a:ln/>
        </p:spPr>
        <p:txBody>
          <a:bodyPr wrap="square" lIns="0" tIns="0" rIns="0" bIns="0" rtlCol="0" anchor="ctr">
            <a:normAutofit/>
          </a:bodyPr>
          <a:lstStyle/>
          <a:p>
            <a:pPr indent="0" marL="0">
              <a:buNone/>
            </a:pPr>
            <a:r>
              <a:rPr lang="en-US" sz="1500" dirty="0">
                <a:solidFill>
                  <a:srgbClr val="5C6E82"/>
                </a:solidFill>
                <a:latin typeface="Calibri" pitchFamily="34" charset="0"/>
                <a:ea typeface="Calibri" pitchFamily="34" charset="-122"/>
                <a:cs typeface="Calibri" pitchFamily="34" charset="-120"/>
              </a:rPr>
              <a:t>Ted Gonzalez, JD/MBA</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heroA"/>
        <p:cNvGrpSpPr/>
        <p:nvPr/>
      </p:nvGrpSpPr>
      <p:grpSpPr>
        <a:xfrm>
          <a:off x="0" y="0"/>
          <a:ext cx="0" cy="0"/>
          <a:chOff x="0" y="0"/>
          <a:chExt cx="0" cy="0"/>
        </a:xfrm>
      </p:grpSpPr>
      <p:sp>
        <p:nvSpPr>
          <p:cNvPr id="2" name="!!heroB"/>
          <p:cNvSpPr/>
          <p:nvPr/>
        </p:nvSpPr>
        <p:spPr>
          <a:xfrm>
            <a:off x="914400" y="1691640"/>
            <a:ext cx="10362895" cy="960120"/>
          </a:xfrm>
          <a:prstGeom prst="rect">
            <a:avLst/>
          </a:prstGeom>
          <a:noFill/>
          <a:ln/>
        </p:spPr>
        <p:txBody>
          <a:bodyPr wrap="square" lIns="0" tIns="0" rIns="0" bIns="0" rtlCol="0" anchor="ctr">
            <a:normAutofit/>
          </a:bodyPr>
          <a:lstStyle/>
          <a:p>
            <a:pPr indent="0" marL="0">
              <a:lnSpc>
                <a:spcPts val="5800"/>
              </a:lnSpc>
              <a:buNone/>
            </a:pPr>
            <a:r>
              <a:rPr lang="en-US" sz="5200" b="1" dirty="0">
                <a:solidFill>
                  <a:srgbClr val="5C6E82"/>
                </a:solidFill>
                <a:latin typeface="Poppins" pitchFamily="34" charset="0"/>
                <a:ea typeface="Poppins" pitchFamily="34" charset="-122"/>
                <a:cs typeface="Poppins" pitchFamily="34" charset="-120"/>
              </a:rPr>
              <a:t>You can build</a:t>
            </a:r>
            <a:endParaRPr lang="en-US" sz="5200" dirty="0"/>
          </a:p>
        </p:txBody>
      </p:sp>
      <p:sp>
        <p:nvSpPr>
          <p:cNvPr id="3" name="Text 1"/>
          <p:cNvSpPr/>
          <p:nvPr/>
        </p:nvSpPr>
        <p:spPr>
          <a:xfrm>
            <a:off x="914400" y="2514600"/>
            <a:ext cx="10362895" cy="960120"/>
          </a:xfrm>
          <a:prstGeom prst="rect">
            <a:avLst/>
          </a:prstGeom>
          <a:noFill/>
          <a:ln/>
        </p:spPr>
        <p:txBody>
          <a:bodyPr wrap="square" lIns="0" tIns="0" rIns="0" bIns="0" rtlCol="0" anchor="ctr">
            <a:normAutofit/>
          </a:bodyPr>
          <a:lstStyle/>
          <a:p>
            <a:pPr indent="0" marL="0">
              <a:lnSpc>
                <a:spcPts val="5800"/>
              </a:lnSpc>
              <a:buNone/>
            </a:pPr>
            <a:r>
              <a:rPr lang="en-US" sz="5200" b="1" dirty="0">
                <a:solidFill>
                  <a:srgbClr val="FFFFFF"/>
                </a:solidFill>
                <a:latin typeface="Poppins" pitchFamily="34" charset="0"/>
                <a:ea typeface="Poppins" pitchFamily="34" charset="-122"/>
                <a:cs typeface="Poppins" pitchFamily="34" charset="-120"/>
              </a:rPr>
              <a:t>your own software.</a:t>
            </a:r>
            <a:endParaRPr lang="en-US" sz="5200" dirty="0"/>
          </a:p>
        </p:txBody>
      </p:sp>
      <p:sp>
        <p:nvSpPr>
          <p:cNvPr id="4" name="Text 2"/>
          <p:cNvSpPr/>
          <p:nvPr/>
        </p:nvSpPr>
        <p:spPr>
          <a:xfrm>
            <a:off x="914400" y="3840480"/>
            <a:ext cx="8899855" cy="1188720"/>
          </a:xfrm>
          <a:prstGeom prst="rect">
            <a:avLst/>
          </a:prstGeom>
          <a:noFill/>
          <a:ln/>
        </p:spPr>
        <p:txBody>
          <a:bodyPr wrap="square" lIns="0" tIns="0" rIns="0" bIns="0" rtlCol="0" anchor="t">
            <a:normAutofit/>
          </a:bodyPr>
          <a:lstStyle/>
          <a:p>
            <a:pPr indent="0" marL="0">
              <a:lnSpc>
                <a:spcPts val="3000"/>
              </a:lnSpc>
              <a:buNone/>
            </a:pPr>
            <a:r>
              <a:rPr lang="en-US" sz="2000" dirty="0">
                <a:solidFill>
                  <a:srgbClr val="A7B7C9"/>
                </a:solidFill>
                <a:latin typeface="Calibri" pitchFamily="34" charset="0"/>
                <a:ea typeface="Calibri" pitchFamily="34" charset="-122"/>
                <a:cs typeface="Calibri" pitchFamily="34" charset="-120"/>
              </a:rPr>
              <a:t>Not "learn to code." Build. Describe what you need in plain English, get a working tool, put it on the internet, and keep it from leaking.</a:t>
            </a:r>
            <a:endParaRPr lang="en-US" sz="20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14400" y="1965960"/>
            <a:ext cx="9814255" cy="912368"/>
          </a:xfrm>
          <a:prstGeom prst="rect">
            <a:avLst/>
          </a:prstGeom>
          <a:noFill/>
          <a:ln/>
        </p:spPr>
        <p:txBody>
          <a:bodyPr wrap="square" lIns="0" tIns="0" rIns="0" bIns="0" rtlCol="0" anchor="t">
            <a:normAutofit/>
          </a:bodyPr>
          <a:lstStyle/>
          <a:p>
            <a:pPr indent="0" marL="0">
              <a:lnSpc>
                <a:spcPts val="6032"/>
              </a:lnSpc>
              <a:buNone/>
            </a:pPr>
            <a:r>
              <a:rPr lang="en-US" sz="5200" b="1" dirty="0">
                <a:solidFill>
                  <a:srgbClr val="FFFFFF"/>
                </a:solidFill>
                <a:latin typeface="Poppins" pitchFamily="34" charset="0"/>
                <a:ea typeface="Poppins" pitchFamily="34" charset="-122"/>
                <a:cs typeface="Poppins" pitchFamily="34" charset="-120"/>
              </a:rPr>
              <a:t>The bottleneck moved.</a:t>
            </a:r>
            <a:endParaRPr lang="en-US" sz="5200" dirty="0"/>
          </a:p>
        </p:txBody>
      </p:sp>
      <p:sp>
        <p:nvSpPr>
          <p:cNvPr id="3" name="Text 1"/>
          <p:cNvSpPr/>
          <p:nvPr/>
        </p:nvSpPr>
        <p:spPr>
          <a:xfrm>
            <a:off x="914400" y="3189224"/>
            <a:ext cx="8716975" cy="2800096"/>
          </a:xfrm>
          <a:prstGeom prst="rect">
            <a:avLst/>
          </a:prstGeom>
          <a:noFill/>
          <a:ln/>
        </p:spPr>
        <p:txBody>
          <a:bodyPr wrap="square" lIns="0" tIns="0" rIns="0" bIns="0" rtlCol="0" anchor="t">
            <a:normAutofit/>
          </a:bodyPr>
          <a:lstStyle/>
          <a:p>
            <a:pPr indent="0" marL="0">
              <a:lnSpc>
                <a:spcPts val="3000"/>
              </a:lnSpc>
              <a:buNone/>
            </a:pPr>
            <a:r>
              <a:rPr lang="en-US" sz="2000" dirty="0">
                <a:solidFill>
                  <a:srgbClr val="A7B7C9"/>
                </a:solidFill>
                <a:latin typeface="Calibri" pitchFamily="34" charset="0"/>
                <a:ea typeface="Calibri" pitchFamily="34" charset="-122"/>
                <a:cs typeface="Calibri" pitchFamily="34" charset="-120"/>
              </a:rPr>
              <a:t>Syntax used to be the wall, and it kept almost everyone out. It is not the wall anymore. The wall now is knowing what to build — and knowing what will go wrong.</a:t>
            </a:r>
            <a:endParaRPr lang="en-US" sz="20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WHAT THE JOB ACTUALLY IS</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Three steps, and only one</a:t>
            </a:r>
            <a:endParaRPr lang="en-US" sz="4000" dirty="0"/>
          </a:p>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of them is new.</a:t>
            </a:r>
            <a:endParaRPr lang="en-US" sz="4000" dirty="0"/>
          </a:p>
        </p:txBody>
      </p:sp>
      <p:sp>
        <p:nvSpPr>
          <p:cNvPr id="4" name="Text 2"/>
          <p:cNvSpPr/>
          <p:nvPr/>
        </p:nvSpPr>
        <p:spPr>
          <a:xfrm>
            <a:off x="914400" y="269748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B34A00"/>
                </a:solidFill>
                <a:latin typeface="Poppins" pitchFamily="34" charset="0"/>
                <a:ea typeface="Poppins" pitchFamily="34" charset="-122"/>
                <a:cs typeface="Poppins" pitchFamily="34" charset="-120"/>
              </a:rPr>
              <a:t>01</a:t>
            </a:r>
            <a:endParaRPr lang="en-US" sz="3400" dirty="0"/>
          </a:p>
        </p:txBody>
      </p:sp>
      <p:sp>
        <p:nvSpPr>
          <p:cNvPr id="5" name="Text 3"/>
          <p:cNvSpPr/>
          <p:nvPr/>
        </p:nvSpPr>
        <p:spPr>
          <a:xfrm>
            <a:off x="914400" y="3410712"/>
            <a:ext cx="3119018"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Describe</a:t>
            </a:r>
            <a:endParaRPr lang="en-US" sz="2100" dirty="0"/>
          </a:p>
        </p:txBody>
      </p:sp>
      <p:sp>
        <p:nvSpPr>
          <p:cNvPr id="6" name="Text 4"/>
          <p:cNvSpPr/>
          <p:nvPr/>
        </p:nvSpPr>
        <p:spPr>
          <a:xfrm>
            <a:off x="914400" y="3975354"/>
            <a:ext cx="3119018" cy="1876806"/>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"A form where staff request a room, and I see every request in one list." Ordinary language, no jargon.</a:t>
            </a:r>
            <a:endParaRPr lang="en-US" sz="1500" dirty="0"/>
          </a:p>
        </p:txBody>
      </p:sp>
      <p:sp>
        <p:nvSpPr>
          <p:cNvPr id="7" name="Text 5"/>
          <p:cNvSpPr/>
          <p:nvPr/>
        </p:nvSpPr>
        <p:spPr>
          <a:xfrm>
            <a:off x="4536338" y="269748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B34A00"/>
                </a:solidFill>
                <a:latin typeface="Poppins" pitchFamily="34" charset="0"/>
                <a:ea typeface="Poppins" pitchFamily="34" charset="-122"/>
                <a:cs typeface="Poppins" pitchFamily="34" charset="-120"/>
              </a:rPr>
              <a:t>02</a:t>
            </a:r>
            <a:endParaRPr lang="en-US" sz="3400" dirty="0"/>
          </a:p>
        </p:txBody>
      </p:sp>
      <p:sp>
        <p:nvSpPr>
          <p:cNvPr id="8" name="Text 6"/>
          <p:cNvSpPr/>
          <p:nvPr/>
        </p:nvSpPr>
        <p:spPr>
          <a:xfrm>
            <a:off x="4536338" y="3410712"/>
            <a:ext cx="3119018"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Iterate</a:t>
            </a:r>
            <a:endParaRPr lang="en-US" sz="2100" dirty="0"/>
          </a:p>
        </p:txBody>
      </p:sp>
      <p:sp>
        <p:nvSpPr>
          <p:cNvPr id="9" name="Text 7"/>
          <p:cNvSpPr/>
          <p:nvPr/>
        </p:nvSpPr>
        <p:spPr>
          <a:xfrm>
            <a:off x="4536338" y="3975354"/>
            <a:ext cx="3119018" cy="1876806"/>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It writes it and shows you. You say what is wrong. It changes. That loop is the entire job.</a:t>
            </a:r>
            <a:endParaRPr lang="en-US" sz="1500" dirty="0"/>
          </a:p>
        </p:txBody>
      </p:sp>
      <p:sp>
        <p:nvSpPr>
          <p:cNvPr id="10" name="Text 8"/>
          <p:cNvSpPr/>
          <p:nvPr/>
        </p:nvSpPr>
        <p:spPr>
          <a:xfrm>
            <a:off x="8158277" y="269748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B34A00"/>
                </a:solidFill>
                <a:latin typeface="Poppins" pitchFamily="34" charset="0"/>
                <a:ea typeface="Poppins" pitchFamily="34" charset="-122"/>
                <a:cs typeface="Poppins" pitchFamily="34" charset="-120"/>
              </a:rPr>
              <a:t>03</a:t>
            </a:r>
            <a:endParaRPr lang="en-US" sz="3400" dirty="0"/>
          </a:p>
        </p:txBody>
      </p:sp>
      <p:sp>
        <p:nvSpPr>
          <p:cNvPr id="11" name="Text 9"/>
          <p:cNvSpPr/>
          <p:nvPr/>
        </p:nvSpPr>
        <p:spPr>
          <a:xfrm>
            <a:off x="8158277" y="3410712"/>
            <a:ext cx="3119018"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Own it</a:t>
            </a:r>
            <a:endParaRPr lang="en-US" sz="2100" dirty="0"/>
          </a:p>
        </p:txBody>
      </p:sp>
      <p:sp>
        <p:nvSpPr>
          <p:cNvPr id="12" name="Text 10"/>
          <p:cNvSpPr/>
          <p:nvPr/>
        </p:nvSpPr>
        <p:spPr>
          <a:xfrm>
            <a:off x="8158277" y="3975354"/>
            <a:ext cx="3119018" cy="1876806"/>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It is real software now, on the real internet, possibly holding real data. This is the part nobody teaches.</a:t>
            </a:r>
            <a:endParaRPr lang="en-US" sz="1500" dirty="0"/>
          </a:p>
        </p:txBody>
      </p:sp>
      <p:sp>
        <p:nvSpPr>
          <p:cNvPr id="13" name="Text 11"/>
          <p:cNvSpPr/>
          <p:nvPr/>
        </p:nvSpPr>
        <p:spPr>
          <a:xfrm>
            <a:off x="914400" y="5120640"/>
            <a:ext cx="9448495" cy="822960"/>
          </a:xfrm>
          <a:prstGeom prst="rect">
            <a:avLst/>
          </a:prstGeom>
          <a:noFill/>
          <a:ln/>
        </p:spPr>
        <p:txBody>
          <a:bodyPr wrap="square" lIns="0" tIns="0" rIns="0" bIns="0" rtlCol="0" anchor="t">
            <a:normAutofit/>
          </a:bodyPr>
          <a:lstStyle/>
          <a:p>
            <a:pPr indent="0" marL="0">
              <a:lnSpc>
                <a:spcPts val="3200"/>
              </a:lnSpc>
              <a:buNone/>
            </a:pPr>
            <a:r>
              <a:rPr lang="en-US" sz="2400" b="1" dirty="0">
                <a:solidFill>
                  <a:srgbClr val="003366"/>
                </a:solidFill>
                <a:latin typeface="Poppins" pitchFamily="34" charset="0"/>
                <a:ea typeface="Poppins" pitchFamily="34" charset="-122"/>
                <a:cs typeface="Poppins" pitchFamily="34" charset="-120"/>
              </a:rPr>
              <a:t>The skill is no longer typing code. It is judgment about what you have made.</a:t>
            </a:r>
            <a:endParaRPr lang="en-US" sz="24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14400" y="1371600"/>
            <a:ext cx="10362895" cy="914400"/>
          </a:xfrm>
          <a:prstGeom prst="rect">
            <a:avLst/>
          </a:prstGeom>
          <a:noFill/>
          <a:ln/>
        </p:spPr>
        <p:txBody>
          <a:bodyPr wrap="square" lIns="0" tIns="0" rIns="0" bIns="0" rtlCol="0" anchor="ctr">
            <a:normAutofit/>
          </a:bodyPr>
          <a:lstStyle/>
          <a:p>
            <a:pPr indent="0" marL="0">
              <a:buNone/>
            </a:pPr>
            <a:r>
              <a:rPr lang="en-US" sz="2000" b="1" spc="300" kern="0" dirty="0">
                <a:solidFill>
                  <a:srgbClr val="FF6600"/>
                </a:solidFill>
                <a:latin typeface="Poppins" pitchFamily="34" charset="0"/>
                <a:ea typeface="Poppins" pitchFamily="34" charset="-122"/>
                <a:cs typeface="Poppins" pitchFamily="34" charset="-120"/>
              </a:rPr>
              <a:t>PART ONE</a:t>
            </a:r>
            <a:endParaRPr lang="en-US" sz="2000" dirty="0"/>
          </a:p>
        </p:txBody>
      </p:sp>
      <p:sp>
        <p:nvSpPr>
          <p:cNvPr id="3" name="Text 1"/>
          <p:cNvSpPr/>
          <p:nvPr/>
        </p:nvSpPr>
        <p:spPr>
          <a:xfrm>
            <a:off x="914400" y="2286000"/>
            <a:ext cx="9265615" cy="882904"/>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What you actually need</a:t>
            </a:r>
            <a:endParaRPr lang="en-US" sz="5000" dirty="0"/>
          </a:p>
        </p:txBody>
      </p:sp>
      <p:sp>
        <p:nvSpPr>
          <p:cNvPr id="4" name="Text 2"/>
          <p:cNvSpPr/>
          <p:nvPr/>
        </p:nvSpPr>
        <p:spPr>
          <a:xfrm>
            <a:off x="914400" y="4023360"/>
            <a:ext cx="7985455" cy="914400"/>
          </a:xfrm>
          <a:prstGeom prst="rect">
            <a:avLst/>
          </a:prstGeom>
          <a:noFill/>
          <a:ln/>
        </p:spPr>
        <p:txBody>
          <a:bodyPr wrap="square" lIns="0" tIns="0" rIns="0" bIns="0" rtlCol="0" anchor="t">
            <a:normAutofit/>
          </a:bodyPr>
          <a:lstStyle/>
          <a:p>
            <a:pPr indent="0" marL="0">
              <a:lnSpc>
                <a:spcPts val="2700"/>
              </a:lnSpc>
              <a:buNone/>
            </a:pPr>
            <a:r>
              <a:rPr lang="en-US" sz="1900" dirty="0">
                <a:solidFill>
                  <a:srgbClr val="B7CDE0"/>
                </a:solidFill>
                <a:latin typeface="Calibri" pitchFamily="34" charset="0"/>
                <a:ea typeface="Calibri" pitchFamily="34" charset="-122"/>
                <a:cs typeface="Calibri" pitchFamily="34" charset="-120"/>
              </a:rPr>
              <a:t>Two roads. One needs nothing but a browser. Start there — everyone does.</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THE TWO ROADS</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Browser, or your own machine.</a:t>
            </a:r>
            <a:endParaRPr lang="en-US" sz="4000" dirty="0"/>
          </a:p>
        </p:txBody>
      </p:sp>
      <p:sp>
        <p:nvSpPr>
          <p:cNvPr id="4" name="Text 2"/>
          <p:cNvSpPr/>
          <p:nvPr/>
        </p:nvSpPr>
        <p:spPr>
          <a:xfrm>
            <a:off x="914400" y="2606040"/>
            <a:ext cx="4929988" cy="256032"/>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ROAD ONE · TODAY</a:t>
            </a:r>
            <a:endParaRPr lang="en-US" sz="1050" dirty="0"/>
          </a:p>
        </p:txBody>
      </p:sp>
      <p:sp>
        <p:nvSpPr>
          <p:cNvPr id="5" name="Text 3"/>
          <p:cNvSpPr/>
          <p:nvPr/>
        </p:nvSpPr>
        <p:spPr>
          <a:xfrm>
            <a:off x="914400" y="3008376"/>
            <a:ext cx="4929988" cy="441198"/>
          </a:xfrm>
          <a:prstGeom prst="rect">
            <a:avLst/>
          </a:prstGeom>
          <a:noFill/>
          <a:ln/>
        </p:spPr>
        <p:txBody>
          <a:bodyPr wrap="square" lIns="0" tIns="0" rIns="0" bIns="0" rtlCol="0" anchor="t">
            <a:normAutofit/>
          </a:bodyPr>
          <a:lstStyle/>
          <a:p>
            <a:pPr indent="0" marL="0">
              <a:lnSpc>
                <a:spcPts val="2898"/>
              </a:lnSpc>
              <a:buNone/>
            </a:pPr>
            <a:r>
              <a:rPr lang="en-US" sz="2300" b="1" dirty="0">
                <a:solidFill>
                  <a:srgbClr val="003366"/>
                </a:solidFill>
                <a:latin typeface="Poppins" pitchFamily="34" charset="0"/>
                <a:ea typeface="Poppins" pitchFamily="34" charset="-122"/>
                <a:cs typeface="Poppins" pitchFamily="34" charset="-120"/>
              </a:rPr>
              <a:t>The browser builders</a:t>
            </a:r>
            <a:endParaRPr lang="en-US" sz="2300" dirty="0"/>
          </a:p>
        </p:txBody>
      </p:sp>
      <p:sp>
        <p:nvSpPr>
          <p:cNvPr id="6" name="Text 4"/>
          <p:cNvSpPr/>
          <p:nvPr/>
        </p:nvSpPr>
        <p:spPr>
          <a:xfrm>
            <a:off x="914400" y="3605022"/>
            <a:ext cx="4929988" cy="2430018"/>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Open a tab, type what you want, a working app appears — and they publish it for you. Nothing to install, which matters if your laptop blocks installs.</a:t>
            </a:r>
            <a:endParaRPr lang="en-US" sz="1500" dirty="0"/>
          </a:p>
        </p:txBody>
      </p:sp>
      <p:sp>
        <p:nvSpPr>
          <p:cNvPr id="7" name="Text 5"/>
          <p:cNvSpPr/>
          <p:nvPr/>
        </p:nvSpPr>
        <p:spPr>
          <a:xfrm>
            <a:off x="6347308" y="2606040"/>
            <a:ext cx="4929988" cy="256032"/>
          </a:xfrm>
          <a:prstGeom prst="rect">
            <a:avLst/>
          </a:prstGeom>
          <a:noFill/>
          <a:ln/>
        </p:spPr>
        <p:txBody>
          <a:bodyPr wrap="square" lIns="0" tIns="0" rIns="0" bIns="0" rtlCol="0" anchor="ctr">
            <a:normAutofit/>
          </a:bodyPr>
          <a:lstStyle/>
          <a:p>
            <a:pPr indent="0" marL="0">
              <a:buNone/>
            </a:pPr>
            <a:r>
              <a:rPr lang="en-US" sz="1050" b="1" spc="200" kern="0" dirty="0">
                <a:solidFill>
                  <a:srgbClr val="00697A"/>
                </a:solidFill>
                <a:latin typeface="Calibri" pitchFamily="34" charset="0"/>
                <a:ea typeface="Calibri" pitchFamily="34" charset="-122"/>
                <a:cs typeface="Calibri" pitchFamily="34" charset="-120"/>
              </a:rPr>
              <a:t>ROAD TWO · LATER</a:t>
            </a:r>
            <a:endParaRPr lang="en-US" sz="1050" dirty="0"/>
          </a:p>
        </p:txBody>
      </p:sp>
      <p:sp>
        <p:nvSpPr>
          <p:cNvPr id="8" name="Text 6"/>
          <p:cNvSpPr/>
          <p:nvPr/>
        </p:nvSpPr>
        <p:spPr>
          <a:xfrm>
            <a:off x="6347308" y="3008376"/>
            <a:ext cx="4929988" cy="441198"/>
          </a:xfrm>
          <a:prstGeom prst="rect">
            <a:avLst/>
          </a:prstGeom>
          <a:noFill/>
          <a:ln/>
        </p:spPr>
        <p:txBody>
          <a:bodyPr wrap="square" lIns="0" tIns="0" rIns="0" bIns="0" rtlCol="0" anchor="t">
            <a:normAutofit/>
          </a:bodyPr>
          <a:lstStyle/>
          <a:p>
            <a:pPr indent="0" marL="0">
              <a:lnSpc>
                <a:spcPts val="2898"/>
              </a:lnSpc>
              <a:buNone/>
            </a:pPr>
            <a:r>
              <a:rPr lang="en-US" sz="2300" b="1" dirty="0">
                <a:solidFill>
                  <a:srgbClr val="003366"/>
                </a:solidFill>
                <a:latin typeface="Poppins" pitchFamily="34" charset="0"/>
                <a:ea typeface="Poppins" pitchFamily="34" charset="-122"/>
                <a:cs typeface="Poppins" pitchFamily="34" charset="-120"/>
              </a:rPr>
              <a:t>Agents on your machine</a:t>
            </a:r>
            <a:endParaRPr lang="en-US" sz="2300" dirty="0"/>
          </a:p>
        </p:txBody>
      </p:sp>
      <p:sp>
        <p:nvSpPr>
          <p:cNvPr id="9" name="Text 7"/>
          <p:cNvSpPr/>
          <p:nvPr/>
        </p:nvSpPr>
        <p:spPr>
          <a:xfrm>
            <a:off x="6347308" y="3605022"/>
            <a:ext cx="4929988" cy="2430018"/>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Claude Code and its peers read and write real files and run real commands. Far more capable — and it needs installing, a paid plan and some terminal comfort.</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FREE TIERS AS OF AUGUST 2026 — RE-CHECK BEFORE YOU TEACH</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The builders, honestly compared.</a:t>
            </a:r>
            <a:endParaRPr lang="en-US" sz="4000" dirty="0"/>
          </a:p>
        </p:txBody>
      </p:sp>
      <p:sp>
        <p:nvSpPr>
          <p:cNvPr id="4" name="Text 2"/>
          <p:cNvSpPr/>
          <p:nvPr/>
        </p:nvSpPr>
        <p:spPr>
          <a:xfrm>
            <a:off x="914400" y="2176272"/>
            <a:ext cx="713232" cy="384048"/>
          </a:xfrm>
          <a:prstGeom prst="rect">
            <a:avLst/>
          </a:prstGeom>
          <a:noFill/>
          <a:ln/>
        </p:spPr>
        <p:txBody>
          <a:bodyPr wrap="square" lIns="0" tIns="0" rIns="0" bIns="0" rtlCol="0" anchor="ctr">
            <a:normAutofit/>
          </a:bodyPr>
          <a:lstStyle/>
          <a:p>
            <a:pPr indent="0" marL="0">
              <a:buNone/>
            </a:pPr>
            <a:r>
              <a:rPr lang="en-US" sz="2000" b="1" dirty="0">
                <a:solidFill>
                  <a:srgbClr val="1A7F4B"/>
                </a:solidFill>
                <a:latin typeface="Poppins" pitchFamily="34" charset="0"/>
                <a:ea typeface="Poppins" pitchFamily="34" charset="-122"/>
                <a:cs typeface="Poppins" pitchFamily="34" charset="-120"/>
              </a:rPr>
              <a:t>01</a:t>
            </a:r>
            <a:endParaRPr lang="en-US" sz="2000" dirty="0"/>
          </a:p>
        </p:txBody>
      </p:sp>
      <p:sp>
        <p:nvSpPr>
          <p:cNvPr id="5" name="Text 3"/>
          <p:cNvSpPr/>
          <p:nvPr/>
        </p:nvSpPr>
        <p:spPr>
          <a:xfrm>
            <a:off x="1737360" y="214884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Bolt.new — 300K tokens a day</a:t>
            </a:r>
            <a:endParaRPr lang="en-US" sz="1900" dirty="0"/>
          </a:p>
        </p:txBody>
      </p:sp>
      <p:sp>
        <p:nvSpPr>
          <p:cNvPr id="6" name="Text 4"/>
          <p:cNvSpPr/>
          <p:nvPr/>
        </p:nvSpPr>
        <p:spPr>
          <a:xfrm>
            <a:off x="1737360" y="2484120"/>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The most free headroom by far. Publishes to a free address, and shows a real file tree.</a:t>
            </a:r>
            <a:endParaRPr lang="en-US" sz="1500" dirty="0"/>
          </a:p>
        </p:txBody>
      </p:sp>
      <p:sp>
        <p:nvSpPr>
          <p:cNvPr id="7" name="Text 5"/>
          <p:cNvSpPr/>
          <p:nvPr/>
        </p:nvSpPr>
        <p:spPr>
          <a:xfrm>
            <a:off x="914400" y="3209544"/>
            <a:ext cx="713232" cy="384048"/>
          </a:xfrm>
          <a:prstGeom prst="rect">
            <a:avLst/>
          </a:prstGeom>
          <a:noFill/>
          <a:ln/>
        </p:spPr>
        <p:txBody>
          <a:bodyPr wrap="square" lIns="0" tIns="0" rIns="0" bIns="0" rtlCol="0" anchor="ctr">
            <a:normAutofit/>
          </a:bodyPr>
          <a:lstStyle/>
          <a:p>
            <a:pPr indent="0" marL="0">
              <a:buNone/>
            </a:pPr>
            <a:r>
              <a:rPr lang="en-US" sz="2000" b="1" dirty="0">
                <a:solidFill>
                  <a:srgbClr val="8F5E08"/>
                </a:solidFill>
                <a:latin typeface="Poppins" pitchFamily="34" charset="0"/>
                <a:ea typeface="Poppins" pitchFamily="34" charset="-122"/>
                <a:cs typeface="Poppins" pitchFamily="34" charset="-120"/>
              </a:rPr>
              <a:t>02</a:t>
            </a:r>
            <a:endParaRPr lang="en-US" sz="2000" dirty="0"/>
          </a:p>
        </p:txBody>
      </p:sp>
      <p:sp>
        <p:nvSpPr>
          <p:cNvPr id="8" name="Text 6"/>
          <p:cNvSpPr/>
          <p:nvPr/>
        </p:nvSpPr>
        <p:spPr>
          <a:xfrm>
            <a:off x="1737360" y="3182112"/>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Lovable — five messages a day</a:t>
            </a:r>
            <a:endParaRPr lang="en-US" sz="1900" dirty="0"/>
          </a:p>
        </p:txBody>
      </p:sp>
      <p:sp>
        <p:nvSpPr>
          <p:cNvPr id="9" name="Text 7"/>
          <p:cNvSpPr/>
          <p:nvPr/>
        </p:nvSpPr>
        <p:spPr>
          <a:xfrm>
            <a:off x="1737360" y="3517392"/>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The best ten minutes you can show anyone — and five messages a day before a hard stop.</a:t>
            </a:r>
            <a:endParaRPr lang="en-US" sz="1500" dirty="0"/>
          </a:p>
        </p:txBody>
      </p:sp>
      <p:sp>
        <p:nvSpPr>
          <p:cNvPr id="10" name="Text 8"/>
          <p:cNvSpPr/>
          <p:nvPr/>
        </p:nvSpPr>
        <p:spPr>
          <a:xfrm>
            <a:off x="914400" y="4242816"/>
            <a:ext cx="713232" cy="384048"/>
          </a:xfrm>
          <a:prstGeom prst="rect">
            <a:avLst/>
          </a:prstGeom>
          <a:noFill/>
          <a:ln/>
        </p:spPr>
        <p:txBody>
          <a:bodyPr wrap="square" lIns="0" tIns="0" rIns="0" bIns="0" rtlCol="0" anchor="ctr">
            <a:normAutofit/>
          </a:bodyPr>
          <a:lstStyle/>
          <a:p>
            <a:pPr indent="0" marL="0">
              <a:buNone/>
            </a:pPr>
            <a:r>
              <a:rPr lang="en-US" sz="2000" b="1" dirty="0">
                <a:solidFill>
                  <a:srgbClr val="8F5E08"/>
                </a:solidFill>
                <a:latin typeface="Poppins" pitchFamily="34" charset="0"/>
                <a:ea typeface="Poppins" pitchFamily="34" charset="-122"/>
                <a:cs typeface="Poppins" pitchFamily="34" charset="-120"/>
              </a:rPr>
              <a:t>03</a:t>
            </a:r>
            <a:endParaRPr lang="en-US" sz="2000" dirty="0"/>
          </a:p>
        </p:txBody>
      </p:sp>
      <p:sp>
        <p:nvSpPr>
          <p:cNvPr id="11" name="Text 9"/>
          <p:cNvSpPr/>
          <p:nvPr/>
        </p:nvSpPr>
        <p:spPr>
          <a:xfrm>
            <a:off x="1737360" y="4215384"/>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Vercel v0 — seven messages a day</a:t>
            </a:r>
            <a:endParaRPr lang="en-US" sz="1900" dirty="0"/>
          </a:p>
        </p:txBody>
      </p:sp>
      <p:sp>
        <p:nvSpPr>
          <p:cNvPr id="12" name="Text 10"/>
          <p:cNvSpPr/>
          <p:nvPr/>
        </p:nvSpPr>
        <p:spPr>
          <a:xfrm>
            <a:off x="1737360" y="4550664"/>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Genuinely good visual editing for non-coders. Same daily-cap problem.</a:t>
            </a:r>
            <a:endParaRPr lang="en-US" sz="1500" dirty="0"/>
          </a:p>
        </p:txBody>
      </p:sp>
      <p:sp>
        <p:nvSpPr>
          <p:cNvPr id="13" name="Text 11"/>
          <p:cNvSpPr/>
          <p:nvPr/>
        </p:nvSpPr>
        <p:spPr>
          <a:xfrm>
            <a:off x="914400" y="5276088"/>
            <a:ext cx="713232" cy="384048"/>
          </a:xfrm>
          <a:prstGeom prst="rect">
            <a:avLst/>
          </a:prstGeom>
          <a:noFill/>
          <a:ln/>
        </p:spPr>
        <p:txBody>
          <a:bodyPr wrap="square" lIns="0" tIns="0" rIns="0" bIns="0" rtlCol="0" anchor="ctr">
            <a:normAutofit/>
          </a:bodyPr>
          <a:lstStyle/>
          <a:p>
            <a:pPr indent="0" marL="0">
              <a:buNone/>
            </a:pPr>
            <a:r>
              <a:rPr lang="en-US" sz="2000" b="1" dirty="0">
                <a:solidFill>
                  <a:srgbClr val="00697A"/>
                </a:solidFill>
                <a:latin typeface="Poppins" pitchFamily="34" charset="0"/>
                <a:ea typeface="Poppins" pitchFamily="34" charset="-122"/>
                <a:cs typeface="Poppins" pitchFamily="34" charset="-120"/>
              </a:rPr>
              <a:t>04</a:t>
            </a:r>
            <a:endParaRPr lang="en-US" sz="2000" dirty="0"/>
          </a:p>
        </p:txBody>
      </p:sp>
      <p:sp>
        <p:nvSpPr>
          <p:cNvPr id="14" name="Text 12"/>
          <p:cNvSpPr/>
          <p:nvPr/>
        </p:nvSpPr>
        <p:spPr>
          <a:xfrm>
            <a:off x="1737360" y="5248656"/>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Replit — one published project</a:t>
            </a:r>
            <a:endParaRPr lang="en-US" sz="1900" dirty="0"/>
          </a:p>
        </p:txBody>
      </p:sp>
      <p:sp>
        <p:nvSpPr>
          <p:cNvPr id="15" name="Text 13"/>
          <p:cNvSpPr/>
          <p:nvPr/>
        </p:nvSpPr>
        <p:spPr>
          <a:xfrm>
            <a:off x="1737360" y="5583936"/>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Most powerful and most intimidating. Database included on the free tier.</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14400" y="1078992"/>
            <a:ext cx="2743200" cy="310896"/>
          </a:xfrm>
          <a:prstGeom prst="rect">
            <a:avLst/>
          </a:prstGeom>
          <a:noFill/>
          <a:ln/>
        </p:spPr>
        <p:txBody>
          <a:bodyPr wrap="square" lIns="0" tIns="0" rIns="0" bIns="0" rtlCol="0" anchor="ctr">
            <a:normAutofit/>
          </a:bodyPr>
          <a:lstStyle/>
          <a:p>
            <a:pPr indent="0" marL="0">
              <a:buNone/>
            </a:pPr>
            <a:r>
              <a:rPr lang="en-US" sz="1200" b="1" spc="240" kern="0" dirty="0">
                <a:solidFill>
                  <a:srgbClr val="FF6600"/>
                </a:solidFill>
                <a:latin typeface="Calibri" pitchFamily="34" charset="0"/>
                <a:ea typeface="Calibri" pitchFamily="34" charset="-122"/>
                <a:cs typeface="Calibri" pitchFamily="34" charset="-120"/>
              </a:rPr>
              <a:t>TASK 1</a:t>
            </a:r>
            <a:endParaRPr lang="en-US" sz="1200" dirty="0"/>
          </a:p>
        </p:txBody>
      </p:sp>
      <p:sp>
        <p:nvSpPr>
          <p:cNvPr id="3" name="Text 1"/>
          <p:cNvSpPr/>
          <p:nvPr/>
        </p:nvSpPr>
        <p:spPr>
          <a:xfrm>
            <a:off x="914400" y="1517904"/>
            <a:ext cx="9448495" cy="1194816"/>
          </a:xfrm>
          <a:prstGeom prst="rect">
            <a:avLst/>
          </a:prstGeom>
          <a:noFill/>
          <a:ln/>
        </p:spPr>
        <p:txBody>
          <a:bodyPr wrap="square" lIns="0" tIns="0" rIns="0" bIns="0" rtlCol="0" anchor="t">
            <a:normAutofit/>
          </a:bodyPr>
          <a:lstStyle/>
          <a:p>
            <a:pPr indent="0" marL="0">
              <a:lnSpc>
                <a:spcPts val="4200"/>
              </a:lnSpc>
              <a:buNone/>
            </a:pPr>
            <a:r>
              <a:rPr lang="en-US" sz="3600" b="1" dirty="0">
                <a:solidFill>
                  <a:srgbClr val="FFFFFF"/>
                </a:solidFill>
                <a:latin typeface="Poppins" pitchFamily="34" charset="0"/>
                <a:ea typeface="Poppins" pitchFamily="34" charset="-122"/>
                <a:cs typeface="Poppins" pitchFamily="34" charset="-120"/>
              </a:rPr>
              <a:t>Ship something in</a:t>
            </a:r>
            <a:endParaRPr lang="en-US" sz="3600" dirty="0"/>
          </a:p>
          <a:p>
            <a:pPr indent="0" marL="0">
              <a:lnSpc>
                <a:spcPts val="4200"/>
              </a:lnSpc>
              <a:buNone/>
            </a:pPr>
            <a:r>
              <a:rPr lang="en-US" sz="3600" b="1" dirty="0">
                <a:solidFill>
                  <a:srgbClr val="FFFFFF"/>
                </a:solidFill>
                <a:latin typeface="Poppins" pitchFamily="34" charset="0"/>
                <a:ea typeface="Poppins" pitchFamily="34" charset="-122"/>
                <a:cs typeface="Poppins" pitchFamily="34" charset="-120"/>
              </a:rPr>
              <a:t>thirty minutes.</a:t>
            </a:r>
            <a:endParaRPr lang="en-US" sz="3600" dirty="0"/>
          </a:p>
        </p:txBody>
      </p:sp>
      <p:sp>
        <p:nvSpPr>
          <p:cNvPr id="4" name="Text 2"/>
          <p:cNvSpPr/>
          <p:nvPr/>
        </p:nvSpPr>
        <p:spPr>
          <a:xfrm>
            <a:off x="914400" y="2715768"/>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1</a:t>
            </a:r>
            <a:endParaRPr lang="en-US" sz="1700" dirty="0"/>
          </a:p>
        </p:txBody>
      </p:sp>
      <p:sp>
        <p:nvSpPr>
          <p:cNvPr id="5" name="Text 3"/>
          <p:cNvSpPr/>
          <p:nvPr/>
        </p:nvSpPr>
        <p:spPr>
          <a:xfrm>
            <a:off x="1463040" y="2697480"/>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Pick one small, annoying, real thing from your job. Not a grand idea.</a:t>
            </a:r>
            <a:endParaRPr lang="en-US" sz="1600" dirty="0"/>
          </a:p>
        </p:txBody>
      </p:sp>
      <p:sp>
        <p:nvSpPr>
          <p:cNvPr id="6" name="Text 4"/>
          <p:cNvSpPr/>
          <p:nvPr/>
        </p:nvSpPr>
        <p:spPr>
          <a:xfrm>
            <a:off x="914400" y="3368040"/>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2</a:t>
            </a:r>
            <a:endParaRPr lang="en-US" sz="1700" dirty="0"/>
          </a:p>
        </p:txBody>
      </p:sp>
      <p:sp>
        <p:nvSpPr>
          <p:cNvPr id="7" name="Text 5"/>
          <p:cNvSpPr/>
          <p:nvPr/>
        </p:nvSpPr>
        <p:spPr>
          <a:xfrm>
            <a:off x="1463040" y="3349752"/>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Open bolt.new. Describe it: who uses it, and what they see.</a:t>
            </a:r>
            <a:endParaRPr lang="en-US" sz="1600" dirty="0"/>
          </a:p>
        </p:txBody>
      </p:sp>
      <p:sp>
        <p:nvSpPr>
          <p:cNvPr id="8" name="Text 6"/>
          <p:cNvSpPr/>
          <p:nvPr/>
        </p:nvSpPr>
        <p:spPr>
          <a:xfrm>
            <a:off x="914400" y="4020312"/>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3</a:t>
            </a:r>
            <a:endParaRPr lang="en-US" sz="1700" dirty="0"/>
          </a:p>
        </p:txBody>
      </p:sp>
      <p:sp>
        <p:nvSpPr>
          <p:cNvPr id="9" name="Text 7"/>
          <p:cNvSpPr/>
          <p:nvPr/>
        </p:nvSpPr>
        <p:spPr>
          <a:xfrm>
            <a:off x="1463040" y="4002024"/>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Reject the first version. Name one thing that is wrong. Then another.</a:t>
            </a:r>
            <a:endParaRPr lang="en-US" sz="1600" dirty="0"/>
          </a:p>
        </p:txBody>
      </p:sp>
      <p:sp>
        <p:nvSpPr>
          <p:cNvPr id="10" name="Text 8"/>
          <p:cNvSpPr/>
          <p:nvPr/>
        </p:nvSpPr>
        <p:spPr>
          <a:xfrm>
            <a:off x="914400" y="4672584"/>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4</a:t>
            </a:r>
            <a:endParaRPr lang="en-US" sz="1700" dirty="0"/>
          </a:p>
        </p:txBody>
      </p:sp>
      <p:sp>
        <p:nvSpPr>
          <p:cNvPr id="11" name="Text 9"/>
          <p:cNvSpPr/>
          <p:nvPr/>
        </p:nvSpPr>
        <p:spPr>
          <a:xfrm>
            <a:off x="1463040" y="4654296"/>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Deploy. Copy the URL. Hand it to your neighbour and watch them use it.</a:t>
            </a:r>
            <a:endParaRPr lang="en-US" sz="1600" dirty="0"/>
          </a:p>
        </p:txBody>
      </p:sp>
      <p:sp>
        <p:nvSpPr>
          <p:cNvPr id="12" name="Text 10"/>
          <p:cNvSpPr/>
          <p:nvPr/>
        </p:nvSpPr>
        <p:spPr>
          <a:xfrm>
            <a:off x="914400" y="5760720"/>
            <a:ext cx="10362895" cy="365760"/>
          </a:xfrm>
          <a:prstGeom prst="rect">
            <a:avLst/>
          </a:prstGeom>
          <a:noFill/>
          <a:ln/>
        </p:spPr>
        <p:txBody>
          <a:bodyPr wrap="square" lIns="0" tIns="0" rIns="0" bIns="0" rtlCol="0" anchor="ctr">
            <a:normAutofit/>
          </a:bodyPr>
          <a:lstStyle/>
          <a:p>
            <a:pPr indent="0" marL="0">
              <a:buNone/>
            </a:pPr>
            <a:r>
              <a:rPr lang="en-US" sz="1400" b="1" spc="100" kern="0" dirty="0">
                <a:solidFill>
                  <a:srgbClr val="FF6600"/>
                </a:solidFill>
                <a:latin typeface="Calibri" pitchFamily="34" charset="0"/>
                <a:ea typeface="Calibri" pitchFamily="34" charset="-122"/>
                <a:cs typeface="Calibri" pitchFamily="34" charset="-120"/>
              </a:rPr>
              <a:t>30 MINUTES · YOU LEAVE THIS STEP WITH A WORKING LINK</a:t>
            </a:r>
            <a:endParaRPr lang="en-US" sz="14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14400" y="1371600"/>
            <a:ext cx="10362895" cy="914400"/>
          </a:xfrm>
          <a:prstGeom prst="rect">
            <a:avLst/>
          </a:prstGeom>
          <a:noFill/>
          <a:ln/>
        </p:spPr>
        <p:txBody>
          <a:bodyPr wrap="square" lIns="0" tIns="0" rIns="0" bIns="0" rtlCol="0" anchor="ctr">
            <a:normAutofit/>
          </a:bodyPr>
          <a:lstStyle/>
          <a:p>
            <a:pPr indent="0" marL="0">
              <a:buNone/>
            </a:pPr>
            <a:r>
              <a:rPr lang="en-US" sz="2000" b="1" spc="300" kern="0" dirty="0">
                <a:solidFill>
                  <a:srgbClr val="FF6600"/>
                </a:solidFill>
                <a:latin typeface="Poppins" pitchFamily="34" charset="0"/>
                <a:ea typeface="Poppins" pitchFamily="34" charset="-122"/>
                <a:cs typeface="Poppins" pitchFamily="34" charset="-120"/>
              </a:rPr>
              <a:t>PART TWO</a:t>
            </a:r>
            <a:endParaRPr lang="en-US" sz="2000" dirty="0"/>
          </a:p>
        </p:txBody>
      </p:sp>
      <p:sp>
        <p:nvSpPr>
          <p:cNvPr id="3" name="Text 1"/>
          <p:cNvSpPr/>
          <p:nvPr/>
        </p:nvSpPr>
        <p:spPr>
          <a:xfrm>
            <a:off x="914400" y="2286000"/>
            <a:ext cx="9265615" cy="1619504"/>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Your laptop is</a:t>
            </a:r>
            <a:endParaRPr lang="en-US" sz="5000" dirty="0"/>
          </a:p>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already a server</a:t>
            </a:r>
            <a:endParaRPr lang="en-US" sz="5000" dirty="0"/>
          </a:p>
        </p:txBody>
      </p:sp>
      <p:sp>
        <p:nvSpPr>
          <p:cNvPr id="4" name="Text 2"/>
          <p:cNvSpPr/>
          <p:nvPr/>
        </p:nvSpPr>
        <p:spPr>
          <a:xfrm>
            <a:off x="914400" y="4023360"/>
            <a:ext cx="7985455" cy="914400"/>
          </a:xfrm>
          <a:prstGeom prst="rect">
            <a:avLst/>
          </a:prstGeom>
          <a:noFill/>
          <a:ln/>
        </p:spPr>
        <p:txBody>
          <a:bodyPr wrap="square" lIns="0" tIns="0" rIns="0" bIns="0" rtlCol="0" anchor="t">
            <a:normAutofit/>
          </a:bodyPr>
          <a:lstStyle/>
          <a:p>
            <a:pPr indent="0" marL="0">
              <a:lnSpc>
                <a:spcPts val="2700"/>
              </a:lnSpc>
              <a:buNone/>
            </a:pPr>
            <a:r>
              <a:rPr lang="en-US" sz="1900" dirty="0">
                <a:solidFill>
                  <a:srgbClr val="B7CDE0"/>
                </a:solidFill>
                <a:latin typeface="Calibri" pitchFamily="34" charset="0"/>
                <a:ea typeface="Calibri" pitchFamily="34" charset="-122"/>
                <a:cs typeface="Calibri" pitchFamily="34" charset="-120"/>
              </a:rPr>
              <a:t>What localhost means, and why your director cannot open your link.</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lhTitle"/>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FF6600"/>
                </a:solidFill>
                <a:latin typeface="Calibri" pitchFamily="34" charset="0"/>
                <a:ea typeface="Calibri" pitchFamily="34" charset="-122"/>
                <a:cs typeface="Calibri" pitchFamily="34" charset="-120"/>
              </a:rPr>
              <a:t>THE MENTAL MODEL</a:t>
            </a:r>
            <a:endParaRPr lang="en-US" sz="1150" dirty="0"/>
          </a:p>
        </p:txBody>
      </p:sp>
      <p:sp>
        <p:nvSpPr>
          <p:cNvPr id="3" name="!!lhBody"/>
          <p:cNvSpPr/>
          <p:nvPr/>
        </p:nvSpPr>
        <p:spPr>
          <a:xfrm>
            <a:off x="914400" y="1078992"/>
            <a:ext cx="10362895" cy="1463040"/>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It is running on</a:t>
            </a:r>
            <a:endParaRPr lang="en-US" sz="4000" dirty="0"/>
          </a:p>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the machine in front of you.</a:t>
            </a:r>
            <a:endParaRPr lang="en-US" sz="4000" dirty="0"/>
          </a:p>
        </p:txBody>
      </p:sp>
      <p:sp>
        <p:nvSpPr>
          <p:cNvPr id="4" name="Text 2"/>
          <p:cNvSpPr/>
          <p:nvPr/>
        </p:nvSpPr>
        <p:spPr>
          <a:xfrm>
            <a:off x="914400" y="2834640"/>
            <a:ext cx="8899855" cy="1188720"/>
          </a:xfrm>
          <a:prstGeom prst="rect">
            <a:avLst/>
          </a:prstGeom>
          <a:noFill/>
          <a:ln/>
        </p:spPr>
        <p:txBody>
          <a:bodyPr wrap="square" lIns="0" tIns="0" rIns="0" bIns="0" rtlCol="0" anchor="t">
            <a:normAutofit/>
          </a:bodyPr>
          <a:lstStyle/>
          <a:p>
            <a:pPr indent="0" marL="0">
              <a:lnSpc>
                <a:spcPts val="3000"/>
              </a:lnSpc>
              <a:buNone/>
            </a:pPr>
            <a:r>
              <a:rPr lang="en-US" sz="2100" dirty="0">
                <a:solidFill>
                  <a:srgbClr val="A7B7C9"/>
                </a:solidFill>
                <a:latin typeface="Calibri" pitchFamily="34" charset="0"/>
                <a:ea typeface="Calibri" pitchFamily="34" charset="-122"/>
                <a:cs typeface="Calibri" pitchFamily="34" charset="-120"/>
              </a:rPr>
              <a:t>Every website you have used lives on someone else's computer. Running something locally means your browser is fetching it from this same laptop. Nothing crosses the internet at all.</a:t>
            </a:r>
            <a:endParaRPr lang="en-US" sz="2100" dirty="0"/>
          </a:p>
        </p:txBody>
      </p:sp>
      <p:sp>
        <p:nvSpPr>
          <p:cNvPr id="5" name="Text 3"/>
          <p:cNvSpPr/>
          <p:nvPr/>
        </p:nvSpPr>
        <p:spPr>
          <a:xfrm>
            <a:off x="914400" y="4343400"/>
            <a:ext cx="9082735" cy="1005840"/>
          </a:xfrm>
          <a:prstGeom prst="rect">
            <a:avLst/>
          </a:prstGeom>
          <a:noFill/>
          <a:ln/>
        </p:spPr>
        <p:txBody>
          <a:bodyPr wrap="square" lIns="0" tIns="0" rIns="0" bIns="0" rtlCol="0" anchor="t">
            <a:normAutofit/>
          </a:bodyPr>
          <a:lstStyle/>
          <a:p>
            <a:pPr indent="0" marL="0">
              <a:lnSpc>
                <a:spcPts val="2800"/>
              </a:lnSpc>
              <a:buNone/>
            </a:pPr>
            <a:r>
              <a:rPr lang="en-US" sz="1900" dirty="0">
                <a:solidFill>
                  <a:srgbClr val="F9DD56"/>
                </a:solidFill>
                <a:latin typeface="Calibri" pitchFamily="34" charset="0"/>
                <a:ea typeface="Calibri" pitchFamily="34" charset="-122"/>
                <a:cs typeface="Calibri" pitchFamily="34" charset="-120"/>
              </a:rPr>
              <a:t>localhost is your office phone extension. From inside the building you dial 3000 and it rings. Nobody outside can dial your extension directly.</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lhTitle"/>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FF6600"/>
                </a:solidFill>
                <a:latin typeface="Calibri" pitchFamily="34" charset="0"/>
                <a:ea typeface="Calibri" pitchFamily="34" charset="-122"/>
                <a:cs typeface="Calibri" pitchFamily="34" charset="-120"/>
              </a:rPr>
              <a:t>THE CONSEQUENCE</a:t>
            </a:r>
            <a:endParaRPr lang="en-US" sz="1150" dirty="0"/>
          </a:p>
        </p:txBody>
      </p:sp>
      <p:sp>
        <p:nvSpPr>
          <p:cNvPr id="3" name="!!lhBody"/>
          <p:cNvSpPr/>
          <p:nvPr/>
        </p:nvSpPr>
        <p:spPr>
          <a:xfrm>
            <a:off x="914400" y="1078992"/>
            <a:ext cx="10362895" cy="1463040"/>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Which is why your link</a:t>
            </a:r>
            <a:endParaRPr lang="en-US" sz="4000" dirty="0"/>
          </a:p>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is broken for everyone else.</a:t>
            </a:r>
            <a:endParaRPr lang="en-US" sz="4000" dirty="0"/>
          </a:p>
        </p:txBody>
      </p:sp>
      <p:sp>
        <p:nvSpPr>
          <p:cNvPr id="4" name="Text 2"/>
          <p:cNvSpPr/>
          <p:nvPr/>
        </p:nvSpPr>
        <p:spPr>
          <a:xfrm>
            <a:off x="914400" y="2834640"/>
            <a:ext cx="8899855" cy="1188720"/>
          </a:xfrm>
          <a:prstGeom prst="rect">
            <a:avLst/>
          </a:prstGeom>
          <a:noFill/>
          <a:ln/>
        </p:spPr>
        <p:txBody>
          <a:bodyPr wrap="square" lIns="0" tIns="0" rIns="0" bIns="0" rtlCol="0" anchor="t">
            <a:normAutofit/>
          </a:bodyPr>
          <a:lstStyle/>
          <a:p>
            <a:pPr indent="0" marL="0">
              <a:lnSpc>
                <a:spcPts val="3000"/>
              </a:lnSpc>
              <a:buNone/>
            </a:pPr>
            <a:r>
              <a:rPr lang="en-US" sz="2100" dirty="0">
                <a:solidFill>
                  <a:srgbClr val="A7B7C9"/>
                </a:solidFill>
                <a:latin typeface="Calibri" pitchFamily="34" charset="0"/>
                <a:ea typeface="Calibri" pitchFamily="34" charset="-122"/>
                <a:cs typeface="Calibri" pitchFamily="34" charset="-120"/>
              </a:rPr>
              <a:t>She types the same address and reaches her own machine, which is running nothing. 127.0.0.1 means "me" on every computer on earth. There is no version of it that means your laptop.</a:t>
            </a:r>
            <a:endParaRPr lang="en-US" sz="2100" dirty="0"/>
          </a:p>
        </p:txBody>
      </p:sp>
      <p:sp>
        <p:nvSpPr>
          <p:cNvPr id="5" name="Text 3"/>
          <p:cNvSpPr/>
          <p:nvPr/>
        </p:nvSpPr>
        <p:spPr>
          <a:xfrm>
            <a:off x="914400" y="4133088"/>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58C8DD"/>
                </a:solidFill>
                <a:latin typeface="Calibri" pitchFamily="34" charset="0"/>
                <a:ea typeface="Calibri" pitchFamily="34" charset="-122"/>
                <a:cs typeface="Calibri" pitchFamily="34" charset="-120"/>
              </a:rPr>
              <a:t>NOT A BUG</a:t>
            </a:r>
            <a:endParaRPr lang="en-US" sz="1050" dirty="0"/>
          </a:p>
        </p:txBody>
      </p:sp>
      <p:sp>
        <p:nvSpPr>
          <p:cNvPr id="6" name="Text 4"/>
          <p:cNvSpPr/>
          <p:nvPr/>
        </p:nvSpPr>
        <p:spPr>
          <a:xfrm>
            <a:off x="914400" y="4535424"/>
            <a:ext cx="3119018" cy="345186"/>
          </a:xfrm>
          <a:prstGeom prst="rect">
            <a:avLst/>
          </a:prstGeom>
          <a:noFill/>
          <a:ln/>
        </p:spPr>
        <p:txBody>
          <a:bodyPr wrap="square" lIns="0" tIns="0" rIns="0" bIns="0" rtlCol="0" anchor="t">
            <a:normAutofit/>
          </a:bodyPr>
          <a:lstStyle/>
          <a:p>
            <a:pPr indent="0" marL="0">
              <a:lnSpc>
                <a:spcPts val="2142"/>
              </a:lnSpc>
              <a:buNone/>
            </a:pPr>
            <a:r>
              <a:rPr lang="en-US" sz="1700" b="1" dirty="0">
                <a:solidFill>
                  <a:srgbClr val="FFFFFF"/>
                </a:solidFill>
                <a:latin typeface="Poppins" pitchFamily="34" charset="0"/>
                <a:ea typeface="Poppins" pitchFamily="34" charset="-122"/>
                <a:cs typeface="Poppins" pitchFamily="34" charset="-120"/>
              </a:rPr>
              <a:t>Nothing is broken</a:t>
            </a:r>
            <a:endParaRPr lang="en-US" sz="1700" dirty="0"/>
          </a:p>
        </p:txBody>
      </p:sp>
      <p:sp>
        <p:nvSpPr>
          <p:cNvPr id="7" name="Text 5"/>
          <p:cNvSpPr/>
          <p:nvPr/>
        </p:nvSpPr>
        <p:spPr>
          <a:xfrm>
            <a:off x="914400" y="5036058"/>
            <a:ext cx="3119018" cy="953262"/>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The address is non-routable by design.</a:t>
            </a:r>
            <a:endParaRPr lang="en-US" sz="1500" dirty="0"/>
          </a:p>
        </p:txBody>
      </p:sp>
      <p:sp>
        <p:nvSpPr>
          <p:cNvPr id="8" name="Text 6"/>
          <p:cNvSpPr/>
          <p:nvPr/>
        </p:nvSpPr>
        <p:spPr>
          <a:xfrm>
            <a:off x="4536338" y="4133088"/>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58C8DD"/>
                </a:solidFill>
                <a:latin typeface="Calibri" pitchFamily="34" charset="0"/>
                <a:ea typeface="Calibri" pitchFamily="34" charset="-122"/>
                <a:cs typeface="Calibri" pitchFamily="34" charset="-120"/>
              </a:rPr>
              <a:t>NOT PERMISSIONS</a:t>
            </a:r>
            <a:endParaRPr lang="en-US" sz="1050" dirty="0"/>
          </a:p>
        </p:txBody>
      </p:sp>
      <p:sp>
        <p:nvSpPr>
          <p:cNvPr id="9" name="Text 7"/>
          <p:cNvSpPr/>
          <p:nvPr/>
        </p:nvSpPr>
        <p:spPr>
          <a:xfrm>
            <a:off x="4536338" y="4535424"/>
            <a:ext cx="3119018" cy="345186"/>
          </a:xfrm>
          <a:prstGeom prst="rect">
            <a:avLst/>
          </a:prstGeom>
          <a:noFill/>
          <a:ln/>
        </p:spPr>
        <p:txBody>
          <a:bodyPr wrap="square" lIns="0" tIns="0" rIns="0" bIns="0" rtlCol="0" anchor="t">
            <a:normAutofit/>
          </a:bodyPr>
          <a:lstStyle/>
          <a:p>
            <a:pPr indent="0" marL="0">
              <a:lnSpc>
                <a:spcPts val="2142"/>
              </a:lnSpc>
              <a:buNone/>
            </a:pPr>
            <a:r>
              <a:rPr lang="en-US" sz="1700" b="1" dirty="0">
                <a:solidFill>
                  <a:srgbClr val="FFFFFF"/>
                </a:solidFill>
                <a:latin typeface="Poppins" pitchFamily="34" charset="0"/>
                <a:ea typeface="Poppins" pitchFamily="34" charset="-122"/>
                <a:cs typeface="Poppins" pitchFamily="34" charset="-120"/>
              </a:rPr>
              <a:t>No setting fixes it</a:t>
            </a:r>
            <a:endParaRPr lang="en-US" sz="1700" dirty="0"/>
          </a:p>
        </p:txBody>
      </p:sp>
      <p:sp>
        <p:nvSpPr>
          <p:cNvPr id="10" name="Text 8"/>
          <p:cNvSpPr/>
          <p:nvPr/>
        </p:nvSpPr>
        <p:spPr>
          <a:xfrm>
            <a:off x="4536338" y="5036058"/>
            <a:ext cx="3119018" cy="953262"/>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The dev server is not listening on the network.</a:t>
            </a:r>
            <a:endParaRPr lang="en-US" sz="1500" dirty="0"/>
          </a:p>
        </p:txBody>
      </p:sp>
      <p:sp>
        <p:nvSpPr>
          <p:cNvPr id="11" name="Text 9"/>
          <p:cNvSpPr/>
          <p:nvPr/>
        </p:nvSpPr>
        <p:spPr>
          <a:xfrm>
            <a:off x="8158277" y="4133088"/>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FF6600"/>
                </a:solidFill>
                <a:latin typeface="Calibri" pitchFamily="34" charset="0"/>
                <a:ea typeface="Calibri" pitchFamily="34" charset="-122"/>
                <a:cs typeface="Calibri" pitchFamily="34" charset="-120"/>
              </a:rPr>
              <a:t>THE FIX</a:t>
            </a:r>
            <a:endParaRPr lang="en-US" sz="1050" dirty="0"/>
          </a:p>
        </p:txBody>
      </p:sp>
      <p:sp>
        <p:nvSpPr>
          <p:cNvPr id="12" name="Text 10"/>
          <p:cNvSpPr/>
          <p:nvPr/>
        </p:nvSpPr>
        <p:spPr>
          <a:xfrm>
            <a:off x="8158277" y="4535424"/>
            <a:ext cx="3119018" cy="345186"/>
          </a:xfrm>
          <a:prstGeom prst="rect">
            <a:avLst/>
          </a:prstGeom>
          <a:noFill/>
          <a:ln/>
        </p:spPr>
        <p:txBody>
          <a:bodyPr wrap="square" lIns="0" tIns="0" rIns="0" bIns="0" rtlCol="0" anchor="t">
            <a:normAutofit/>
          </a:bodyPr>
          <a:lstStyle/>
          <a:p>
            <a:pPr indent="0" marL="0">
              <a:lnSpc>
                <a:spcPts val="2142"/>
              </a:lnSpc>
              <a:buNone/>
            </a:pPr>
            <a:r>
              <a:rPr lang="en-US" sz="1700" b="1" dirty="0">
                <a:solidFill>
                  <a:srgbClr val="FFFFFF"/>
                </a:solidFill>
                <a:latin typeface="Poppins" pitchFamily="34" charset="0"/>
                <a:ea typeface="Poppins" pitchFamily="34" charset="-122"/>
                <a:cs typeface="Poppins" pitchFamily="34" charset="-120"/>
              </a:rPr>
              <a:t>Deploy it</a:t>
            </a:r>
            <a:endParaRPr lang="en-US" sz="1700" dirty="0"/>
          </a:p>
        </p:txBody>
      </p:sp>
      <p:sp>
        <p:nvSpPr>
          <p:cNvPr id="13" name="Text 11"/>
          <p:cNvSpPr/>
          <p:nvPr/>
        </p:nvSpPr>
        <p:spPr>
          <a:xfrm>
            <a:off x="8158277" y="5036058"/>
            <a:ext cx="3119018" cy="953262"/>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A shareable address means somewhere public. Part Three.</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IF YOU GO LOCAL</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Three installs, in this order.</a:t>
            </a:r>
            <a:endParaRPr lang="en-US" sz="4000" dirty="0"/>
          </a:p>
        </p:txBody>
      </p:sp>
      <p:sp>
        <p:nvSpPr>
          <p:cNvPr id="4" name="Text 2"/>
          <p:cNvSpPr/>
          <p:nvPr/>
        </p:nvSpPr>
        <p:spPr>
          <a:xfrm>
            <a:off x="914400" y="269748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B34A00"/>
                </a:solidFill>
                <a:latin typeface="Poppins" pitchFamily="34" charset="0"/>
                <a:ea typeface="Poppins" pitchFamily="34" charset="-122"/>
                <a:cs typeface="Poppins" pitchFamily="34" charset="-120"/>
              </a:rPr>
              <a:t>01</a:t>
            </a:r>
            <a:endParaRPr lang="en-US" sz="3400" dirty="0"/>
          </a:p>
        </p:txBody>
      </p:sp>
      <p:sp>
        <p:nvSpPr>
          <p:cNvPr id="5" name="Text 3"/>
          <p:cNvSpPr/>
          <p:nvPr/>
        </p:nvSpPr>
        <p:spPr>
          <a:xfrm>
            <a:off x="914400" y="3410712"/>
            <a:ext cx="3119018"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Node.js 24 LTS</a:t>
            </a:r>
            <a:endParaRPr lang="en-US" sz="2100" dirty="0"/>
          </a:p>
        </p:txBody>
      </p:sp>
      <p:sp>
        <p:nvSpPr>
          <p:cNvPr id="6" name="Text 4"/>
          <p:cNvSpPr/>
          <p:nvPr/>
        </p:nvSpPr>
        <p:spPr>
          <a:xfrm>
            <a:off x="914400" y="3975354"/>
            <a:ext cx="3119018" cy="1876806"/>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Version 24.19.0 as of August 2026. Take the LTS, not the newest. This is the engine that runs the code.</a:t>
            </a:r>
            <a:endParaRPr lang="en-US" sz="1500" dirty="0"/>
          </a:p>
        </p:txBody>
      </p:sp>
      <p:sp>
        <p:nvSpPr>
          <p:cNvPr id="7" name="Text 5"/>
          <p:cNvSpPr/>
          <p:nvPr/>
        </p:nvSpPr>
        <p:spPr>
          <a:xfrm>
            <a:off x="4536338" y="269748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B34A00"/>
                </a:solidFill>
                <a:latin typeface="Poppins" pitchFamily="34" charset="0"/>
                <a:ea typeface="Poppins" pitchFamily="34" charset="-122"/>
                <a:cs typeface="Poppins" pitchFamily="34" charset="-120"/>
              </a:rPr>
              <a:t>02</a:t>
            </a:r>
            <a:endParaRPr lang="en-US" sz="3400" dirty="0"/>
          </a:p>
        </p:txBody>
      </p:sp>
      <p:sp>
        <p:nvSpPr>
          <p:cNvPr id="8" name="Text 6"/>
          <p:cNvSpPr/>
          <p:nvPr/>
        </p:nvSpPr>
        <p:spPr>
          <a:xfrm>
            <a:off x="4536338" y="3410712"/>
            <a:ext cx="3119018"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Git</a:t>
            </a:r>
            <a:endParaRPr lang="en-US" sz="2100" dirty="0"/>
          </a:p>
        </p:txBody>
      </p:sp>
      <p:sp>
        <p:nvSpPr>
          <p:cNvPr id="9" name="Text 7"/>
          <p:cNvSpPr/>
          <p:nvPr/>
        </p:nvSpPr>
        <p:spPr>
          <a:xfrm>
            <a:off x="4536338" y="3975354"/>
            <a:ext cx="3119018" cy="1876806"/>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Track Changes for a whole folder, with an undo that reaches back months. Add GitHub Desktop if you would rather click than type.</a:t>
            </a:r>
            <a:endParaRPr lang="en-US" sz="1500" dirty="0"/>
          </a:p>
        </p:txBody>
      </p:sp>
      <p:sp>
        <p:nvSpPr>
          <p:cNvPr id="10" name="Text 8"/>
          <p:cNvSpPr/>
          <p:nvPr/>
        </p:nvSpPr>
        <p:spPr>
          <a:xfrm>
            <a:off x="8158277" y="269748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B34A00"/>
                </a:solidFill>
                <a:latin typeface="Poppins" pitchFamily="34" charset="0"/>
                <a:ea typeface="Poppins" pitchFamily="34" charset="-122"/>
                <a:cs typeface="Poppins" pitchFamily="34" charset="-120"/>
              </a:rPr>
              <a:t>03</a:t>
            </a:r>
            <a:endParaRPr lang="en-US" sz="3400" dirty="0"/>
          </a:p>
        </p:txBody>
      </p:sp>
      <p:sp>
        <p:nvSpPr>
          <p:cNvPr id="11" name="Text 9"/>
          <p:cNvSpPr/>
          <p:nvPr/>
        </p:nvSpPr>
        <p:spPr>
          <a:xfrm>
            <a:off x="8158277" y="3410712"/>
            <a:ext cx="3119018"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VS Code</a:t>
            </a:r>
            <a:endParaRPr lang="en-US" sz="2100" dirty="0"/>
          </a:p>
        </p:txBody>
      </p:sp>
      <p:sp>
        <p:nvSpPr>
          <p:cNvPr id="12" name="Text 10"/>
          <p:cNvSpPr/>
          <p:nvPr/>
        </p:nvSpPr>
        <p:spPr>
          <a:xfrm>
            <a:off x="8158277" y="3975354"/>
            <a:ext cx="3119018" cy="1876806"/>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Where you look at the files. You will spend less time here than you expect — the agent does most of the typing.</a:t>
            </a:r>
            <a:endParaRPr lang="en-US" sz="1500" dirty="0"/>
          </a:p>
        </p:txBody>
      </p:sp>
      <p:sp>
        <p:nvSpPr>
          <p:cNvPr id="13" name="Text 11"/>
          <p:cNvSpPr/>
          <p:nvPr/>
        </p:nvSpPr>
        <p:spPr>
          <a:xfrm>
            <a:off x="914400" y="5257800"/>
            <a:ext cx="9631375" cy="731520"/>
          </a:xfrm>
          <a:prstGeom prst="rect">
            <a:avLst/>
          </a:prstGeom>
          <a:noFill/>
          <a:ln/>
        </p:spPr>
        <p:txBody>
          <a:bodyPr wrap="square" lIns="0" tIns="0" rIns="0" bIns="0" rtlCol="0" anchor="t">
            <a:normAutofit/>
          </a:bodyPr>
          <a:lstStyle/>
          <a:p>
            <a:pPr indent="0" marL="0">
              <a:lnSpc>
                <a:spcPts val="2300"/>
              </a:lnSpc>
              <a:buNone/>
            </a:pPr>
            <a:r>
              <a:rPr lang="en-US" sz="1550" dirty="0">
                <a:solidFill>
                  <a:srgbClr val="7A8794"/>
                </a:solidFill>
                <a:latin typeface="Calibri" pitchFamily="34" charset="0"/>
                <a:ea typeface="Calibri" pitchFamily="34" charset="-122"/>
                <a:cs typeface="Calibri" pitchFamily="34" charset="-120"/>
              </a:rPr>
              <a:t>Before you plan on any of this: check whether your college laptop allows installs at all. If it does not, the browser tools are not the easy path — they are the only path.</a:t>
            </a:r>
            <a:endParaRPr lang="en-US" sz="155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14400" y="1371600"/>
            <a:ext cx="10362895" cy="914400"/>
          </a:xfrm>
          <a:prstGeom prst="rect">
            <a:avLst/>
          </a:prstGeom>
          <a:noFill/>
          <a:ln/>
        </p:spPr>
        <p:txBody>
          <a:bodyPr wrap="square" lIns="0" tIns="0" rIns="0" bIns="0" rtlCol="0" anchor="ctr">
            <a:normAutofit/>
          </a:bodyPr>
          <a:lstStyle/>
          <a:p>
            <a:pPr indent="0" marL="0">
              <a:buNone/>
            </a:pPr>
            <a:r>
              <a:rPr lang="en-US" sz="2000" b="1" spc="300" kern="0" dirty="0">
                <a:solidFill>
                  <a:srgbClr val="FF6600"/>
                </a:solidFill>
                <a:latin typeface="Poppins" pitchFamily="34" charset="0"/>
                <a:ea typeface="Poppins" pitchFamily="34" charset="-122"/>
                <a:cs typeface="Poppins" pitchFamily="34" charset="-120"/>
              </a:rPr>
              <a:t>PART THREE</a:t>
            </a:r>
            <a:endParaRPr lang="en-US" sz="2000" dirty="0"/>
          </a:p>
        </p:txBody>
      </p:sp>
      <p:sp>
        <p:nvSpPr>
          <p:cNvPr id="3" name="Text 1"/>
          <p:cNvSpPr/>
          <p:nvPr/>
        </p:nvSpPr>
        <p:spPr>
          <a:xfrm>
            <a:off x="914400" y="2286000"/>
            <a:ext cx="9265615" cy="1619504"/>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Getting it on the</a:t>
            </a:r>
            <a:endParaRPr lang="en-US" sz="5000" dirty="0"/>
          </a:p>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internet, for free</a:t>
            </a:r>
            <a:endParaRPr lang="en-US" sz="5000" dirty="0"/>
          </a:p>
        </p:txBody>
      </p:sp>
      <p:sp>
        <p:nvSpPr>
          <p:cNvPr id="4" name="Text 2"/>
          <p:cNvSpPr/>
          <p:nvPr/>
        </p:nvSpPr>
        <p:spPr>
          <a:xfrm>
            <a:off x="914400" y="4023360"/>
            <a:ext cx="7985455" cy="914400"/>
          </a:xfrm>
          <a:prstGeom prst="rect">
            <a:avLst/>
          </a:prstGeom>
          <a:noFill/>
          <a:ln/>
        </p:spPr>
        <p:txBody>
          <a:bodyPr wrap="square" lIns="0" tIns="0" rIns="0" bIns="0" rtlCol="0" anchor="t">
            <a:normAutofit/>
          </a:bodyPr>
          <a:lstStyle/>
          <a:p>
            <a:pPr indent="0" marL="0">
              <a:lnSpc>
                <a:spcPts val="2700"/>
              </a:lnSpc>
              <a:buNone/>
            </a:pPr>
            <a:r>
              <a:rPr lang="en-US" sz="1900" dirty="0">
                <a:solidFill>
                  <a:srgbClr val="B7CDE0"/>
                </a:solidFill>
                <a:latin typeface="Calibri" pitchFamily="34" charset="0"/>
                <a:ea typeface="Calibri" pitchFamily="34" charset="-122"/>
                <a:cs typeface="Calibri" pitchFamily="34" charset="-120"/>
              </a:rPr>
              <a:t>Real free tiers. Four of them. Four completely different edges that cut.</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THE CONCEPT</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A static site is a folder</a:t>
            </a:r>
            <a:endParaRPr lang="en-US" sz="4000" dirty="0"/>
          </a:p>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of finished files.</a:t>
            </a:r>
            <a:endParaRPr lang="en-US" sz="4000" dirty="0"/>
          </a:p>
        </p:txBody>
      </p:sp>
      <p:sp>
        <p:nvSpPr>
          <p:cNvPr id="4" name="Text 2"/>
          <p:cNvSpPr/>
          <p:nvPr/>
        </p:nvSpPr>
        <p:spPr>
          <a:xfrm>
            <a:off x="914400" y="269748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WHY IT IS FREE</a:t>
            </a:r>
            <a:endParaRPr lang="en-US" sz="1050" dirty="0"/>
          </a:p>
        </p:txBody>
      </p:sp>
      <p:sp>
        <p:nvSpPr>
          <p:cNvPr id="5" name="Text 3"/>
          <p:cNvSpPr/>
          <p:nvPr/>
        </p:nvSpPr>
        <p:spPr>
          <a:xfrm>
            <a:off x="914400" y="3099816"/>
            <a:ext cx="3119018" cy="713232"/>
          </a:xfrm>
          <a:prstGeom prst="rect">
            <a:avLst/>
          </a:prstGeom>
          <a:noFill/>
          <a:ln/>
        </p:spPr>
        <p:txBody>
          <a:bodyPr wrap="square" lIns="0" tIns="0" rIns="0" bIns="0" rtlCol="0" anchor="t">
            <a:normAutofit/>
          </a:bodyPr>
          <a:lstStyle/>
          <a:p>
            <a:pPr indent="0" marL="0">
              <a:lnSpc>
                <a:spcPts val="2520"/>
              </a:lnSpc>
              <a:buNone/>
            </a:pPr>
            <a:r>
              <a:rPr lang="en-US" sz="2000" b="1" dirty="0">
                <a:solidFill>
                  <a:srgbClr val="003366"/>
                </a:solidFill>
                <a:latin typeface="Poppins" pitchFamily="34" charset="0"/>
                <a:ea typeface="Poppins" pitchFamily="34" charset="-122"/>
                <a:cs typeface="Poppins" pitchFamily="34" charset="-120"/>
              </a:rPr>
              <a:t>Nothing thinks per visitor</a:t>
            </a:r>
            <a:endParaRPr lang="en-US" sz="2000" dirty="0"/>
          </a:p>
        </p:txBody>
      </p:sp>
      <p:sp>
        <p:nvSpPr>
          <p:cNvPr id="6" name="Text 4"/>
          <p:cNvSpPr/>
          <p:nvPr/>
        </p:nvSpPr>
        <p:spPr>
          <a:xfrm>
            <a:off x="914400" y="3968496"/>
            <a:ext cx="3119018" cy="1883664"/>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A printed handout in a rack by the door. Anyone can take one, the rack does no work, and ten thousand copies cost almost nothing.</a:t>
            </a:r>
            <a:endParaRPr lang="en-US" sz="1500" dirty="0"/>
          </a:p>
        </p:txBody>
      </p:sp>
      <p:sp>
        <p:nvSpPr>
          <p:cNvPr id="7" name="Text 5"/>
          <p:cNvSpPr/>
          <p:nvPr/>
        </p:nvSpPr>
        <p:spPr>
          <a:xfrm>
            <a:off x="4536338" y="269748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8F5E08"/>
                </a:solidFill>
                <a:latin typeface="Calibri" pitchFamily="34" charset="0"/>
                <a:ea typeface="Calibri" pitchFamily="34" charset="-122"/>
                <a:cs typeface="Calibri" pitchFamily="34" charset="-120"/>
              </a:rPr>
              <a:t>WHEN YOU OUTGROW IT</a:t>
            </a:r>
            <a:endParaRPr lang="en-US" sz="1050" dirty="0"/>
          </a:p>
        </p:txBody>
      </p:sp>
      <p:sp>
        <p:nvSpPr>
          <p:cNvPr id="8" name="Text 6"/>
          <p:cNvSpPr/>
          <p:nvPr/>
        </p:nvSpPr>
        <p:spPr>
          <a:xfrm>
            <a:off x="4536338" y="3099816"/>
            <a:ext cx="3119018" cy="713232"/>
          </a:xfrm>
          <a:prstGeom prst="rect">
            <a:avLst/>
          </a:prstGeom>
          <a:noFill/>
          <a:ln/>
        </p:spPr>
        <p:txBody>
          <a:bodyPr wrap="square" lIns="0" tIns="0" rIns="0" bIns="0" rtlCol="0" anchor="t">
            <a:normAutofit/>
          </a:bodyPr>
          <a:lstStyle/>
          <a:p>
            <a:pPr indent="0" marL="0">
              <a:lnSpc>
                <a:spcPts val="2520"/>
              </a:lnSpc>
              <a:buNone/>
            </a:pPr>
            <a:r>
              <a:rPr lang="en-US" sz="2000" b="1" dirty="0">
                <a:solidFill>
                  <a:srgbClr val="003366"/>
                </a:solidFill>
                <a:latin typeface="Poppins" pitchFamily="34" charset="0"/>
                <a:ea typeface="Poppins" pitchFamily="34" charset="-122"/>
                <a:cs typeface="Poppins" pitchFamily="34" charset="-120"/>
              </a:rPr>
              <a:t>The moment anything differs</a:t>
            </a:r>
            <a:endParaRPr lang="en-US" sz="2000" dirty="0"/>
          </a:p>
        </p:txBody>
      </p:sp>
      <p:sp>
        <p:nvSpPr>
          <p:cNvPr id="9" name="Text 7"/>
          <p:cNvSpPr/>
          <p:nvPr/>
        </p:nvSpPr>
        <p:spPr>
          <a:xfrm>
            <a:off x="4536338" y="3968496"/>
            <a:ext cx="3119018" cy="1883664"/>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Users logging in. A form whose contents must be stored. Anything you must keep secret from the visitor.</a:t>
            </a:r>
            <a:endParaRPr lang="en-US" sz="1500" dirty="0"/>
          </a:p>
        </p:txBody>
      </p:sp>
      <p:sp>
        <p:nvSpPr>
          <p:cNvPr id="10" name="Text 8"/>
          <p:cNvSpPr/>
          <p:nvPr/>
        </p:nvSpPr>
        <p:spPr>
          <a:xfrm>
            <a:off x="8158277" y="269748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00697A"/>
                </a:solidFill>
                <a:latin typeface="Calibri" pitchFamily="34" charset="0"/>
                <a:ea typeface="Calibri" pitchFamily="34" charset="-122"/>
                <a:cs typeface="Calibri" pitchFamily="34" charset="-120"/>
              </a:rPr>
              <a:t>WHAT COMES NEXT</a:t>
            </a:r>
            <a:endParaRPr lang="en-US" sz="1050" dirty="0"/>
          </a:p>
        </p:txBody>
      </p:sp>
      <p:sp>
        <p:nvSpPr>
          <p:cNvPr id="11" name="Text 9"/>
          <p:cNvSpPr/>
          <p:nvPr/>
        </p:nvSpPr>
        <p:spPr>
          <a:xfrm>
            <a:off x="8158277" y="3099816"/>
            <a:ext cx="3119018" cy="713232"/>
          </a:xfrm>
          <a:prstGeom prst="rect">
            <a:avLst/>
          </a:prstGeom>
          <a:noFill/>
          <a:ln/>
        </p:spPr>
        <p:txBody>
          <a:bodyPr wrap="square" lIns="0" tIns="0" rIns="0" bIns="0" rtlCol="0" anchor="t">
            <a:normAutofit/>
          </a:bodyPr>
          <a:lstStyle/>
          <a:p>
            <a:pPr indent="0" marL="0">
              <a:lnSpc>
                <a:spcPts val="2520"/>
              </a:lnSpc>
              <a:buNone/>
            </a:pPr>
            <a:r>
              <a:rPr lang="en-US" sz="2000" b="1" dirty="0">
                <a:solidFill>
                  <a:srgbClr val="003366"/>
                </a:solidFill>
                <a:latin typeface="Poppins" pitchFamily="34" charset="0"/>
                <a:ea typeface="Poppins" pitchFamily="34" charset="-122"/>
                <a:cs typeface="Poppins" pitchFamily="34" charset="-120"/>
              </a:rPr>
              <a:t>A librarian on duty</a:t>
            </a:r>
            <a:endParaRPr lang="en-US" sz="2000" dirty="0"/>
          </a:p>
        </p:txBody>
      </p:sp>
      <p:sp>
        <p:nvSpPr>
          <p:cNvPr id="12" name="Text 10"/>
          <p:cNvSpPr/>
          <p:nvPr/>
        </p:nvSpPr>
        <p:spPr>
          <a:xfrm>
            <a:off x="8158277" y="3968496"/>
            <a:ext cx="3119018" cy="1883664"/>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Someone looks up your record and prints you a custom page. That requires staffing, and staffing costs money.</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THE FOUR FREE TIERS</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Each one has an edge that cuts.</a:t>
            </a:r>
            <a:endParaRPr lang="en-US" sz="4000" dirty="0"/>
          </a:p>
        </p:txBody>
      </p:sp>
      <p:sp>
        <p:nvSpPr>
          <p:cNvPr id="4" name="Text 2"/>
          <p:cNvSpPr/>
          <p:nvPr/>
        </p:nvSpPr>
        <p:spPr>
          <a:xfrm>
            <a:off x="914400" y="2130552"/>
            <a:ext cx="713232" cy="384048"/>
          </a:xfrm>
          <a:prstGeom prst="rect">
            <a:avLst/>
          </a:prstGeom>
          <a:noFill/>
          <a:ln/>
        </p:spPr>
        <p:txBody>
          <a:bodyPr wrap="square" lIns="0" tIns="0" rIns="0" bIns="0" rtlCol="0" anchor="ctr">
            <a:normAutofit/>
          </a:bodyPr>
          <a:lstStyle/>
          <a:p>
            <a:pPr indent="0" marL="0">
              <a:buNone/>
            </a:pPr>
            <a:r>
              <a:rPr lang="en-US" sz="2000" b="1" dirty="0">
                <a:solidFill>
                  <a:srgbClr val="1A7F4B"/>
                </a:solidFill>
                <a:latin typeface="Poppins" pitchFamily="34" charset="0"/>
                <a:ea typeface="Poppins" pitchFamily="34" charset="-122"/>
                <a:cs typeface="Poppins" pitchFamily="34" charset="-120"/>
              </a:rPr>
              <a:t>01</a:t>
            </a:r>
            <a:endParaRPr lang="en-US" sz="2000" dirty="0"/>
          </a:p>
        </p:txBody>
      </p:sp>
      <p:sp>
        <p:nvSpPr>
          <p:cNvPr id="5" name="Text 3"/>
          <p:cNvSpPr/>
          <p:nvPr/>
        </p:nvSpPr>
        <p:spPr>
          <a:xfrm>
            <a:off x="1737360" y="210312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Cloudflare Pages — unmetered bandwidth</a:t>
            </a:r>
            <a:endParaRPr lang="en-US" sz="1900" dirty="0"/>
          </a:p>
        </p:txBody>
      </p:sp>
      <p:sp>
        <p:nvSpPr>
          <p:cNvPr id="6" name="Text 4"/>
          <p:cNvSpPr/>
          <p:nvPr/>
        </p:nvSpPr>
        <p:spPr>
          <a:xfrm>
            <a:off x="1737360" y="2438400"/>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Best free deal — but 100,000 function requests is a DAILY bucket, resetting at midnight UTC.</a:t>
            </a:r>
            <a:endParaRPr lang="en-US" sz="1500" dirty="0"/>
          </a:p>
        </p:txBody>
      </p:sp>
      <p:sp>
        <p:nvSpPr>
          <p:cNvPr id="7" name="Text 5"/>
          <p:cNvSpPr/>
          <p:nvPr/>
        </p:nvSpPr>
        <p:spPr>
          <a:xfrm>
            <a:off x="914400" y="3166872"/>
            <a:ext cx="713232" cy="384048"/>
          </a:xfrm>
          <a:prstGeom prst="rect">
            <a:avLst/>
          </a:prstGeom>
          <a:noFill/>
          <a:ln/>
        </p:spPr>
        <p:txBody>
          <a:bodyPr wrap="square" lIns="0" tIns="0" rIns="0" bIns="0" rtlCol="0" anchor="ctr">
            <a:normAutofit/>
          </a:bodyPr>
          <a:lstStyle/>
          <a:p>
            <a:pPr indent="0" marL="0">
              <a:buNone/>
            </a:pPr>
            <a:r>
              <a:rPr lang="en-US" sz="2000" b="1" dirty="0">
                <a:solidFill>
                  <a:srgbClr val="8F5E08"/>
                </a:solidFill>
                <a:latin typeface="Poppins" pitchFamily="34" charset="0"/>
                <a:ea typeface="Poppins" pitchFamily="34" charset="-122"/>
                <a:cs typeface="Poppins" pitchFamily="34" charset="-120"/>
              </a:rPr>
              <a:t>02</a:t>
            </a:r>
            <a:endParaRPr lang="en-US" sz="2000" dirty="0"/>
          </a:p>
        </p:txBody>
      </p:sp>
      <p:sp>
        <p:nvSpPr>
          <p:cNvPr id="8" name="Text 6"/>
          <p:cNvSpPr/>
          <p:nvPr/>
        </p:nvSpPr>
        <p:spPr>
          <a:xfrm>
            <a:off x="1737360" y="313944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GitHub Pages — simplest, static only</a:t>
            </a:r>
            <a:endParaRPr lang="en-US" sz="1900" dirty="0"/>
          </a:p>
        </p:txBody>
      </p:sp>
      <p:sp>
        <p:nvSpPr>
          <p:cNvPr id="9" name="Text 7"/>
          <p:cNvSpPr/>
          <p:nvPr/>
        </p:nvSpPr>
        <p:spPr>
          <a:xfrm>
            <a:off x="1737360" y="3474720"/>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Always public. No password protection below Enterprise. No commercial transactions or SaaS.</a:t>
            </a:r>
            <a:endParaRPr lang="en-US" sz="1500" dirty="0"/>
          </a:p>
        </p:txBody>
      </p:sp>
      <p:sp>
        <p:nvSpPr>
          <p:cNvPr id="10" name="Text 8"/>
          <p:cNvSpPr/>
          <p:nvPr/>
        </p:nvSpPr>
        <p:spPr>
          <a:xfrm>
            <a:off x="914400" y="4203192"/>
            <a:ext cx="713232" cy="384048"/>
          </a:xfrm>
          <a:prstGeom prst="rect">
            <a:avLst/>
          </a:prstGeom>
          <a:noFill/>
          <a:ln/>
        </p:spPr>
        <p:txBody>
          <a:bodyPr wrap="square" lIns="0" tIns="0" rIns="0" bIns="0" rtlCol="0" anchor="ctr">
            <a:normAutofit/>
          </a:bodyPr>
          <a:lstStyle/>
          <a:p>
            <a:pPr indent="0" marL="0">
              <a:buNone/>
            </a:pPr>
            <a:r>
              <a:rPr lang="en-US" sz="2000" b="1" dirty="0">
                <a:solidFill>
                  <a:srgbClr val="C0392B"/>
                </a:solidFill>
                <a:latin typeface="Poppins" pitchFamily="34" charset="0"/>
                <a:ea typeface="Poppins" pitchFamily="34" charset="-122"/>
                <a:cs typeface="Poppins" pitchFamily="34" charset="-120"/>
              </a:rPr>
              <a:t>03</a:t>
            </a:r>
            <a:endParaRPr lang="en-US" sz="2000" dirty="0"/>
          </a:p>
        </p:txBody>
      </p:sp>
      <p:sp>
        <p:nvSpPr>
          <p:cNvPr id="11" name="Text 9"/>
          <p:cNvSpPr/>
          <p:nvPr/>
        </p:nvSpPr>
        <p:spPr>
          <a:xfrm>
            <a:off x="1737360" y="417576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Netlify — 300 credits a month</a:t>
            </a:r>
            <a:endParaRPr lang="en-US" sz="1900" dirty="0"/>
          </a:p>
        </p:txBody>
      </p:sp>
      <p:sp>
        <p:nvSpPr>
          <p:cNvPr id="12" name="Text 10"/>
          <p:cNvSpPr/>
          <p:nvPr/>
        </p:nvSpPr>
        <p:spPr>
          <a:xfrm>
            <a:off x="1737360" y="4511040"/>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Run out and your site goes offline until the cycle resets. You cannot buy more.</a:t>
            </a:r>
            <a:endParaRPr lang="en-US" sz="1500" dirty="0"/>
          </a:p>
        </p:txBody>
      </p:sp>
      <p:sp>
        <p:nvSpPr>
          <p:cNvPr id="13" name="Text 11"/>
          <p:cNvSpPr/>
          <p:nvPr/>
        </p:nvSpPr>
        <p:spPr>
          <a:xfrm>
            <a:off x="914400" y="5239512"/>
            <a:ext cx="713232" cy="384048"/>
          </a:xfrm>
          <a:prstGeom prst="rect">
            <a:avLst/>
          </a:prstGeom>
          <a:noFill/>
          <a:ln/>
        </p:spPr>
        <p:txBody>
          <a:bodyPr wrap="square" lIns="0" tIns="0" rIns="0" bIns="0" rtlCol="0" anchor="ctr">
            <a:normAutofit/>
          </a:bodyPr>
          <a:lstStyle/>
          <a:p>
            <a:pPr indent="0" marL="0">
              <a:buNone/>
            </a:pPr>
            <a:r>
              <a:rPr lang="en-US" sz="2000" b="1" dirty="0">
                <a:solidFill>
                  <a:srgbClr val="C0392B"/>
                </a:solidFill>
                <a:latin typeface="Poppins" pitchFamily="34" charset="0"/>
                <a:ea typeface="Poppins" pitchFamily="34" charset="-122"/>
                <a:cs typeface="Poppins" pitchFamily="34" charset="-120"/>
              </a:rPr>
              <a:t>04</a:t>
            </a:r>
            <a:endParaRPr lang="en-US" sz="2000" dirty="0"/>
          </a:p>
        </p:txBody>
      </p:sp>
      <p:sp>
        <p:nvSpPr>
          <p:cNvPr id="14" name="Text 12"/>
          <p:cNvSpPr/>
          <p:nvPr/>
        </p:nvSpPr>
        <p:spPr>
          <a:xfrm>
            <a:off x="1737360" y="521208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Vercel — commercial use banned on Hobby</a:t>
            </a:r>
            <a:endParaRPr lang="en-US" sz="1900" dirty="0"/>
          </a:p>
        </p:txBody>
      </p:sp>
      <p:sp>
        <p:nvSpPr>
          <p:cNvPr id="15" name="Text 13"/>
          <p:cNvSpPr/>
          <p:nvPr/>
        </p:nvSpPr>
        <p:spPr>
          <a:xfrm>
            <a:off x="1737360" y="5547360"/>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By its own wording that includes a paid employee writing the code.</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14400" y="1078992"/>
            <a:ext cx="2743200" cy="310896"/>
          </a:xfrm>
          <a:prstGeom prst="rect">
            <a:avLst/>
          </a:prstGeom>
          <a:noFill/>
          <a:ln/>
        </p:spPr>
        <p:txBody>
          <a:bodyPr wrap="square" lIns="0" tIns="0" rIns="0" bIns="0" rtlCol="0" anchor="ctr">
            <a:normAutofit/>
          </a:bodyPr>
          <a:lstStyle/>
          <a:p>
            <a:pPr indent="0" marL="0">
              <a:buNone/>
            </a:pPr>
            <a:r>
              <a:rPr lang="en-US" sz="1200" b="1" spc="240" kern="0" dirty="0">
                <a:solidFill>
                  <a:srgbClr val="FF6600"/>
                </a:solidFill>
                <a:latin typeface="Calibri" pitchFamily="34" charset="0"/>
                <a:ea typeface="Calibri" pitchFamily="34" charset="-122"/>
                <a:cs typeface="Calibri" pitchFamily="34" charset="-120"/>
              </a:rPr>
              <a:t>TASK 2</a:t>
            </a:r>
            <a:endParaRPr lang="en-US" sz="1200" dirty="0"/>
          </a:p>
        </p:txBody>
      </p:sp>
      <p:sp>
        <p:nvSpPr>
          <p:cNvPr id="3" name="Text 1"/>
          <p:cNvSpPr/>
          <p:nvPr/>
        </p:nvSpPr>
        <p:spPr>
          <a:xfrm>
            <a:off x="914400" y="1517904"/>
            <a:ext cx="9448495" cy="661416"/>
          </a:xfrm>
          <a:prstGeom prst="rect">
            <a:avLst/>
          </a:prstGeom>
          <a:noFill/>
          <a:ln/>
        </p:spPr>
        <p:txBody>
          <a:bodyPr wrap="square" lIns="0" tIns="0" rIns="0" bIns="0" rtlCol="0" anchor="t">
            <a:normAutofit/>
          </a:bodyPr>
          <a:lstStyle/>
          <a:p>
            <a:pPr indent="0" marL="0">
              <a:lnSpc>
                <a:spcPts val="4200"/>
              </a:lnSpc>
              <a:buNone/>
            </a:pPr>
            <a:r>
              <a:rPr lang="en-US" sz="3600" b="1" dirty="0">
                <a:solidFill>
                  <a:srgbClr val="FFFFFF"/>
                </a:solidFill>
                <a:latin typeface="Poppins" pitchFamily="34" charset="0"/>
                <a:ea typeface="Poppins" pitchFamily="34" charset="-122"/>
                <a:cs typeface="Poppins" pitchFamily="34" charset="-120"/>
              </a:rPr>
              <a:t>Get a real address.</a:t>
            </a:r>
            <a:endParaRPr lang="en-US" sz="3600" dirty="0"/>
          </a:p>
        </p:txBody>
      </p:sp>
      <p:sp>
        <p:nvSpPr>
          <p:cNvPr id="4" name="Text 2"/>
          <p:cNvSpPr/>
          <p:nvPr/>
        </p:nvSpPr>
        <p:spPr>
          <a:xfrm>
            <a:off x="914400" y="2715768"/>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1</a:t>
            </a:r>
            <a:endParaRPr lang="en-US" sz="1700" dirty="0"/>
          </a:p>
        </p:txBody>
      </p:sp>
      <p:sp>
        <p:nvSpPr>
          <p:cNvPr id="5" name="Text 3"/>
          <p:cNvSpPr/>
          <p:nvPr/>
        </p:nvSpPr>
        <p:spPr>
          <a:xfrm>
            <a:off x="1463040" y="2697480"/>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Push what you built to a GitHub repository. GitHub Desktop is fine.</a:t>
            </a:r>
            <a:endParaRPr lang="en-US" sz="1600" dirty="0"/>
          </a:p>
        </p:txBody>
      </p:sp>
      <p:sp>
        <p:nvSpPr>
          <p:cNvPr id="6" name="Text 4"/>
          <p:cNvSpPr/>
          <p:nvPr/>
        </p:nvSpPr>
        <p:spPr>
          <a:xfrm>
            <a:off x="914400" y="3368040"/>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2</a:t>
            </a:r>
            <a:endParaRPr lang="en-US" sz="1700" dirty="0"/>
          </a:p>
        </p:txBody>
      </p:sp>
      <p:sp>
        <p:nvSpPr>
          <p:cNvPr id="7" name="Text 5"/>
          <p:cNvSpPr/>
          <p:nvPr/>
        </p:nvSpPr>
        <p:spPr>
          <a:xfrm>
            <a:off x="1463040" y="3349752"/>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Connect it to Cloudflare Pages. Accept every default.</a:t>
            </a:r>
            <a:endParaRPr lang="en-US" sz="1600" dirty="0"/>
          </a:p>
        </p:txBody>
      </p:sp>
      <p:sp>
        <p:nvSpPr>
          <p:cNvPr id="8" name="Text 6"/>
          <p:cNvSpPr/>
          <p:nvPr/>
        </p:nvSpPr>
        <p:spPr>
          <a:xfrm>
            <a:off x="914400" y="4020312"/>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3</a:t>
            </a:r>
            <a:endParaRPr lang="en-US" sz="1700" dirty="0"/>
          </a:p>
        </p:txBody>
      </p:sp>
      <p:sp>
        <p:nvSpPr>
          <p:cNvPr id="9" name="Text 7"/>
          <p:cNvSpPr/>
          <p:nvPr/>
        </p:nvSpPr>
        <p:spPr>
          <a:xfrm>
            <a:off x="1463040" y="4002024"/>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Wait ninety seconds. You now have a public address anyone can reach.</a:t>
            </a:r>
            <a:endParaRPr lang="en-US" sz="1600" dirty="0"/>
          </a:p>
        </p:txBody>
      </p:sp>
      <p:sp>
        <p:nvSpPr>
          <p:cNvPr id="10" name="Text 8"/>
          <p:cNvSpPr/>
          <p:nvPr/>
        </p:nvSpPr>
        <p:spPr>
          <a:xfrm>
            <a:off x="914400" y="4672584"/>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4</a:t>
            </a:r>
            <a:endParaRPr lang="en-US" sz="1700" dirty="0"/>
          </a:p>
        </p:txBody>
      </p:sp>
      <p:sp>
        <p:nvSpPr>
          <p:cNvPr id="11" name="Text 9"/>
          <p:cNvSpPr/>
          <p:nvPr/>
        </p:nvSpPr>
        <p:spPr>
          <a:xfrm>
            <a:off x="1463040" y="4654296"/>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Sit with that for a moment. Anyone. That is the next section.</a:t>
            </a:r>
            <a:endParaRPr lang="en-US" sz="1600" dirty="0"/>
          </a:p>
        </p:txBody>
      </p:sp>
      <p:sp>
        <p:nvSpPr>
          <p:cNvPr id="12" name="Text 10"/>
          <p:cNvSpPr/>
          <p:nvPr/>
        </p:nvSpPr>
        <p:spPr>
          <a:xfrm>
            <a:off x="914400" y="5760720"/>
            <a:ext cx="10362895" cy="365760"/>
          </a:xfrm>
          <a:prstGeom prst="rect">
            <a:avLst/>
          </a:prstGeom>
          <a:noFill/>
          <a:ln/>
        </p:spPr>
        <p:txBody>
          <a:bodyPr wrap="square" lIns="0" tIns="0" rIns="0" bIns="0" rtlCol="0" anchor="ctr">
            <a:normAutofit/>
          </a:bodyPr>
          <a:lstStyle/>
          <a:p>
            <a:pPr indent="0" marL="0">
              <a:buNone/>
            </a:pPr>
            <a:r>
              <a:rPr lang="en-US" sz="1400" b="1" spc="100" kern="0" dirty="0">
                <a:solidFill>
                  <a:srgbClr val="FF6600"/>
                </a:solidFill>
                <a:latin typeface="Calibri" pitchFamily="34" charset="0"/>
                <a:ea typeface="Calibri" pitchFamily="34" charset="-122"/>
                <a:cs typeface="Calibri" pitchFamily="34" charset="-120"/>
              </a:rPr>
              <a:t>20 MINUTES · YOU LEAVE THIS STEP LIVE ON THE INTERNET</a:t>
            </a:r>
            <a:endParaRPr lang="en-US" sz="14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14400" y="1371600"/>
            <a:ext cx="10362895" cy="914400"/>
          </a:xfrm>
          <a:prstGeom prst="rect">
            <a:avLst/>
          </a:prstGeom>
          <a:noFill/>
          <a:ln/>
        </p:spPr>
        <p:txBody>
          <a:bodyPr wrap="square" lIns="0" tIns="0" rIns="0" bIns="0" rtlCol="0" anchor="ctr">
            <a:normAutofit/>
          </a:bodyPr>
          <a:lstStyle/>
          <a:p>
            <a:pPr indent="0" marL="0">
              <a:buNone/>
            </a:pPr>
            <a:r>
              <a:rPr lang="en-US" sz="2000" b="1" spc="300" kern="0" dirty="0">
                <a:solidFill>
                  <a:srgbClr val="FF6600"/>
                </a:solidFill>
                <a:latin typeface="Poppins" pitchFamily="34" charset="0"/>
                <a:ea typeface="Poppins" pitchFamily="34" charset="-122"/>
                <a:cs typeface="Poppins" pitchFamily="34" charset="-120"/>
              </a:rPr>
              <a:t>PART FOUR</a:t>
            </a:r>
            <a:endParaRPr lang="en-US" sz="2000" dirty="0"/>
          </a:p>
        </p:txBody>
      </p:sp>
      <p:sp>
        <p:nvSpPr>
          <p:cNvPr id="3" name="Text 1"/>
          <p:cNvSpPr/>
          <p:nvPr/>
        </p:nvSpPr>
        <p:spPr>
          <a:xfrm>
            <a:off x="914400" y="2286000"/>
            <a:ext cx="9265615" cy="882904"/>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Safeguards</a:t>
            </a:r>
            <a:endParaRPr lang="en-US" sz="5000" dirty="0"/>
          </a:p>
        </p:txBody>
      </p:sp>
      <p:sp>
        <p:nvSpPr>
          <p:cNvPr id="4" name="Text 2"/>
          <p:cNvSpPr/>
          <p:nvPr/>
        </p:nvSpPr>
        <p:spPr>
          <a:xfrm>
            <a:off x="914400" y="4023360"/>
            <a:ext cx="7985455" cy="914400"/>
          </a:xfrm>
          <a:prstGeom prst="rect">
            <a:avLst/>
          </a:prstGeom>
          <a:noFill/>
          <a:ln/>
        </p:spPr>
        <p:txBody>
          <a:bodyPr wrap="square" lIns="0" tIns="0" rIns="0" bIns="0" rtlCol="0" anchor="t">
            <a:normAutofit/>
          </a:bodyPr>
          <a:lstStyle/>
          <a:p>
            <a:pPr indent="0" marL="0">
              <a:lnSpc>
                <a:spcPts val="2700"/>
              </a:lnSpc>
              <a:buNone/>
            </a:pPr>
            <a:r>
              <a:rPr lang="en-US" sz="1900" dirty="0">
                <a:solidFill>
                  <a:srgbClr val="B7CDE0"/>
                </a:solidFill>
                <a:latin typeface="Calibri" pitchFamily="34" charset="0"/>
                <a:ea typeface="Calibri" pitchFamily="34" charset="-122"/>
                <a:cs typeface="Calibri" pitchFamily="34" charset="-120"/>
              </a:rPr>
              <a:t>Why you gate a prototype, and what a web page can never keep secret.</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14400" y="1965960"/>
            <a:ext cx="9814255" cy="1442720"/>
          </a:xfrm>
          <a:prstGeom prst="rect">
            <a:avLst/>
          </a:prstGeom>
          <a:noFill/>
          <a:ln/>
        </p:spPr>
        <p:txBody>
          <a:bodyPr wrap="square" lIns="0" tIns="0" rIns="0" bIns="0" rtlCol="0" anchor="t">
            <a:normAutofit/>
          </a:bodyPr>
          <a:lstStyle/>
          <a:p>
            <a:pPr indent="0" marL="0">
              <a:lnSpc>
                <a:spcPts val="5104"/>
              </a:lnSpc>
              <a:buNone/>
            </a:pPr>
            <a:r>
              <a:rPr lang="en-US" sz="4400" b="1" dirty="0">
                <a:solidFill>
                  <a:srgbClr val="FFFFFF"/>
                </a:solidFill>
                <a:latin typeface="Poppins" pitchFamily="34" charset="0"/>
                <a:ea typeface="Poppins" pitchFamily="34" charset="-122"/>
                <a:cs typeface="Poppins" pitchFamily="34" charset="-120"/>
              </a:rPr>
              <a:t>There is no such thing</a:t>
            </a:r>
            <a:endParaRPr lang="en-US" sz="4400" dirty="0"/>
          </a:p>
          <a:p>
            <a:pPr indent="0" marL="0">
              <a:lnSpc>
                <a:spcPts val="5104"/>
              </a:lnSpc>
              <a:buNone/>
            </a:pPr>
            <a:r>
              <a:rPr lang="en-US" sz="4400" b="1" dirty="0">
                <a:solidFill>
                  <a:srgbClr val="FFFFFF"/>
                </a:solidFill>
                <a:latin typeface="Poppins" pitchFamily="34" charset="0"/>
                <a:ea typeface="Poppins" pitchFamily="34" charset="-122"/>
                <a:cs typeface="Poppins" pitchFamily="34" charset="-120"/>
              </a:rPr>
              <a:t>as a secret in a web page.</a:t>
            </a:r>
            <a:endParaRPr lang="en-US" sz="4400" dirty="0"/>
          </a:p>
        </p:txBody>
      </p:sp>
      <p:sp>
        <p:nvSpPr>
          <p:cNvPr id="3" name="Text 1"/>
          <p:cNvSpPr/>
          <p:nvPr/>
        </p:nvSpPr>
        <p:spPr>
          <a:xfrm>
            <a:off x="914400" y="3719576"/>
            <a:ext cx="8716975" cy="2269744"/>
          </a:xfrm>
          <a:prstGeom prst="rect">
            <a:avLst/>
          </a:prstGeom>
          <a:noFill/>
          <a:ln/>
        </p:spPr>
        <p:txBody>
          <a:bodyPr wrap="square" lIns="0" tIns="0" rIns="0" bIns="0" rtlCol="0" anchor="t">
            <a:normAutofit/>
          </a:bodyPr>
          <a:lstStyle/>
          <a:p>
            <a:pPr indent="0" marL="0">
              <a:lnSpc>
                <a:spcPts val="3000"/>
              </a:lnSpc>
              <a:buNone/>
            </a:pPr>
            <a:r>
              <a:rPr lang="en-US" sz="2000" dirty="0">
                <a:solidFill>
                  <a:srgbClr val="A7B7C9"/>
                </a:solidFill>
                <a:latin typeface="Calibri" pitchFamily="34" charset="0"/>
                <a:ea typeface="Calibri" pitchFamily="34" charset="-122"/>
                <a:cs typeface="Calibri" pitchFamily="34" charset="-120"/>
              </a:rPr>
              <a:t>Not minified. Not obfuscated. Not base64-encoded. Not fetched from a file with an unguessable name. Right-click, View Source.</a:t>
            </a:r>
            <a:endParaRPr lang="en-US" sz="20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THREE CONSEQUENCES</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What that actually means for you.</a:t>
            </a:r>
            <a:endParaRPr lang="en-US" sz="4000" dirty="0"/>
          </a:p>
        </p:txBody>
      </p:sp>
      <p:sp>
        <p:nvSpPr>
          <p:cNvPr id="4" name="Text 2"/>
          <p:cNvSpPr/>
          <p:nvPr/>
        </p:nvSpPr>
        <p:spPr>
          <a:xfrm>
            <a:off x="914400" y="260604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C0392B"/>
                </a:solidFill>
                <a:latin typeface="Poppins" pitchFamily="34" charset="0"/>
                <a:ea typeface="Poppins" pitchFamily="34" charset="-122"/>
                <a:cs typeface="Poppins" pitchFamily="34" charset="-120"/>
              </a:rPr>
              <a:t>01</a:t>
            </a:r>
            <a:endParaRPr lang="en-US" sz="3400" dirty="0"/>
          </a:p>
        </p:txBody>
      </p:sp>
      <p:sp>
        <p:nvSpPr>
          <p:cNvPr id="5" name="Text 3"/>
          <p:cNvSpPr/>
          <p:nvPr/>
        </p:nvSpPr>
        <p:spPr>
          <a:xfrm>
            <a:off x="914400" y="3319272"/>
            <a:ext cx="3119018" cy="1033272"/>
          </a:xfrm>
          <a:prstGeom prst="rect">
            <a:avLst/>
          </a:prstGeom>
          <a:noFill/>
          <a:ln/>
        </p:spPr>
        <p:txBody>
          <a:bodyPr wrap="square" lIns="0" tIns="0" rIns="0" bIns="0" rtlCol="0" anchor="t">
            <a:normAutofit/>
          </a:bodyPr>
          <a:lstStyle/>
          <a:p>
            <a:pPr indent="0" marL="0">
              <a:lnSpc>
                <a:spcPts val="2520"/>
              </a:lnSpc>
              <a:buNone/>
            </a:pPr>
            <a:r>
              <a:rPr lang="en-US" sz="2000" b="1" dirty="0">
                <a:solidFill>
                  <a:srgbClr val="003366"/>
                </a:solidFill>
                <a:latin typeface="Poppins" pitchFamily="34" charset="0"/>
                <a:ea typeface="Poppins" pitchFamily="34" charset="-122"/>
                <a:cs typeface="Poppins" pitchFamily="34" charset="-120"/>
              </a:rPr>
              <a:t>Any key you ship is published</a:t>
            </a:r>
            <a:endParaRPr lang="en-US" sz="2000" dirty="0"/>
          </a:p>
        </p:txBody>
      </p:sp>
      <p:sp>
        <p:nvSpPr>
          <p:cNvPr id="6" name="Text 4"/>
          <p:cNvSpPr/>
          <p:nvPr/>
        </p:nvSpPr>
        <p:spPr>
          <a:xfrm>
            <a:off x="914400" y="4507992"/>
            <a:ext cx="3119018" cy="1435608"/>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If it reached the browser, treat it as compromised and rotate it. Deleting does nothing.</a:t>
            </a:r>
            <a:endParaRPr lang="en-US" sz="1500" dirty="0"/>
          </a:p>
        </p:txBody>
      </p:sp>
      <p:sp>
        <p:nvSpPr>
          <p:cNvPr id="7" name="Text 5"/>
          <p:cNvSpPr/>
          <p:nvPr/>
        </p:nvSpPr>
        <p:spPr>
          <a:xfrm>
            <a:off x="4536338" y="260604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C0392B"/>
                </a:solidFill>
                <a:latin typeface="Poppins" pitchFamily="34" charset="0"/>
                <a:ea typeface="Poppins" pitchFamily="34" charset="-122"/>
                <a:cs typeface="Poppins" pitchFamily="34" charset="-120"/>
              </a:rPr>
              <a:t>02</a:t>
            </a:r>
            <a:endParaRPr lang="en-US" sz="3400" dirty="0"/>
          </a:p>
        </p:txBody>
      </p:sp>
      <p:sp>
        <p:nvSpPr>
          <p:cNvPr id="8" name="Text 6"/>
          <p:cNvSpPr/>
          <p:nvPr/>
        </p:nvSpPr>
        <p:spPr>
          <a:xfrm>
            <a:off x="4536338" y="3319272"/>
            <a:ext cx="3119018" cy="1033272"/>
          </a:xfrm>
          <a:prstGeom prst="rect">
            <a:avLst/>
          </a:prstGeom>
          <a:noFill/>
          <a:ln/>
        </p:spPr>
        <p:txBody>
          <a:bodyPr wrap="square" lIns="0" tIns="0" rIns="0" bIns="0" rtlCol="0" anchor="t">
            <a:normAutofit/>
          </a:bodyPr>
          <a:lstStyle/>
          <a:p>
            <a:pPr indent="0" marL="0">
              <a:lnSpc>
                <a:spcPts val="2520"/>
              </a:lnSpc>
              <a:buNone/>
            </a:pPr>
            <a:r>
              <a:rPr lang="en-US" sz="2000" b="1" dirty="0">
                <a:solidFill>
                  <a:srgbClr val="003366"/>
                </a:solidFill>
                <a:latin typeface="Poppins" pitchFamily="34" charset="0"/>
                <a:ea typeface="Poppins" pitchFamily="34" charset="-122"/>
                <a:cs typeface="Poppins" pitchFamily="34" charset="-120"/>
              </a:rPr>
              <a:t>Hiding a button hides nothing</a:t>
            </a:r>
            <a:endParaRPr lang="en-US" sz="2000" dirty="0"/>
          </a:p>
        </p:txBody>
      </p:sp>
      <p:sp>
        <p:nvSpPr>
          <p:cNvPr id="9" name="Text 7"/>
          <p:cNvSpPr/>
          <p:nvPr/>
        </p:nvSpPr>
        <p:spPr>
          <a:xfrm>
            <a:off x="4536338" y="4507992"/>
            <a:ext cx="3119018" cy="1435608"/>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A courtesy to polite users. Disabling a field stops the field, not the request.</a:t>
            </a:r>
            <a:endParaRPr lang="en-US" sz="1500" dirty="0"/>
          </a:p>
        </p:txBody>
      </p:sp>
      <p:sp>
        <p:nvSpPr>
          <p:cNvPr id="10" name="Text 8"/>
          <p:cNvSpPr/>
          <p:nvPr/>
        </p:nvSpPr>
        <p:spPr>
          <a:xfrm>
            <a:off x="8158277" y="2606040"/>
            <a:ext cx="3119018" cy="566928"/>
          </a:xfrm>
          <a:prstGeom prst="rect">
            <a:avLst/>
          </a:prstGeom>
          <a:noFill/>
          <a:ln/>
        </p:spPr>
        <p:txBody>
          <a:bodyPr wrap="square" lIns="0" tIns="0" rIns="0" bIns="0" rtlCol="0" anchor="ctr">
            <a:normAutofit/>
          </a:bodyPr>
          <a:lstStyle/>
          <a:p>
            <a:pPr indent="0" marL="0">
              <a:lnSpc>
                <a:spcPts val="3800"/>
              </a:lnSpc>
              <a:buNone/>
            </a:pPr>
            <a:r>
              <a:rPr lang="en-US" sz="3400" b="1" dirty="0">
                <a:solidFill>
                  <a:srgbClr val="1A7F4B"/>
                </a:solidFill>
                <a:latin typeface="Poppins" pitchFamily="34" charset="0"/>
                <a:ea typeface="Poppins" pitchFamily="34" charset="-122"/>
                <a:cs typeface="Poppins" pitchFamily="34" charset="-120"/>
              </a:rPr>
              <a:t>03</a:t>
            </a:r>
            <a:endParaRPr lang="en-US" sz="3400" dirty="0"/>
          </a:p>
        </p:txBody>
      </p:sp>
      <p:sp>
        <p:nvSpPr>
          <p:cNvPr id="11" name="Text 9"/>
          <p:cNvSpPr/>
          <p:nvPr/>
        </p:nvSpPr>
        <p:spPr>
          <a:xfrm>
            <a:off x="8158277" y="3319272"/>
            <a:ext cx="3119018" cy="1033272"/>
          </a:xfrm>
          <a:prstGeom prst="rect">
            <a:avLst/>
          </a:prstGeom>
          <a:noFill/>
          <a:ln/>
        </p:spPr>
        <p:txBody>
          <a:bodyPr wrap="square" lIns="0" tIns="0" rIns="0" bIns="0" rtlCol="0" anchor="t">
            <a:normAutofit/>
          </a:bodyPr>
          <a:lstStyle/>
          <a:p>
            <a:pPr indent="0" marL="0">
              <a:lnSpc>
                <a:spcPts val="2520"/>
              </a:lnSpc>
              <a:buNone/>
            </a:pPr>
            <a:r>
              <a:rPr lang="en-US" sz="2000" b="1" dirty="0">
                <a:solidFill>
                  <a:srgbClr val="003366"/>
                </a:solidFill>
                <a:latin typeface="Poppins" pitchFamily="34" charset="0"/>
                <a:ea typeface="Poppins" pitchFamily="34" charset="-122"/>
                <a:cs typeface="Poppins" pitchFamily="34" charset="-120"/>
              </a:rPr>
              <a:t>So publish only what is safe to publish</a:t>
            </a:r>
            <a:endParaRPr lang="en-US" sz="2000" dirty="0"/>
          </a:p>
        </p:txBody>
      </p:sp>
      <p:sp>
        <p:nvSpPr>
          <p:cNvPr id="12" name="Text 10"/>
          <p:cNvSpPr/>
          <p:nvPr/>
        </p:nvSpPr>
        <p:spPr>
          <a:xfrm>
            <a:off x="8158277" y="4507992"/>
            <a:ext cx="3119018" cy="1435608"/>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Not a limitation — the design. It is why the next section matters most.</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TWO WORDS PEOPLE USE INTERCHANGEABLY</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Logging in is not the same</a:t>
            </a:r>
            <a:endParaRPr lang="en-US" sz="4000" dirty="0"/>
          </a:p>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as being limited.</a:t>
            </a:r>
            <a:endParaRPr lang="en-US" sz="4000" dirty="0"/>
          </a:p>
        </p:txBody>
      </p:sp>
      <p:sp>
        <p:nvSpPr>
          <p:cNvPr id="4" name="Text 2"/>
          <p:cNvSpPr/>
          <p:nvPr/>
        </p:nvSpPr>
        <p:spPr>
          <a:xfrm>
            <a:off x="914400" y="2834640"/>
            <a:ext cx="4929988" cy="256032"/>
          </a:xfrm>
          <a:prstGeom prst="rect">
            <a:avLst/>
          </a:prstGeom>
          <a:noFill/>
          <a:ln/>
        </p:spPr>
        <p:txBody>
          <a:bodyPr wrap="square" lIns="0" tIns="0" rIns="0" bIns="0" rtlCol="0" anchor="ctr">
            <a:normAutofit/>
          </a:bodyPr>
          <a:lstStyle/>
          <a:p>
            <a:pPr indent="0" marL="0">
              <a:buNone/>
            </a:pPr>
            <a:r>
              <a:rPr lang="en-US" sz="1050" b="1" spc="200" kern="0" dirty="0">
                <a:solidFill>
                  <a:srgbClr val="00697A"/>
                </a:solidFill>
                <a:latin typeface="Calibri" pitchFamily="34" charset="0"/>
                <a:ea typeface="Calibri" pitchFamily="34" charset="-122"/>
                <a:cs typeface="Calibri" pitchFamily="34" charset="-120"/>
              </a:rPr>
              <a:t>AUTHENTICATION</a:t>
            </a:r>
            <a:endParaRPr lang="en-US" sz="1050" dirty="0"/>
          </a:p>
        </p:txBody>
      </p:sp>
      <p:sp>
        <p:nvSpPr>
          <p:cNvPr id="5" name="Text 3"/>
          <p:cNvSpPr/>
          <p:nvPr/>
        </p:nvSpPr>
        <p:spPr>
          <a:xfrm>
            <a:off x="914400" y="3236976"/>
            <a:ext cx="4929988" cy="457200"/>
          </a:xfrm>
          <a:prstGeom prst="rect">
            <a:avLst/>
          </a:prstGeom>
          <a:noFill/>
          <a:ln/>
        </p:spPr>
        <p:txBody>
          <a:bodyPr wrap="square" lIns="0" tIns="0" rIns="0" bIns="0" rtlCol="0" anchor="t">
            <a:normAutofit/>
          </a:bodyPr>
          <a:lstStyle/>
          <a:p>
            <a:pPr indent="0" marL="0">
              <a:lnSpc>
                <a:spcPts val="3024"/>
              </a:lnSpc>
              <a:buNone/>
            </a:pPr>
            <a:r>
              <a:rPr lang="en-US" sz="2400" b="1" dirty="0">
                <a:solidFill>
                  <a:srgbClr val="003366"/>
                </a:solidFill>
                <a:latin typeface="Poppins" pitchFamily="34" charset="0"/>
                <a:ea typeface="Poppins" pitchFamily="34" charset="-122"/>
                <a:cs typeface="Poppins" pitchFamily="34" charset="-120"/>
              </a:rPr>
              <a:t>Who are you?</a:t>
            </a:r>
            <a:endParaRPr lang="en-US" sz="2400" dirty="0"/>
          </a:p>
        </p:txBody>
      </p:sp>
      <p:sp>
        <p:nvSpPr>
          <p:cNvPr id="6" name="Text 4"/>
          <p:cNvSpPr/>
          <p:nvPr/>
        </p:nvSpPr>
        <p:spPr>
          <a:xfrm>
            <a:off x="914400" y="3849624"/>
            <a:ext cx="4929988" cy="2002536"/>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The ID check at the door. Passwords, magic links, SSO. This part almost always works.</a:t>
            </a:r>
            <a:endParaRPr lang="en-US" sz="1500" dirty="0"/>
          </a:p>
        </p:txBody>
      </p:sp>
      <p:sp>
        <p:nvSpPr>
          <p:cNvPr id="7" name="Text 5"/>
          <p:cNvSpPr/>
          <p:nvPr/>
        </p:nvSpPr>
        <p:spPr>
          <a:xfrm>
            <a:off x="6347308" y="2834640"/>
            <a:ext cx="4929988" cy="256032"/>
          </a:xfrm>
          <a:prstGeom prst="rect">
            <a:avLst/>
          </a:prstGeom>
          <a:noFill/>
          <a:ln/>
        </p:spPr>
        <p:txBody>
          <a:bodyPr wrap="square" lIns="0" tIns="0" rIns="0" bIns="0" rtlCol="0" anchor="ctr">
            <a:normAutofit/>
          </a:bodyPr>
          <a:lstStyle/>
          <a:p>
            <a:pPr indent="0" marL="0">
              <a:buNone/>
            </a:pPr>
            <a:r>
              <a:rPr lang="en-US" sz="1050" b="1" spc="200" kern="0" dirty="0">
                <a:solidFill>
                  <a:srgbClr val="B34A00"/>
                </a:solidFill>
                <a:latin typeface="Calibri" pitchFamily="34" charset="0"/>
                <a:ea typeface="Calibri" pitchFamily="34" charset="-122"/>
                <a:cs typeface="Calibri" pitchFamily="34" charset="-120"/>
              </a:rPr>
              <a:t>AUTHORIZATION</a:t>
            </a:r>
            <a:endParaRPr lang="en-US" sz="1050" dirty="0"/>
          </a:p>
        </p:txBody>
      </p:sp>
      <p:sp>
        <p:nvSpPr>
          <p:cNvPr id="8" name="Text 6"/>
          <p:cNvSpPr/>
          <p:nvPr/>
        </p:nvSpPr>
        <p:spPr>
          <a:xfrm>
            <a:off x="6347308" y="3236976"/>
            <a:ext cx="4929988" cy="457200"/>
          </a:xfrm>
          <a:prstGeom prst="rect">
            <a:avLst/>
          </a:prstGeom>
          <a:noFill/>
          <a:ln/>
        </p:spPr>
        <p:txBody>
          <a:bodyPr wrap="square" lIns="0" tIns="0" rIns="0" bIns="0" rtlCol="0" anchor="t">
            <a:normAutofit/>
          </a:bodyPr>
          <a:lstStyle/>
          <a:p>
            <a:pPr indent="0" marL="0">
              <a:lnSpc>
                <a:spcPts val="3024"/>
              </a:lnSpc>
              <a:buNone/>
            </a:pPr>
            <a:r>
              <a:rPr lang="en-US" sz="2400" b="1" dirty="0">
                <a:solidFill>
                  <a:srgbClr val="003366"/>
                </a:solidFill>
                <a:latin typeface="Poppins" pitchFamily="34" charset="0"/>
                <a:ea typeface="Poppins" pitchFamily="34" charset="-122"/>
                <a:cs typeface="Poppins" pitchFamily="34" charset="-120"/>
              </a:rPr>
              <a:t>What may you see?</a:t>
            </a:r>
            <a:endParaRPr lang="en-US" sz="2400" dirty="0"/>
          </a:p>
        </p:txBody>
      </p:sp>
      <p:sp>
        <p:nvSpPr>
          <p:cNvPr id="9" name="Text 7"/>
          <p:cNvSpPr/>
          <p:nvPr/>
        </p:nvSpPr>
        <p:spPr>
          <a:xfrm>
            <a:off x="6347308" y="3849624"/>
            <a:ext cx="4929988" cy="2002536"/>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Which rooms the badge opens. This is the part missing in nearly every breach you will read about.</a:t>
            </a:r>
            <a:endParaRPr lang="en-US" sz="1500" dirty="0"/>
          </a:p>
        </p:txBody>
      </p:sp>
      <p:sp>
        <p:nvSpPr>
          <p:cNvPr id="10" name="Text 8"/>
          <p:cNvSpPr/>
          <p:nvPr/>
        </p:nvSpPr>
        <p:spPr>
          <a:xfrm>
            <a:off x="914400" y="5257800"/>
            <a:ext cx="9631375" cy="731520"/>
          </a:xfrm>
          <a:prstGeom prst="rect">
            <a:avLst/>
          </a:prstGeom>
          <a:noFill/>
          <a:ln/>
        </p:spPr>
        <p:txBody>
          <a:bodyPr wrap="square" lIns="0" tIns="0" rIns="0" bIns="0" rtlCol="0" anchor="t">
            <a:normAutofit/>
          </a:bodyPr>
          <a:lstStyle/>
          <a:p>
            <a:pPr indent="0" marL="0">
              <a:lnSpc>
                <a:spcPts val="2400"/>
              </a:lnSpc>
              <a:buNone/>
            </a:pPr>
            <a:r>
              <a:rPr lang="en-US" sz="1600" dirty="0">
                <a:solidFill>
                  <a:srgbClr val="68737F"/>
                </a:solidFill>
                <a:latin typeface="Calibri" pitchFamily="34" charset="0"/>
                <a:ea typeface="Calibri" pitchFamily="34" charset="-122"/>
                <a:cs typeface="Calibri" pitchFamily="34" charset="-120"/>
              </a:rPr>
              <a:t>In almost every incident, everyone logged in perfectly — and then could read everyone else's records.</a:t>
            </a:r>
            <a:endParaRPr lang="en-US" sz="16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WHILE IT IS YOUNG</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Put a gate on it.</a:t>
            </a:r>
            <a:endParaRPr lang="en-US" sz="4000" dirty="0"/>
          </a:p>
        </p:txBody>
      </p:sp>
      <p:sp>
        <p:nvSpPr>
          <p:cNvPr id="4" name="Text 2"/>
          <p:cNvSpPr/>
          <p:nvPr/>
        </p:nvSpPr>
        <p:spPr>
          <a:xfrm>
            <a:off x="914400" y="2468880"/>
            <a:ext cx="8899855" cy="1280160"/>
          </a:xfrm>
          <a:prstGeom prst="rect">
            <a:avLst/>
          </a:prstGeom>
          <a:noFill/>
          <a:ln/>
        </p:spPr>
        <p:txBody>
          <a:bodyPr wrap="square" lIns="0" tIns="0" rIns="0" bIns="0" rtlCol="0" anchor="t">
            <a:normAutofit/>
          </a:bodyPr>
          <a:lstStyle/>
          <a:p>
            <a:pPr indent="0" marL="0">
              <a:lnSpc>
                <a:spcPts val="2982"/>
              </a:lnSpc>
              <a:buNone/>
            </a:pPr>
            <a:r>
              <a:rPr lang="en-US" sz="2100" dirty="0">
                <a:solidFill>
                  <a:srgbClr val="68737F"/>
                </a:solidFill>
                <a:latin typeface="Calibri" pitchFamily="34" charset="0"/>
                <a:ea typeface="Calibri" pitchFamily="34" charset="-122"/>
                <a:cs typeface="Calibri" pitchFamily="34" charset="-120"/>
              </a:rPr>
              <a:t>A prototype's security is not "probably fine." It is unknown. A password in front of the whole site turns an unknown-risk public asset into a known-audience internal one. It buys you the right to be wrong.</a:t>
            </a:r>
            <a:endParaRPr lang="en-US" sz="2100" dirty="0"/>
          </a:p>
        </p:txBody>
      </p:sp>
      <p:sp>
        <p:nvSpPr>
          <p:cNvPr id="5" name="Text 3"/>
          <p:cNvSpPr/>
          <p:nvPr/>
        </p:nvSpPr>
        <p:spPr>
          <a:xfrm>
            <a:off x="914400" y="393192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FREE UNDER 50 USERS</a:t>
            </a:r>
            <a:endParaRPr lang="en-US" sz="1050" dirty="0"/>
          </a:p>
        </p:txBody>
      </p:sp>
      <p:sp>
        <p:nvSpPr>
          <p:cNvPr id="6" name="Text 4"/>
          <p:cNvSpPr/>
          <p:nvPr/>
        </p:nvSpPr>
        <p:spPr>
          <a:xfrm>
            <a:off x="914400" y="4334256"/>
            <a:ext cx="3119018" cy="377190"/>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003366"/>
                </a:solidFill>
                <a:latin typeface="Poppins" pitchFamily="34" charset="0"/>
                <a:ea typeface="Poppins" pitchFamily="34" charset="-122"/>
                <a:cs typeface="Poppins" pitchFamily="34" charset="-120"/>
              </a:rPr>
              <a:t>Cloudflare Access</a:t>
            </a:r>
            <a:endParaRPr lang="en-US" sz="1900" dirty="0"/>
          </a:p>
        </p:txBody>
      </p:sp>
      <p:sp>
        <p:nvSpPr>
          <p:cNvPr id="7" name="Text 5"/>
          <p:cNvSpPr/>
          <p:nvPr/>
        </p:nvSpPr>
        <p:spPr>
          <a:xfrm>
            <a:off x="914400" y="4866894"/>
            <a:ext cx="3119018" cy="1168146"/>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Sits in front of everything. Users verify by emailed PIN.</a:t>
            </a:r>
            <a:endParaRPr lang="en-US" sz="1500" dirty="0"/>
          </a:p>
        </p:txBody>
      </p:sp>
      <p:sp>
        <p:nvSpPr>
          <p:cNvPr id="8" name="Text 6"/>
          <p:cNvSpPr/>
          <p:nvPr/>
        </p:nvSpPr>
        <p:spPr>
          <a:xfrm>
            <a:off x="4536338" y="393192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00697A"/>
                </a:solidFill>
                <a:latin typeface="Calibri" pitchFamily="34" charset="0"/>
                <a:ea typeface="Calibri" pitchFamily="34" charset="-122"/>
                <a:cs typeface="Calibri" pitchFamily="34" charset="-120"/>
              </a:rPr>
              <a:t>FREE TO 50K USERS</a:t>
            </a:r>
            <a:endParaRPr lang="en-US" sz="1050" dirty="0"/>
          </a:p>
        </p:txBody>
      </p:sp>
      <p:sp>
        <p:nvSpPr>
          <p:cNvPr id="9" name="Text 7"/>
          <p:cNvSpPr/>
          <p:nvPr/>
        </p:nvSpPr>
        <p:spPr>
          <a:xfrm>
            <a:off x="4536338" y="4334256"/>
            <a:ext cx="3119018" cy="377190"/>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003366"/>
                </a:solidFill>
                <a:latin typeface="Poppins" pitchFamily="34" charset="0"/>
                <a:ea typeface="Poppins" pitchFamily="34" charset="-122"/>
                <a:cs typeface="Poppins" pitchFamily="34" charset="-120"/>
              </a:rPr>
              <a:t>Supabase Auth</a:t>
            </a:r>
            <a:endParaRPr lang="en-US" sz="1900" dirty="0"/>
          </a:p>
        </p:txBody>
      </p:sp>
      <p:sp>
        <p:nvSpPr>
          <p:cNvPr id="10" name="Text 8"/>
          <p:cNvSpPr/>
          <p:nvPr/>
        </p:nvSpPr>
        <p:spPr>
          <a:xfrm>
            <a:off x="4536338" y="4866894"/>
            <a:ext cx="3119018" cy="1168146"/>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App-level login. Necessary but not sufficient — something still has to authorize.</a:t>
            </a:r>
            <a:endParaRPr lang="en-US" sz="1500" dirty="0"/>
          </a:p>
        </p:txBody>
      </p:sp>
      <p:sp>
        <p:nvSpPr>
          <p:cNvPr id="11" name="Text 9"/>
          <p:cNvSpPr/>
          <p:nvPr/>
        </p:nvSpPr>
        <p:spPr>
          <a:xfrm>
            <a:off x="8158277" y="393192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C0392B"/>
                </a:solidFill>
                <a:latin typeface="Calibri" pitchFamily="34" charset="0"/>
                <a:ea typeface="Calibri" pitchFamily="34" charset="-122"/>
                <a:cs typeface="Calibri" pitchFamily="34" charset="-120"/>
              </a:rPr>
              <a:t>NOT AVAILABLE</a:t>
            </a:r>
            <a:endParaRPr lang="en-US" sz="1050" dirty="0"/>
          </a:p>
        </p:txBody>
      </p:sp>
      <p:sp>
        <p:nvSpPr>
          <p:cNvPr id="12" name="Text 10"/>
          <p:cNvSpPr/>
          <p:nvPr/>
        </p:nvSpPr>
        <p:spPr>
          <a:xfrm>
            <a:off x="8158277" y="4334256"/>
            <a:ext cx="3119018" cy="377190"/>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003366"/>
                </a:solidFill>
                <a:latin typeface="Poppins" pitchFamily="34" charset="0"/>
                <a:ea typeface="Poppins" pitchFamily="34" charset="-122"/>
                <a:cs typeface="Poppins" pitchFamily="34" charset="-120"/>
              </a:rPr>
              <a:t>GitHub Pages</a:t>
            </a:r>
            <a:endParaRPr lang="en-US" sz="1900" dirty="0"/>
          </a:p>
        </p:txBody>
      </p:sp>
      <p:sp>
        <p:nvSpPr>
          <p:cNvPr id="13" name="Text 11"/>
          <p:cNvSpPr/>
          <p:nvPr/>
        </p:nvSpPr>
        <p:spPr>
          <a:xfrm>
            <a:off x="8158277" y="4866894"/>
            <a:ext cx="3119018" cy="1168146"/>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There is no gate. A free GitHub Pages site is public, permanently.</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14400" y="1078992"/>
            <a:ext cx="2743200" cy="310896"/>
          </a:xfrm>
          <a:prstGeom prst="rect">
            <a:avLst/>
          </a:prstGeom>
          <a:noFill/>
          <a:ln/>
        </p:spPr>
        <p:txBody>
          <a:bodyPr wrap="square" lIns="0" tIns="0" rIns="0" bIns="0" rtlCol="0" anchor="ctr">
            <a:normAutofit/>
          </a:bodyPr>
          <a:lstStyle/>
          <a:p>
            <a:pPr indent="0" marL="0">
              <a:buNone/>
            </a:pPr>
            <a:r>
              <a:rPr lang="en-US" sz="1200" b="1" spc="240" kern="0" dirty="0">
                <a:solidFill>
                  <a:srgbClr val="FF6600"/>
                </a:solidFill>
                <a:latin typeface="Calibri" pitchFamily="34" charset="0"/>
                <a:ea typeface="Calibri" pitchFamily="34" charset="-122"/>
                <a:cs typeface="Calibri" pitchFamily="34" charset="-120"/>
              </a:rPr>
              <a:t>TASK 3</a:t>
            </a:r>
            <a:endParaRPr lang="en-US" sz="1200" dirty="0"/>
          </a:p>
        </p:txBody>
      </p:sp>
      <p:sp>
        <p:nvSpPr>
          <p:cNvPr id="3" name="Text 1"/>
          <p:cNvSpPr/>
          <p:nvPr/>
        </p:nvSpPr>
        <p:spPr>
          <a:xfrm>
            <a:off x="914400" y="1517904"/>
            <a:ext cx="9448495" cy="1194816"/>
          </a:xfrm>
          <a:prstGeom prst="rect">
            <a:avLst/>
          </a:prstGeom>
          <a:noFill/>
          <a:ln/>
        </p:spPr>
        <p:txBody>
          <a:bodyPr wrap="square" lIns="0" tIns="0" rIns="0" bIns="0" rtlCol="0" anchor="t">
            <a:normAutofit/>
          </a:bodyPr>
          <a:lstStyle/>
          <a:p>
            <a:pPr indent="0" marL="0">
              <a:lnSpc>
                <a:spcPts val="4200"/>
              </a:lnSpc>
              <a:buNone/>
            </a:pPr>
            <a:r>
              <a:rPr lang="en-US" sz="3600" b="1" dirty="0">
                <a:solidFill>
                  <a:srgbClr val="FFFFFF"/>
                </a:solidFill>
                <a:latin typeface="Poppins" pitchFamily="34" charset="0"/>
                <a:ea typeface="Poppins" pitchFamily="34" charset="-122"/>
                <a:cs typeface="Poppins" pitchFamily="34" charset="-120"/>
              </a:rPr>
              <a:t>Lock the door</a:t>
            </a:r>
            <a:endParaRPr lang="en-US" sz="3600" dirty="0"/>
          </a:p>
          <a:p>
            <a:pPr indent="0" marL="0">
              <a:lnSpc>
                <a:spcPts val="4200"/>
              </a:lnSpc>
              <a:buNone/>
            </a:pPr>
            <a:r>
              <a:rPr lang="en-US" sz="3600" b="1" dirty="0">
                <a:solidFill>
                  <a:srgbClr val="FFFFFF"/>
                </a:solidFill>
                <a:latin typeface="Poppins" pitchFamily="34" charset="0"/>
                <a:ea typeface="Poppins" pitchFamily="34" charset="-122"/>
                <a:cs typeface="Poppins" pitchFamily="34" charset="-120"/>
              </a:rPr>
              <a:t>you just opened.</a:t>
            </a:r>
            <a:endParaRPr lang="en-US" sz="3600" dirty="0"/>
          </a:p>
        </p:txBody>
      </p:sp>
      <p:sp>
        <p:nvSpPr>
          <p:cNvPr id="4" name="Text 2"/>
          <p:cNvSpPr/>
          <p:nvPr/>
        </p:nvSpPr>
        <p:spPr>
          <a:xfrm>
            <a:off x="914400" y="2715768"/>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1</a:t>
            </a:r>
            <a:endParaRPr lang="en-US" sz="1700" dirty="0"/>
          </a:p>
        </p:txBody>
      </p:sp>
      <p:sp>
        <p:nvSpPr>
          <p:cNvPr id="5" name="Text 3"/>
          <p:cNvSpPr/>
          <p:nvPr/>
        </p:nvSpPr>
        <p:spPr>
          <a:xfrm>
            <a:off x="1463040" y="2697480"/>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Put Cloudflare Access in front of the site you deployed in Task 2.</a:t>
            </a:r>
            <a:endParaRPr lang="en-US" sz="1600" dirty="0"/>
          </a:p>
        </p:txBody>
      </p:sp>
      <p:sp>
        <p:nvSpPr>
          <p:cNvPr id="6" name="Text 4"/>
          <p:cNvSpPr/>
          <p:nvPr/>
        </p:nvSpPr>
        <p:spPr>
          <a:xfrm>
            <a:off x="914400" y="3368040"/>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2</a:t>
            </a:r>
            <a:endParaRPr lang="en-US" sz="1700" dirty="0"/>
          </a:p>
        </p:txBody>
      </p:sp>
      <p:sp>
        <p:nvSpPr>
          <p:cNvPr id="7" name="Text 5"/>
          <p:cNvSpPr/>
          <p:nvPr/>
        </p:nvSpPr>
        <p:spPr>
          <a:xfrm>
            <a:off x="1463040" y="3349752"/>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Add your own email and the email of the person next to you.</a:t>
            </a:r>
            <a:endParaRPr lang="en-US" sz="1600" dirty="0"/>
          </a:p>
        </p:txBody>
      </p:sp>
      <p:sp>
        <p:nvSpPr>
          <p:cNvPr id="8" name="Text 6"/>
          <p:cNvSpPr/>
          <p:nvPr/>
        </p:nvSpPr>
        <p:spPr>
          <a:xfrm>
            <a:off x="914400" y="4020312"/>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3</a:t>
            </a:r>
            <a:endParaRPr lang="en-US" sz="1700" dirty="0"/>
          </a:p>
        </p:txBody>
      </p:sp>
      <p:sp>
        <p:nvSpPr>
          <p:cNvPr id="9" name="Text 7"/>
          <p:cNvSpPr/>
          <p:nvPr/>
        </p:nvSpPr>
        <p:spPr>
          <a:xfrm>
            <a:off x="1463040" y="4002024"/>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Open it in a private window. Confirm you are stopped.</a:t>
            </a:r>
            <a:endParaRPr lang="en-US" sz="1600" dirty="0"/>
          </a:p>
        </p:txBody>
      </p:sp>
      <p:sp>
        <p:nvSpPr>
          <p:cNvPr id="10" name="Text 8"/>
          <p:cNvSpPr/>
          <p:nvPr/>
        </p:nvSpPr>
        <p:spPr>
          <a:xfrm>
            <a:off x="914400" y="4672584"/>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4</a:t>
            </a:r>
            <a:endParaRPr lang="en-US" sz="1700" dirty="0"/>
          </a:p>
        </p:txBody>
      </p:sp>
      <p:sp>
        <p:nvSpPr>
          <p:cNvPr id="11" name="Text 9"/>
          <p:cNvSpPr/>
          <p:nvPr/>
        </p:nvSpPr>
        <p:spPr>
          <a:xfrm>
            <a:off x="1463040" y="4654296"/>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Have someone not on the list try. Confirm they are stopped too.</a:t>
            </a:r>
            <a:endParaRPr lang="en-US" sz="1600" dirty="0"/>
          </a:p>
        </p:txBody>
      </p:sp>
      <p:sp>
        <p:nvSpPr>
          <p:cNvPr id="12" name="Text 10"/>
          <p:cNvSpPr/>
          <p:nvPr/>
        </p:nvSpPr>
        <p:spPr>
          <a:xfrm>
            <a:off x="914400" y="5760720"/>
            <a:ext cx="10362895" cy="365760"/>
          </a:xfrm>
          <a:prstGeom prst="rect">
            <a:avLst/>
          </a:prstGeom>
          <a:noFill/>
          <a:ln/>
        </p:spPr>
        <p:txBody>
          <a:bodyPr wrap="square" lIns="0" tIns="0" rIns="0" bIns="0" rtlCol="0" anchor="ctr">
            <a:normAutofit/>
          </a:bodyPr>
          <a:lstStyle/>
          <a:p>
            <a:pPr indent="0" marL="0">
              <a:buNone/>
            </a:pPr>
            <a:r>
              <a:rPr lang="en-US" sz="1400" b="1" spc="100" kern="0" dirty="0">
                <a:solidFill>
                  <a:srgbClr val="FF6600"/>
                </a:solidFill>
                <a:latin typeface="Calibri" pitchFamily="34" charset="0"/>
                <a:ea typeface="Calibri" pitchFamily="34" charset="-122"/>
                <a:cs typeface="Calibri" pitchFamily="34" charset="-120"/>
              </a:rPr>
              <a:t>15 MINUTES</a:t>
            </a:r>
            <a:endParaRPr lang="en-US" sz="14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14400" y="1371600"/>
            <a:ext cx="10362895" cy="914400"/>
          </a:xfrm>
          <a:prstGeom prst="rect">
            <a:avLst/>
          </a:prstGeom>
          <a:noFill/>
          <a:ln/>
        </p:spPr>
        <p:txBody>
          <a:bodyPr wrap="square" lIns="0" tIns="0" rIns="0" bIns="0" rtlCol="0" anchor="ctr">
            <a:normAutofit/>
          </a:bodyPr>
          <a:lstStyle/>
          <a:p>
            <a:pPr indent="0" marL="0">
              <a:buNone/>
            </a:pPr>
            <a:r>
              <a:rPr lang="en-US" sz="2000" b="1" spc="300" kern="0" dirty="0">
                <a:solidFill>
                  <a:srgbClr val="FF6600"/>
                </a:solidFill>
                <a:latin typeface="Poppins" pitchFamily="34" charset="0"/>
                <a:ea typeface="Poppins" pitchFamily="34" charset="-122"/>
                <a:cs typeface="Poppins" pitchFamily="34" charset="-120"/>
              </a:rPr>
              <a:t>PART FIVE</a:t>
            </a:r>
            <a:endParaRPr lang="en-US" sz="2000" dirty="0"/>
          </a:p>
        </p:txBody>
      </p:sp>
      <p:sp>
        <p:nvSpPr>
          <p:cNvPr id="3" name="Text 1"/>
          <p:cNvSpPr/>
          <p:nvPr/>
        </p:nvSpPr>
        <p:spPr>
          <a:xfrm>
            <a:off x="914400" y="2286000"/>
            <a:ext cx="9265615" cy="882904"/>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Databases</a:t>
            </a:r>
            <a:endParaRPr lang="en-US" sz="5000" dirty="0"/>
          </a:p>
        </p:txBody>
      </p:sp>
      <p:sp>
        <p:nvSpPr>
          <p:cNvPr id="4" name="Text 2"/>
          <p:cNvSpPr/>
          <p:nvPr/>
        </p:nvSpPr>
        <p:spPr>
          <a:xfrm>
            <a:off x="914400" y="4023360"/>
            <a:ext cx="7985455" cy="914400"/>
          </a:xfrm>
          <a:prstGeom prst="rect">
            <a:avLst/>
          </a:prstGeom>
          <a:noFill/>
          <a:ln/>
        </p:spPr>
        <p:txBody>
          <a:bodyPr wrap="square" lIns="0" tIns="0" rIns="0" bIns="0" rtlCol="0" anchor="t">
            <a:normAutofit/>
          </a:bodyPr>
          <a:lstStyle/>
          <a:p>
            <a:pPr indent="0" marL="0">
              <a:lnSpc>
                <a:spcPts val="2700"/>
              </a:lnSpc>
              <a:buNone/>
            </a:pPr>
            <a:r>
              <a:rPr lang="en-US" sz="1900" dirty="0">
                <a:solidFill>
                  <a:srgbClr val="B7CDE0"/>
                </a:solidFill>
                <a:latin typeface="Calibri" pitchFamily="34" charset="0"/>
                <a:ea typeface="Calibri" pitchFamily="34" charset="-122"/>
                <a:cs typeface="Calibri" pitchFamily="34" charset="-120"/>
              </a:rPr>
              <a:t>The most important thirty minutes of the day.</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THE THING THAT SURPRISES EVERYONE</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The browser talks to the</a:t>
            </a:r>
            <a:endParaRPr lang="en-US" sz="4000" dirty="0"/>
          </a:p>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database directly.</a:t>
            </a:r>
            <a:endParaRPr lang="en-US" sz="4000" dirty="0"/>
          </a:p>
        </p:txBody>
      </p:sp>
      <p:sp>
        <p:nvSpPr>
          <p:cNvPr id="4" name="Text 2"/>
          <p:cNvSpPr/>
          <p:nvPr/>
        </p:nvSpPr>
        <p:spPr>
          <a:xfrm>
            <a:off x="914400" y="2743200"/>
            <a:ext cx="8899855" cy="1280160"/>
          </a:xfrm>
          <a:prstGeom prst="rect">
            <a:avLst/>
          </a:prstGeom>
          <a:noFill/>
          <a:ln/>
        </p:spPr>
        <p:txBody>
          <a:bodyPr wrap="square" lIns="0" tIns="0" rIns="0" bIns="0" rtlCol="0" anchor="t">
            <a:normAutofit/>
          </a:bodyPr>
          <a:lstStyle/>
          <a:p>
            <a:pPr indent="0" marL="0">
              <a:lnSpc>
                <a:spcPts val="2982"/>
              </a:lnSpc>
              <a:buNone/>
            </a:pPr>
            <a:r>
              <a:rPr lang="en-US" sz="2100" dirty="0">
                <a:solidFill>
                  <a:srgbClr val="68737F"/>
                </a:solidFill>
                <a:latin typeface="Calibri" pitchFamily="34" charset="0"/>
                <a:ea typeface="Calibri" pitchFamily="34" charset="-122"/>
                <a:cs typeface="Calibri" pitchFamily="34" charset="-120"/>
              </a:rPr>
              <a:t>Your site does not ask a server which asks the database. The visitor's own browser asks the database. That is what lets a free static site behave like a real app — and it is why one setting is not optional.</a:t>
            </a:r>
            <a:endParaRPr lang="en-US" sz="2100" dirty="0"/>
          </a:p>
        </p:txBody>
      </p:sp>
      <p:sp>
        <p:nvSpPr>
          <p:cNvPr id="5" name="Text 3"/>
          <p:cNvSpPr/>
          <p:nvPr/>
        </p:nvSpPr>
        <p:spPr>
          <a:xfrm>
            <a:off x="914400" y="4114800"/>
            <a:ext cx="4929988" cy="256032"/>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SAFE TO PUBLISH</a:t>
            </a:r>
            <a:endParaRPr lang="en-US" sz="1050" dirty="0"/>
          </a:p>
        </p:txBody>
      </p:sp>
      <p:sp>
        <p:nvSpPr>
          <p:cNvPr id="6" name="Text 4"/>
          <p:cNvSpPr/>
          <p:nvPr/>
        </p:nvSpPr>
        <p:spPr>
          <a:xfrm>
            <a:off x="914400" y="4517136"/>
            <a:ext cx="4929988"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The publishable key</a:t>
            </a:r>
            <a:endParaRPr lang="en-US" sz="2100" dirty="0"/>
          </a:p>
        </p:txBody>
      </p:sp>
      <p:sp>
        <p:nvSpPr>
          <p:cNvPr id="7" name="Text 5"/>
          <p:cNvSpPr/>
          <p:nvPr/>
        </p:nvSpPr>
        <p:spPr>
          <a:xfrm>
            <a:off x="914400" y="5081778"/>
            <a:ext cx="4929988" cy="953262"/>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Not a password — a return address saying which project you mean.</a:t>
            </a:r>
            <a:endParaRPr lang="en-US" sz="1500" dirty="0"/>
          </a:p>
        </p:txBody>
      </p:sp>
      <p:sp>
        <p:nvSpPr>
          <p:cNvPr id="8" name="Text 6"/>
          <p:cNvSpPr/>
          <p:nvPr/>
        </p:nvSpPr>
        <p:spPr>
          <a:xfrm>
            <a:off x="6347308" y="4114800"/>
            <a:ext cx="4929988" cy="256032"/>
          </a:xfrm>
          <a:prstGeom prst="rect">
            <a:avLst/>
          </a:prstGeom>
          <a:noFill/>
          <a:ln/>
        </p:spPr>
        <p:txBody>
          <a:bodyPr wrap="square" lIns="0" tIns="0" rIns="0" bIns="0" rtlCol="0" anchor="ctr">
            <a:normAutofit/>
          </a:bodyPr>
          <a:lstStyle/>
          <a:p>
            <a:pPr indent="0" marL="0">
              <a:buNone/>
            </a:pPr>
            <a:r>
              <a:rPr lang="en-US" sz="1050" b="1" spc="200" kern="0" dirty="0">
                <a:solidFill>
                  <a:srgbClr val="C0392B"/>
                </a:solidFill>
                <a:latin typeface="Calibri" pitchFamily="34" charset="0"/>
                <a:ea typeface="Calibri" pitchFamily="34" charset="-122"/>
                <a:cs typeface="Calibri" pitchFamily="34" charset="-120"/>
              </a:rPr>
              <a:t>NEVER IN A BROWSER</a:t>
            </a:r>
            <a:endParaRPr lang="en-US" sz="1050" dirty="0"/>
          </a:p>
        </p:txBody>
      </p:sp>
      <p:sp>
        <p:nvSpPr>
          <p:cNvPr id="9" name="Text 7"/>
          <p:cNvSpPr/>
          <p:nvPr/>
        </p:nvSpPr>
        <p:spPr>
          <a:xfrm>
            <a:off x="6347308" y="4517136"/>
            <a:ext cx="4929988"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The secret key</a:t>
            </a:r>
            <a:endParaRPr lang="en-US" sz="2100" dirty="0"/>
          </a:p>
        </p:txBody>
      </p:sp>
      <p:sp>
        <p:nvSpPr>
          <p:cNvPr id="10" name="Text 8"/>
          <p:cNvSpPr/>
          <p:nvPr/>
        </p:nvSpPr>
        <p:spPr>
          <a:xfrm>
            <a:off x="6347308" y="5081778"/>
            <a:ext cx="4929988" cy="953262"/>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It carries BYPASSRLS. Every rule you write simply does not apply to it.</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rlsTitle"/>
        <p:cNvGrpSpPr/>
        <p:nvPr/>
      </p:nvGrpSpPr>
      <p:grpSpPr>
        <a:xfrm>
          <a:off x="0" y="0"/>
          <a:ext cx="0" cy="0"/>
          <a:chOff x="0" y="0"/>
          <a:chExt cx="0" cy="0"/>
        </a:xfrm>
      </p:grpSpPr>
      <p:sp>
        <p:nvSpPr>
          <p:cNvPr id="2" name="!!rlsSub"/>
          <p:cNvSpPr/>
          <p:nvPr/>
        </p:nvSpPr>
        <p:spPr>
          <a:xfrm>
            <a:off x="914400" y="1188720"/>
            <a:ext cx="10362895" cy="1097280"/>
          </a:xfrm>
          <a:prstGeom prst="rect">
            <a:avLst/>
          </a:prstGeom>
          <a:noFill/>
          <a:ln/>
        </p:spPr>
        <p:txBody>
          <a:bodyPr wrap="square" lIns="0" tIns="0" rIns="0" bIns="0" rtlCol="0" anchor="t">
            <a:normAutofit/>
          </a:bodyPr>
          <a:lstStyle/>
          <a:p>
            <a:pPr indent="0" marL="0">
              <a:lnSpc>
                <a:spcPts val="6200"/>
              </a:lnSpc>
              <a:buNone/>
            </a:pPr>
            <a:r>
              <a:rPr lang="en-US" sz="5600" b="1" dirty="0">
                <a:solidFill>
                  <a:srgbClr val="FF8A78"/>
                </a:solidFill>
                <a:latin typeface="Poppins" pitchFamily="34" charset="0"/>
                <a:ea typeface="Poppins" pitchFamily="34" charset="-122"/>
                <a:cs typeface="Poppins" pitchFamily="34" charset="-120"/>
              </a:rPr>
              <a:t>RLS off.</a:t>
            </a:r>
            <a:endParaRPr lang="en-US" sz="5600" dirty="0"/>
          </a:p>
        </p:txBody>
      </p:sp>
      <p:sp>
        <p:nvSpPr>
          <p:cNvPr id="3" name="!!rlsBox"/>
          <p:cNvSpPr/>
          <p:nvPr/>
        </p:nvSpPr>
        <p:spPr>
          <a:xfrm>
            <a:off x="914400" y="2468880"/>
            <a:ext cx="8899855" cy="1097280"/>
          </a:xfrm>
          <a:prstGeom prst="rect">
            <a:avLst/>
          </a:prstGeom>
          <a:noFill/>
          <a:ln/>
        </p:spPr>
        <p:txBody>
          <a:bodyPr wrap="square" lIns="0" tIns="0" rIns="0" bIns="0" rtlCol="0" anchor="t">
            <a:normAutofit/>
          </a:bodyPr>
          <a:lstStyle/>
          <a:p>
            <a:pPr indent="0" marL="0">
              <a:lnSpc>
                <a:spcPts val="3000"/>
              </a:lnSpc>
              <a:buNone/>
            </a:pPr>
            <a:r>
              <a:rPr lang="en-US" sz="2100" dirty="0">
                <a:solidFill>
                  <a:srgbClr val="A7B7C9"/>
                </a:solidFill>
                <a:latin typeface="Calibri" pitchFamily="34" charset="0"/>
                <a:ea typeface="Calibri" pitchFamily="34" charset="-122"/>
                <a:cs typeface="Calibri" pitchFamily="34" charset="-120"/>
              </a:rPr>
              <a:t>Anyone with the key — which is in your page source — can read every row. They can also insert, update and delete.</a:t>
            </a:r>
            <a:endParaRPr lang="en-US" sz="2100" dirty="0"/>
          </a:p>
        </p:txBody>
      </p:sp>
      <p:sp>
        <p:nvSpPr>
          <p:cNvPr id="4" name="!!rlsList"/>
          <p:cNvSpPr/>
          <p:nvPr/>
        </p:nvSpPr>
        <p:spPr>
          <a:xfrm>
            <a:off x="914400" y="3794760"/>
            <a:ext cx="10362895" cy="1783080"/>
          </a:xfrm>
          <a:prstGeom prst="roundRect">
            <a:avLst>
              <a:gd name="adj" fmla="val 6154"/>
            </a:avLst>
          </a:prstGeom>
          <a:solidFill>
            <a:srgbClr val="2A1416"/>
          </a:solidFill>
          <a:ln w="12700">
            <a:solidFill>
              <a:srgbClr val="6E2B22"/>
            </a:solidFill>
            <a:prstDash val="solid"/>
          </a:ln>
        </p:spPr>
      </p:sp>
      <p:sp>
        <p:nvSpPr>
          <p:cNvPr id="5" name="Text 3"/>
          <p:cNvSpPr/>
          <p:nvPr/>
        </p:nvSpPr>
        <p:spPr>
          <a:xfrm>
            <a:off x="1298448" y="3977640"/>
            <a:ext cx="9594799" cy="1417320"/>
          </a:xfrm>
          <a:prstGeom prst="rect">
            <a:avLst/>
          </a:prstGeom>
          <a:noFill/>
          <a:ln/>
        </p:spPr>
        <p:txBody>
          <a:bodyPr wrap="square" lIns="0" tIns="0" rIns="0" bIns="0" rtlCol="0" anchor="ctr">
            <a:normAutofit/>
          </a:bodyPr>
          <a:lstStyle/>
          <a:p>
            <a:pPr indent="0" marL="0">
              <a:lnSpc>
                <a:spcPts val="3000"/>
              </a:lnSpc>
              <a:buNone/>
            </a:pPr>
            <a:r>
              <a:rPr lang="en-US" sz="1700" dirty="0">
                <a:solidFill>
                  <a:srgbClr val="FFB3A7"/>
                </a:solidFill>
                <a:latin typeface="Calibri" pitchFamily="34" charset="0"/>
                <a:ea typeface="Calibri" pitchFamily="34" charset="-122"/>
                <a:cs typeface="Calibri" pitchFamily="34" charset="-120"/>
              </a:rPr>
              <a:t>Marisol Alcaraz   ·   Devonte Whitfield   ·   Priya Okonkwo</a:t>
            </a:r>
            <a:endParaRPr lang="en-US" sz="1700" dirty="0"/>
          </a:p>
          <a:p>
            <a:pPr indent="0" marL="0">
              <a:lnSpc>
                <a:spcPts val="3000"/>
              </a:lnSpc>
              <a:buNone/>
            </a:pPr>
            <a:r>
              <a:rPr lang="en-US" sz="1700" dirty="0">
                <a:solidFill>
                  <a:srgbClr val="FFB3A7"/>
                </a:solidFill>
                <a:latin typeface="Calibri" pitchFamily="34" charset="0"/>
                <a:ea typeface="Calibri" pitchFamily="34" charset="-122"/>
                <a:cs typeface="Calibri" pitchFamily="34" charset="-120"/>
              </a:rPr>
              <a:t>Tomas Brannigan   ·   Shanice Vasquez   ·   + 118 more rows</a:t>
            </a:r>
            <a:endParaRPr lang="en-US" sz="17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rlsTitle"/>
        <p:cNvGrpSpPr/>
        <p:nvPr/>
      </p:nvGrpSpPr>
      <p:grpSpPr>
        <a:xfrm>
          <a:off x="0" y="0"/>
          <a:ext cx="0" cy="0"/>
          <a:chOff x="0" y="0"/>
          <a:chExt cx="0" cy="0"/>
        </a:xfrm>
      </p:grpSpPr>
      <p:sp>
        <p:nvSpPr>
          <p:cNvPr id="2" name="!!rlsSub"/>
          <p:cNvSpPr/>
          <p:nvPr/>
        </p:nvSpPr>
        <p:spPr>
          <a:xfrm>
            <a:off x="914400" y="1188720"/>
            <a:ext cx="10362895" cy="1097280"/>
          </a:xfrm>
          <a:prstGeom prst="rect">
            <a:avLst/>
          </a:prstGeom>
          <a:noFill/>
          <a:ln/>
        </p:spPr>
        <p:txBody>
          <a:bodyPr wrap="square" lIns="0" tIns="0" rIns="0" bIns="0" rtlCol="0" anchor="t">
            <a:normAutofit/>
          </a:bodyPr>
          <a:lstStyle/>
          <a:p>
            <a:pPr indent="0" marL="0">
              <a:lnSpc>
                <a:spcPts val="6200"/>
              </a:lnSpc>
              <a:buNone/>
            </a:pPr>
            <a:r>
              <a:rPr lang="en-US" sz="5600" b="1" dirty="0">
                <a:solidFill>
                  <a:srgbClr val="6FD79B"/>
                </a:solidFill>
                <a:latin typeface="Poppins" pitchFamily="34" charset="0"/>
                <a:ea typeface="Poppins" pitchFamily="34" charset="-122"/>
                <a:cs typeface="Poppins" pitchFamily="34" charset="-120"/>
              </a:rPr>
              <a:t>RLS on.</a:t>
            </a:r>
            <a:endParaRPr lang="en-US" sz="5600" dirty="0"/>
          </a:p>
        </p:txBody>
      </p:sp>
      <p:sp>
        <p:nvSpPr>
          <p:cNvPr id="3" name="!!rlsBox"/>
          <p:cNvSpPr/>
          <p:nvPr/>
        </p:nvSpPr>
        <p:spPr>
          <a:xfrm>
            <a:off x="914400" y="2468880"/>
            <a:ext cx="8899855" cy="1097280"/>
          </a:xfrm>
          <a:prstGeom prst="rect">
            <a:avLst/>
          </a:prstGeom>
          <a:noFill/>
          <a:ln/>
        </p:spPr>
        <p:txBody>
          <a:bodyPr wrap="square" lIns="0" tIns="0" rIns="0" bIns="0" rtlCol="0" anchor="t">
            <a:normAutofit/>
          </a:bodyPr>
          <a:lstStyle/>
          <a:p>
            <a:pPr indent="0" marL="0">
              <a:lnSpc>
                <a:spcPts val="3000"/>
              </a:lnSpc>
              <a:buNone/>
            </a:pPr>
            <a:r>
              <a:rPr lang="en-US" sz="2100" dirty="0">
                <a:solidFill>
                  <a:srgbClr val="A7B7C9"/>
                </a:solidFill>
                <a:latin typeface="Calibri" pitchFamily="34" charset="0"/>
                <a:ea typeface="Calibri" pitchFamily="34" charset="-122"/>
                <a:cs typeface="Calibri" pitchFamily="34" charset="-120"/>
              </a:rPr>
              <a:t>The same key. The same request. And the database returns nothing — because the rule ran inside the database after the request arrived.</a:t>
            </a:r>
            <a:endParaRPr lang="en-US" sz="2100" dirty="0"/>
          </a:p>
        </p:txBody>
      </p:sp>
      <p:sp>
        <p:nvSpPr>
          <p:cNvPr id="4" name="!!rlsList"/>
          <p:cNvSpPr/>
          <p:nvPr/>
        </p:nvSpPr>
        <p:spPr>
          <a:xfrm>
            <a:off x="914400" y="3794760"/>
            <a:ext cx="10362895" cy="1783080"/>
          </a:xfrm>
          <a:prstGeom prst="roundRect">
            <a:avLst>
              <a:gd name="adj" fmla="val 6154"/>
            </a:avLst>
          </a:prstGeom>
          <a:solidFill>
            <a:srgbClr val="0F2418"/>
          </a:solidFill>
          <a:ln w="12700">
            <a:solidFill>
              <a:srgbClr val="2C6B45"/>
            </a:solidFill>
            <a:prstDash val="solid"/>
          </a:ln>
        </p:spPr>
      </p:sp>
      <p:sp>
        <p:nvSpPr>
          <p:cNvPr id="5" name="Text 3"/>
          <p:cNvSpPr/>
          <p:nvPr/>
        </p:nvSpPr>
        <p:spPr>
          <a:xfrm>
            <a:off x="1298448" y="3977640"/>
            <a:ext cx="9594799" cy="1417320"/>
          </a:xfrm>
          <a:prstGeom prst="rect">
            <a:avLst/>
          </a:prstGeom>
          <a:noFill/>
          <a:ln/>
        </p:spPr>
        <p:txBody>
          <a:bodyPr wrap="square" lIns="0" tIns="0" rIns="0" bIns="0" rtlCol="0" anchor="ctr">
            <a:normAutofit/>
          </a:bodyPr>
          <a:lstStyle/>
          <a:p>
            <a:pPr indent="0" marL="0">
              <a:lnSpc>
                <a:spcPts val="3000"/>
              </a:lnSpc>
              <a:buNone/>
            </a:pPr>
            <a:r>
              <a:rPr lang="en-US" sz="1700" dirty="0">
                <a:solidFill>
                  <a:srgbClr val="8FE0B0"/>
                </a:solidFill>
                <a:latin typeface="Calibri" pitchFamily="34" charset="0"/>
                <a:ea typeface="Calibri" pitchFamily="34" charset="-122"/>
                <a:cs typeface="Calibri" pitchFamily="34" charset="-120"/>
              </a:rPr>
              <a:t>[ ]</a:t>
            </a:r>
            <a:endParaRPr lang="en-US" sz="1700" dirty="0"/>
          </a:p>
          <a:p>
            <a:pPr indent="0" marL="0">
              <a:lnSpc>
                <a:spcPts val="3000"/>
              </a:lnSpc>
              <a:buNone/>
            </a:pPr>
            <a:endParaRPr lang="en-US" sz="1700" dirty="0"/>
          </a:p>
          <a:p>
            <a:pPr indent="0" marL="0">
              <a:lnSpc>
                <a:spcPts val="3000"/>
              </a:lnSpc>
              <a:buNone/>
            </a:pPr>
            <a:r>
              <a:rPr lang="en-US" sz="1700" dirty="0">
                <a:solidFill>
                  <a:srgbClr val="8FE0B0"/>
                </a:solidFill>
                <a:latin typeface="Calibri" pitchFamily="34" charset="0"/>
                <a:ea typeface="Calibri" pitchFamily="34" charset="-122"/>
                <a:cs typeface="Calibri" pitchFamily="34" charset="-120"/>
              </a:rPr>
              <a:t>Empty. The app cannot talk its way around it. Neither can anyone else.</a:t>
            </a:r>
            <a:endParaRPr lang="en-US" sz="17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WHAT IT IS</a:t>
            </a:r>
            <a:endParaRPr lang="en-US" sz="1150" dirty="0"/>
          </a:p>
        </p:txBody>
      </p:sp>
      <p:sp>
        <p:nvSpPr>
          <p:cNvPr id="3" name="Text 1"/>
          <p:cNvSpPr/>
          <p:nvPr/>
        </p:nvSpPr>
        <p:spPr>
          <a:xfrm>
            <a:off x="914400" y="1078992"/>
            <a:ext cx="10362895" cy="18806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A rule that lives in the cabinet,</a:t>
            </a:r>
            <a:endParaRPr lang="en-US" sz="4000" dirty="0"/>
          </a:p>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not in the app.</a:t>
            </a:r>
            <a:endParaRPr lang="en-US" sz="4000" dirty="0"/>
          </a:p>
        </p:txBody>
      </p:sp>
      <p:sp>
        <p:nvSpPr>
          <p:cNvPr id="4" name="Text 2"/>
          <p:cNvSpPr/>
          <p:nvPr/>
        </p:nvSpPr>
        <p:spPr>
          <a:xfrm>
            <a:off x="914400" y="2743200"/>
            <a:ext cx="8899855" cy="1280160"/>
          </a:xfrm>
          <a:prstGeom prst="rect">
            <a:avLst/>
          </a:prstGeom>
          <a:noFill/>
          <a:ln/>
        </p:spPr>
        <p:txBody>
          <a:bodyPr wrap="square" lIns="0" tIns="0" rIns="0" bIns="0" rtlCol="0" anchor="t">
            <a:normAutofit/>
          </a:bodyPr>
          <a:lstStyle/>
          <a:p>
            <a:pPr indent="0" marL="0">
              <a:lnSpc>
                <a:spcPts val="2982"/>
              </a:lnSpc>
              <a:buNone/>
            </a:pPr>
            <a:r>
              <a:rPr lang="en-US" sz="2100" dirty="0">
                <a:solidFill>
                  <a:srgbClr val="68737F"/>
                </a:solidFill>
                <a:latin typeface="Calibri" pitchFamily="34" charset="0"/>
                <a:ea typeface="Calibri" pitchFamily="34" charset="-122"/>
                <a:cs typeface="Calibri" pitchFamily="34" charset="-120"/>
              </a:rPr>
              <a:t>A normal database permission is a key to a filing cabinet — you are either in or out. Row-level security says: you may open this cabinet, but you only ever see the folders with your name on them.</a:t>
            </a:r>
            <a:endParaRPr lang="en-US" sz="2100" dirty="0"/>
          </a:p>
        </p:txBody>
      </p:sp>
      <p:sp>
        <p:nvSpPr>
          <p:cNvPr id="5" name="Text 3"/>
          <p:cNvSpPr/>
          <p:nvPr/>
        </p:nvSpPr>
        <p:spPr>
          <a:xfrm>
            <a:off x="914400" y="4480560"/>
            <a:ext cx="9265615" cy="914400"/>
          </a:xfrm>
          <a:prstGeom prst="rect">
            <a:avLst/>
          </a:prstGeom>
          <a:noFill/>
          <a:ln/>
        </p:spPr>
        <p:txBody>
          <a:bodyPr wrap="square" lIns="0" tIns="0" rIns="0" bIns="0" rtlCol="0" anchor="t">
            <a:normAutofit/>
          </a:bodyPr>
          <a:lstStyle/>
          <a:p>
            <a:pPr indent="0" marL="0">
              <a:lnSpc>
                <a:spcPts val="3200"/>
              </a:lnSpc>
              <a:buNone/>
            </a:pPr>
            <a:r>
              <a:rPr lang="en-US" sz="2400" b="1" dirty="0">
                <a:solidFill>
                  <a:srgbClr val="003366"/>
                </a:solidFill>
                <a:latin typeface="Poppins" pitchFamily="34" charset="0"/>
                <a:ea typeface="Poppins" pitchFamily="34" charset="-122"/>
                <a:cs typeface="Poppins" pitchFamily="34" charset="-120"/>
              </a:rPr>
              <a:t>The app cannot talk its way around it, because the check happens inside the database after the request arrives.</a:t>
            </a:r>
            <a:endParaRPr lang="en-US" sz="24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HOW IT GOES WRONG</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Four that happen constantly.</a:t>
            </a:r>
            <a:endParaRPr lang="en-US" sz="4000" dirty="0"/>
          </a:p>
        </p:txBody>
      </p:sp>
      <p:sp>
        <p:nvSpPr>
          <p:cNvPr id="4" name="Text 2"/>
          <p:cNvSpPr/>
          <p:nvPr/>
        </p:nvSpPr>
        <p:spPr>
          <a:xfrm>
            <a:off x="914400" y="2176272"/>
            <a:ext cx="713232" cy="384048"/>
          </a:xfrm>
          <a:prstGeom prst="rect">
            <a:avLst/>
          </a:prstGeom>
          <a:noFill/>
          <a:ln/>
        </p:spPr>
        <p:txBody>
          <a:bodyPr wrap="square" lIns="0" tIns="0" rIns="0" bIns="0" rtlCol="0" anchor="ctr">
            <a:normAutofit/>
          </a:bodyPr>
          <a:lstStyle/>
          <a:p>
            <a:pPr indent="0" marL="0">
              <a:buNone/>
            </a:pPr>
            <a:r>
              <a:rPr lang="en-US" sz="2000" b="1" dirty="0">
                <a:solidFill>
                  <a:srgbClr val="C0392B"/>
                </a:solidFill>
                <a:latin typeface="Poppins" pitchFamily="34" charset="0"/>
                <a:ea typeface="Poppins" pitchFamily="34" charset="-122"/>
                <a:cs typeface="Poppins" pitchFamily="34" charset="-120"/>
              </a:rPr>
              <a:t>01</a:t>
            </a:r>
            <a:endParaRPr lang="en-US" sz="2000" dirty="0"/>
          </a:p>
        </p:txBody>
      </p:sp>
      <p:sp>
        <p:nvSpPr>
          <p:cNvPr id="5" name="Text 3"/>
          <p:cNvSpPr/>
          <p:nvPr/>
        </p:nvSpPr>
        <p:spPr>
          <a:xfrm>
            <a:off x="1737360" y="214884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The table was made in SQL, not the Table Editor</a:t>
            </a:r>
            <a:endParaRPr lang="en-US" sz="1900" dirty="0"/>
          </a:p>
        </p:txBody>
      </p:sp>
      <p:sp>
        <p:nvSpPr>
          <p:cNvPr id="6" name="Text 4"/>
          <p:cNvSpPr/>
          <p:nvPr/>
        </p:nvSpPr>
        <p:spPr>
          <a:xfrm>
            <a:off x="1737360" y="2484120"/>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Dashboard tables get RLS automatically. SQL tables do not — and SQL is what an AI assistant writes.</a:t>
            </a:r>
            <a:endParaRPr lang="en-US" sz="1500" dirty="0"/>
          </a:p>
        </p:txBody>
      </p:sp>
      <p:sp>
        <p:nvSpPr>
          <p:cNvPr id="7" name="Text 5"/>
          <p:cNvSpPr/>
          <p:nvPr/>
        </p:nvSpPr>
        <p:spPr>
          <a:xfrm>
            <a:off x="914400" y="3209544"/>
            <a:ext cx="713232" cy="384048"/>
          </a:xfrm>
          <a:prstGeom prst="rect">
            <a:avLst/>
          </a:prstGeom>
          <a:noFill/>
          <a:ln/>
        </p:spPr>
        <p:txBody>
          <a:bodyPr wrap="square" lIns="0" tIns="0" rIns="0" bIns="0" rtlCol="0" anchor="ctr">
            <a:normAutofit/>
          </a:bodyPr>
          <a:lstStyle/>
          <a:p>
            <a:pPr indent="0" marL="0">
              <a:buNone/>
            </a:pPr>
            <a:r>
              <a:rPr lang="en-US" sz="2000" b="1" dirty="0">
                <a:solidFill>
                  <a:srgbClr val="C0392B"/>
                </a:solidFill>
                <a:latin typeface="Poppins" pitchFamily="34" charset="0"/>
                <a:ea typeface="Poppins" pitchFamily="34" charset="-122"/>
                <a:cs typeface="Poppins" pitchFamily="34" charset="-120"/>
              </a:rPr>
              <a:t>02</a:t>
            </a:r>
            <a:endParaRPr lang="en-US" sz="2000" dirty="0"/>
          </a:p>
        </p:txBody>
      </p:sp>
      <p:sp>
        <p:nvSpPr>
          <p:cNvPr id="8" name="Text 6"/>
          <p:cNvSpPr/>
          <p:nvPr/>
        </p:nvSpPr>
        <p:spPr>
          <a:xfrm>
            <a:off x="1737360" y="3182112"/>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A policy that says USING (true)</a:t>
            </a:r>
            <a:endParaRPr lang="en-US" sz="1900" dirty="0"/>
          </a:p>
        </p:txBody>
      </p:sp>
      <p:sp>
        <p:nvSpPr>
          <p:cNvPr id="9" name="Text 7"/>
          <p:cNvSpPr/>
          <p:nvPr/>
        </p:nvSpPr>
        <p:spPr>
          <a:xfrm>
            <a:off x="1737360" y="3517392"/>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Means "everyone, always." Passes every checkbox, protects nothing. It looks like security.</a:t>
            </a:r>
            <a:endParaRPr lang="en-US" sz="1500" dirty="0"/>
          </a:p>
        </p:txBody>
      </p:sp>
      <p:sp>
        <p:nvSpPr>
          <p:cNvPr id="10" name="Text 8"/>
          <p:cNvSpPr/>
          <p:nvPr/>
        </p:nvSpPr>
        <p:spPr>
          <a:xfrm>
            <a:off x="914400" y="4242816"/>
            <a:ext cx="713232" cy="384048"/>
          </a:xfrm>
          <a:prstGeom prst="rect">
            <a:avLst/>
          </a:prstGeom>
          <a:noFill/>
          <a:ln/>
        </p:spPr>
        <p:txBody>
          <a:bodyPr wrap="square" lIns="0" tIns="0" rIns="0" bIns="0" rtlCol="0" anchor="ctr">
            <a:normAutofit/>
          </a:bodyPr>
          <a:lstStyle/>
          <a:p>
            <a:pPr indent="0" marL="0">
              <a:buNone/>
            </a:pPr>
            <a:r>
              <a:rPr lang="en-US" sz="2000" b="1" dirty="0">
                <a:solidFill>
                  <a:srgbClr val="8F5E08"/>
                </a:solidFill>
                <a:latin typeface="Poppins" pitchFamily="34" charset="0"/>
                <a:ea typeface="Poppins" pitchFamily="34" charset="-122"/>
                <a:cs typeface="Poppins" pitchFamily="34" charset="-120"/>
              </a:rPr>
              <a:t>03</a:t>
            </a:r>
            <a:endParaRPr lang="en-US" sz="2000" dirty="0"/>
          </a:p>
        </p:txBody>
      </p:sp>
      <p:sp>
        <p:nvSpPr>
          <p:cNvPr id="11" name="Text 9"/>
          <p:cNvSpPr/>
          <p:nvPr/>
        </p:nvSpPr>
        <p:spPr>
          <a:xfrm>
            <a:off x="1737360" y="4215384"/>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The table you added last month</a:t>
            </a:r>
            <a:endParaRPr lang="en-US" sz="1900" dirty="0"/>
          </a:p>
        </p:txBody>
      </p:sp>
      <p:sp>
        <p:nvSpPr>
          <p:cNvPr id="12" name="Text 10"/>
          <p:cNvSpPr/>
          <p:nvPr/>
        </p:nvSpPr>
        <p:spPr>
          <a:xfrm>
            <a:off x="1737360" y="4550664"/>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Month one was locked down. Month three was not. Nobody re-audits.</a:t>
            </a:r>
            <a:endParaRPr lang="en-US" sz="1500" dirty="0"/>
          </a:p>
        </p:txBody>
      </p:sp>
      <p:sp>
        <p:nvSpPr>
          <p:cNvPr id="13" name="Text 11"/>
          <p:cNvSpPr/>
          <p:nvPr/>
        </p:nvSpPr>
        <p:spPr>
          <a:xfrm>
            <a:off x="914400" y="5276088"/>
            <a:ext cx="713232" cy="384048"/>
          </a:xfrm>
          <a:prstGeom prst="rect">
            <a:avLst/>
          </a:prstGeom>
          <a:noFill/>
          <a:ln/>
        </p:spPr>
        <p:txBody>
          <a:bodyPr wrap="square" lIns="0" tIns="0" rIns="0" bIns="0" rtlCol="0" anchor="ctr">
            <a:normAutofit/>
          </a:bodyPr>
          <a:lstStyle/>
          <a:p>
            <a:pPr indent="0" marL="0">
              <a:buNone/>
            </a:pPr>
            <a:r>
              <a:rPr lang="en-US" sz="2000" b="1" dirty="0">
                <a:solidFill>
                  <a:srgbClr val="C0392B"/>
                </a:solidFill>
                <a:latin typeface="Poppins" pitchFamily="34" charset="0"/>
                <a:ea typeface="Poppins" pitchFamily="34" charset="-122"/>
                <a:cs typeface="Poppins" pitchFamily="34" charset="-120"/>
              </a:rPr>
              <a:t>04</a:t>
            </a:r>
            <a:endParaRPr lang="en-US" sz="2000" dirty="0"/>
          </a:p>
        </p:txBody>
      </p:sp>
      <p:sp>
        <p:nvSpPr>
          <p:cNvPr id="14" name="Text 12"/>
          <p:cNvSpPr/>
          <p:nvPr/>
        </p:nvSpPr>
        <p:spPr>
          <a:xfrm>
            <a:off x="1737360" y="5248656"/>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The secret key ended up in the browser</a:t>
            </a:r>
            <a:endParaRPr lang="en-US" sz="1900" dirty="0"/>
          </a:p>
        </p:txBody>
      </p:sp>
      <p:sp>
        <p:nvSpPr>
          <p:cNvPr id="15" name="Text 13"/>
          <p:cNvSpPr/>
          <p:nvPr/>
        </p:nvSpPr>
        <p:spPr>
          <a:xfrm>
            <a:off x="1737360" y="5583936"/>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Someone hit a permissions error and swapped keys. It works instantly — which is why it is seductive.</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HOW IT GOES WRONG</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And three that look fine</a:t>
            </a:r>
            <a:endParaRPr lang="en-US" sz="4000" dirty="0"/>
          </a:p>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right up until they do not.</a:t>
            </a:r>
            <a:endParaRPr lang="en-US" sz="4000" dirty="0"/>
          </a:p>
        </p:txBody>
      </p:sp>
      <p:sp>
        <p:nvSpPr>
          <p:cNvPr id="4" name="Text 2"/>
          <p:cNvSpPr/>
          <p:nvPr/>
        </p:nvSpPr>
        <p:spPr>
          <a:xfrm>
            <a:off x="914400" y="2724912"/>
            <a:ext cx="713232" cy="384048"/>
          </a:xfrm>
          <a:prstGeom prst="rect">
            <a:avLst/>
          </a:prstGeom>
          <a:noFill/>
          <a:ln/>
        </p:spPr>
        <p:txBody>
          <a:bodyPr wrap="square" lIns="0" tIns="0" rIns="0" bIns="0" rtlCol="0" anchor="ctr">
            <a:normAutofit/>
          </a:bodyPr>
          <a:lstStyle/>
          <a:p>
            <a:pPr indent="0" marL="0">
              <a:buNone/>
            </a:pPr>
            <a:r>
              <a:rPr lang="en-US" sz="2000" b="1" dirty="0">
                <a:solidFill>
                  <a:srgbClr val="8F5E08"/>
                </a:solidFill>
                <a:latin typeface="Poppins" pitchFamily="34" charset="0"/>
                <a:ea typeface="Poppins" pitchFamily="34" charset="-122"/>
                <a:cs typeface="Poppins" pitchFamily="34" charset="-120"/>
              </a:rPr>
              <a:t>05</a:t>
            </a:r>
            <a:endParaRPr lang="en-US" sz="2000" dirty="0"/>
          </a:p>
        </p:txBody>
      </p:sp>
      <p:sp>
        <p:nvSpPr>
          <p:cNvPr id="5" name="Text 3"/>
          <p:cNvSpPr/>
          <p:nvPr/>
        </p:nvSpPr>
        <p:spPr>
          <a:xfrm>
            <a:off x="1737360" y="269748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A security-definer view</a:t>
            </a:r>
            <a:endParaRPr lang="en-US" sz="1900" dirty="0"/>
          </a:p>
        </p:txBody>
      </p:sp>
      <p:sp>
        <p:nvSpPr>
          <p:cNvPr id="6" name="Text 4"/>
          <p:cNvSpPr/>
          <p:nvPr/>
        </p:nvSpPr>
        <p:spPr>
          <a:xfrm>
            <a:off x="1737360" y="3032760"/>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Runs as its creator, not the caller. RLS is on, the policy is right, data leaks anyway.</a:t>
            </a:r>
            <a:endParaRPr lang="en-US" sz="1500" dirty="0"/>
          </a:p>
        </p:txBody>
      </p:sp>
      <p:sp>
        <p:nvSpPr>
          <p:cNvPr id="7" name="Text 5"/>
          <p:cNvSpPr/>
          <p:nvPr/>
        </p:nvSpPr>
        <p:spPr>
          <a:xfrm>
            <a:off x="914400" y="3890772"/>
            <a:ext cx="713232" cy="384048"/>
          </a:xfrm>
          <a:prstGeom prst="rect">
            <a:avLst/>
          </a:prstGeom>
          <a:noFill/>
          <a:ln/>
        </p:spPr>
        <p:txBody>
          <a:bodyPr wrap="square" lIns="0" tIns="0" rIns="0" bIns="0" rtlCol="0" anchor="ctr">
            <a:normAutofit/>
          </a:bodyPr>
          <a:lstStyle/>
          <a:p>
            <a:pPr indent="0" marL="0">
              <a:buNone/>
            </a:pPr>
            <a:r>
              <a:rPr lang="en-US" sz="2000" b="1" dirty="0">
                <a:solidFill>
                  <a:srgbClr val="8F5E08"/>
                </a:solidFill>
                <a:latin typeface="Poppins" pitchFamily="34" charset="0"/>
                <a:ea typeface="Poppins" pitchFamily="34" charset="-122"/>
                <a:cs typeface="Poppins" pitchFamily="34" charset="-120"/>
              </a:rPr>
              <a:t>06</a:t>
            </a:r>
            <a:endParaRPr lang="en-US" sz="2000" dirty="0"/>
          </a:p>
        </p:txBody>
      </p:sp>
      <p:sp>
        <p:nvSpPr>
          <p:cNvPr id="8" name="Text 6"/>
          <p:cNvSpPr/>
          <p:nvPr/>
        </p:nvSpPr>
        <p:spPr>
          <a:xfrm>
            <a:off x="1737360" y="386334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RLS on with no policy — then panic</a:t>
            </a:r>
            <a:endParaRPr lang="en-US" sz="1900" dirty="0"/>
          </a:p>
        </p:txBody>
      </p:sp>
      <p:sp>
        <p:nvSpPr>
          <p:cNvPr id="9" name="Text 7"/>
          <p:cNvSpPr/>
          <p:nvPr/>
        </p:nvSpPr>
        <p:spPr>
          <a:xfrm>
            <a:off x="1737360" y="4198620"/>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Blocks everything, which is correct. Looks broken. The fix people reach for is turning RLS off.</a:t>
            </a:r>
            <a:endParaRPr lang="en-US" sz="1500" dirty="0"/>
          </a:p>
        </p:txBody>
      </p:sp>
      <p:sp>
        <p:nvSpPr>
          <p:cNvPr id="10" name="Text 8"/>
          <p:cNvSpPr/>
          <p:nvPr/>
        </p:nvSpPr>
        <p:spPr>
          <a:xfrm>
            <a:off x="914400" y="5056632"/>
            <a:ext cx="713232" cy="384048"/>
          </a:xfrm>
          <a:prstGeom prst="rect">
            <a:avLst/>
          </a:prstGeom>
          <a:noFill/>
          <a:ln/>
        </p:spPr>
        <p:txBody>
          <a:bodyPr wrap="square" lIns="0" tIns="0" rIns="0" bIns="0" rtlCol="0" anchor="ctr">
            <a:normAutofit/>
          </a:bodyPr>
          <a:lstStyle/>
          <a:p>
            <a:pPr indent="0" marL="0">
              <a:buNone/>
            </a:pPr>
            <a:r>
              <a:rPr lang="en-US" sz="2000" b="1" dirty="0">
                <a:solidFill>
                  <a:srgbClr val="C0392B"/>
                </a:solidFill>
                <a:latin typeface="Poppins" pitchFamily="34" charset="0"/>
                <a:ea typeface="Poppins" pitchFamily="34" charset="-122"/>
                <a:cs typeface="Poppins" pitchFamily="34" charset="-120"/>
              </a:rPr>
              <a:t>07</a:t>
            </a:r>
            <a:endParaRPr lang="en-US" sz="2000" dirty="0"/>
          </a:p>
        </p:txBody>
      </p:sp>
      <p:sp>
        <p:nvSpPr>
          <p:cNvPr id="11" name="Text 9"/>
          <p:cNvSpPr/>
          <p:nvPr/>
        </p:nvSpPr>
        <p:spPr>
          <a:xfrm>
            <a:off x="1737360" y="502920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USING without WITH CHECK</a:t>
            </a:r>
            <a:endParaRPr lang="en-US" sz="1900" dirty="0"/>
          </a:p>
        </p:txBody>
      </p:sp>
      <p:sp>
        <p:nvSpPr>
          <p:cNvPr id="12" name="Text 10"/>
          <p:cNvSpPr/>
          <p:nvPr/>
        </p:nvSpPr>
        <p:spPr>
          <a:xfrm>
            <a:off x="1737360" y="5364480"/>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It matters when the rows you may read are broader than those you may write. Omit it and Postgres reuses USING.</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FF6600"/>
                </a:solidFill>
                <a:latin typeface="Calibri" pitchFamily="34" charset="0"/>
                <a:ea typeface="Calibri" pitchFamily="34" charset="-122"/>
                <a:cs typeface="Calibri" pitchFamily="34" charset="-120"/>
              </a:rPr>
              <a:t>THIS HAS ALREADY HAPPENED</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Repeatedly, and recently.</a:t>
            </a:r>
            <a:endParaRPr lang="en-US" sz="4000" dirty="0"/>
          </a:p>
        </p:txBody>
      </p:sp>
      <p:sp>
        <p:nvSpPr>
          <p:cNvPr id="4" name="Text 2"/>
          <p:cNvSpPr/>
          <p:nvPr/>
        </p:nvSpPr>
        <p:spPr>
          <a:xfrm>
            <a:off x="914400" y="278892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FF8A78"/>
                </a:solidFill>
                <a:latin typeface="Calibri" pitchFamily="34" charset="0"/>
                <a:ea typeface="Calibri" pitchFamily="34" charset="-122"/>
                <a:cs typeface="Calibri" pitchFamily="34" charset="-120"/>
              </a:rPr>
              <a:t>10.3%</a:t>
            </a:r>
            <a:endParaRPr lang="en-US" sz="1050" dirty="0"/>
          </a:p>
        </p:txBody>
      </p:sp>
      <p:sp>
        <p:nvSpPr>
          <p:cNvPr id="5" name="Text 3"/>
          <p:cNvSpPr/>
          <p:nvPr/>
        </p:nvSpPr>
        <p:spPr>
          <a:xfrm>
            <a:off x="914400" y="3191256"/>
            <a:ext cx="2213534" cy="681228"/>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FFFFFF"/>
                </a:solidFill>
                <a:latin typeface="Poppins" pitchFamily="34" charset="0"/>
                <a:ea typeface="Poppins" pitchFamily="34" charset="-122"/>
                <a:cs typeface="Poppins" pitchFamily="34" charset="-120"/>
              </a:rPr>
              <a:t>of projects scanned</a:t>
            </a:r>
            <a:endParaRPr lang="en-US" sz="1900" dirty="0"/>
          </a:p>
        </p:txBody>
      </p:sp>
      <p:sp>
        <p:nvSpPr>
          <p:cNvPr id="6" name="Text 4"/>
          <p:cNvSpPr/>
          <p:nvPr/>
        </p:nvSpPr>
        <p:spPr>
          <a:xfrm>
            <a:off x="914400" y="4027932"/>
            <a:ext cx="2213534" cy="1778508"/>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170 of 1,645 Lovable projects were exposing data in one researcher's 2025 scan.</a:t>
            </a:r>
            <a:endParaRPr lang="en-US" sz="1500" dirty="0"/>
          </a:p>
        </p:txBody>
      </p:sp>
      <p:sp>
        <p:nvSpPr>
          <p:cNvPr id="7" name="Text 5"/>
          <p:cNvSpPr/>
          <p:nvPr/>
        </p:nvSpPr>
        <p:spPr>
          <a:xfrm>
            <a:off x="3630854" y="278892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FF8A78"/>
                </a:solidFill>
                <a:latin typeface="Calibri" pitchFamily="34" charset="0"/>
                <a:ea typeface="Calibri" pitchFamily="34" charset="-122"/>
                <a:cs typeface="Calibri" pitchFamily="34" charset="-120"/>
              </a:rPr>
              <a:t>CVSS 9.3</a:t>
            </a:r>
            <a:endParaRPr lang="en-US" sz="1050" dirty="0"/>
          </a:p>
        </p:txBody>
      </p:sp>
      <p:sp>
        <p:nvSpPr>
          <p:cNvPr id="8" name="Text 6"/>
          <p:cNvSpPr/>
          <p:nvPr/>
        </p:nvSpPr>
        <p:spPr>
          <a:xfrm>
            <a:off x="3630854" y="3191256"/>
            <a:ext cx="2213534" cy="681228"/>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FFFFFF"/>
                </a:solidFill>
                <a:latin typeface="Poppins" pitchFamily="34" charset="0"/>
                <a:ea typeface="Poppins" pitchFamily="34" charset="-122"/>
                <a:cs typeface="Poppins" pitchFamily="34" charset="-120"/>
              </a:rPr>
              <a:t>CVE-2025-48757</a:t>
            </a:r>
            <a:endParaRPr lang="en-US" sz="1900" dirty="0"/>
          </a:p>
        </p:txBody>
      </p:sp>
      <p:sp>
        <p:nvSpPr>
          <p:cNvPr id="9" name="Text 7"/>
          <p:cNvSpPr/>
          <p:nvPr/>
        </p:nvSpPr>
        <p:spPr>
          <a:xfrm>
            <a:off x="3630854" y="4027932"/>
            <a:ext cx="2213534" cy="1778508"/>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Unauthenticated read or write to arbitrary tables of generated sites, per the GitHub advisory.</a:t>
            </a:r>
            <a:endParaRPr lang="en-US" sz="1500" dirty="0"/>
          </a:p>
        </p:txBody>
      </p:sp>
      <p:sp>
        <p:nvSpPr>
          <p:cNvPr id="10" name="Text 8"/>
          <p:cNvSpPr/>
          <p:nvPr/>
        </p:nvSpPr>
        <p:spPr>
          <a:xfrm>
            <a:off x="6347308" y="278892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FF8A78"/>
                </a:solidFill>
                <a:latin typeface="Calibri" pitchFamily="34" charset="0"/>
                <a:ea typeface="Calibri" pitchFamily="34" charset="-122"/>
                <a:cs typeface="Calibri" pitchFamily="34" charset="-120"/>
              </a:rPr>
              <a:t>175</a:t>
            </a:r>
            <a:endParaRPr lang="en-US" sz="1050" dirty="0"/>
          </a:p>
        </p:txBody>
      </p:sp>
      <p:sp>
        <p:nvSpPr>
          <p:cNvPr id="11" name="Text 9"/>
          <p:cNvSpPr/>
          <p:nvPr/>
        </p:nvSpPr>
        <p:spPr>
          <a:xfrm>
            <a:off x="6347308" y="3191256"/>
            <a:ext cx="2213534" cy="681228"/>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FFFFFF"/>
                </a:solidFill>
                <a:latin typeface="Poppins" pitchFamily="34" charset="0"/>
                <a:ea typeface="Poppins" pitchFamily="34" charset="-122"/>
                <a:cs typeface="Poppins" pitchFamily="34" charset="-120"/>
              </a:rPr>
              <a:t>instances of real data</a:t>
            </a:r>
            <a:endParaRPr lang="en-US" sz="1900" dirty="0"/>
          </a:p>
        </p:txBody>
      </p:sp>
      <p:sp>
        <p:nvSpPr>
          <p:cNvPr id="12" name="Text 10"/>
          <p:cNvSpPr/>
          <p:nvPr/>
        </p:nvSpPr>
        <p:spPr>
          <a:xfrm>
            <a:off x="6347308" y="4027932"/>
            <a:ext cx="2213534" cy="1778508"/>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Medical records, bank details, phone numbers — found across vibe-coded apps.</a:t>
            </a:r>
            <a:endParaRPr lang="en-US" sz="1500" dirty="0"/>
          </a:p>
        </p:txBody>
      </p:sp>
      <p:sp>
        <p:nvSpPr>
          <p:cNvPr id="13" name="Text 11"/>
          <p:cNvSpPr/>
          <p:nvPr/>
        </p:nvSpPr>
        <p:spPr>
          <a:xfrm>
            <a:off x="9063761" y="278892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FF8A78"/>
                </a:solidFill>
                <a:latin typeface="Calibri" pitchFamily="34" charset="0"/>
                <a:ea typeface="Calibri" pitchFamily="34" charset="-122"/>
                <a:cs typeface="Calibri" pitchFamily="34" charset="-120"/>
              </a:rPr>
              <a:t>A01</a:t>
            </a:r>
            <a:endParaRPr lang="en-US" sz="1050" dirty="0"/>
          </a:p>
        </p:txBody>
      </p:sp>
      <p:sp>
        <p:nvSpPr>
          <p:cNvPr id="14" name="Text 12"/>
          <p:cNvSpPr/>
          <p:nvPr/>
        </p:nvSpPr>
        <p:spPr>
          <a:xfrm>
            <a:off x="9063761" y="3191256"/>
            <a:ext cx="2213534" cy="681228"/>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FFFFFF"/>
                </a:solidFill>
                <a:latin typeface="Poppins" pitchFamily="34" charset="0"/>
                <a:ea typeface="Poppins" pitchFamily="34" charset="-122"/>
                <a:cs typeface="Poppins" pitchFamily="34" charset="-120"/>
              </a:rPr>
              <a:t>on the OWASP Top 10</a:t>
            </a:r>
            <a:endParaRPr lang="en-US" sz="1900" dirty="0"/>
          </a:p>
        </p:txBody>
      </p:sp>
      <p:sp>
        <p:nvSpPr>
          <p:cNvPr id="15" name="Text 13"/>
          <p:cNvSpPr/>
          <p:nvPr/>
        </p:nvSpPr>
        <p:spPr>
          <a:xfrm>
            <a:off x="9063761" y="4027932"/>
            <a:ext cx="2213534" cy="1778508"/>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Broken access control is the number one risk in the industry's canonical list.</a:t>
            </a:r>
            <a:endParaRPr lang="en-US" sz="1500" dirty="0"/>
          </a:p>
        </p:txBody>
      </p:sp>
      <p:sp>
        <p:nvSpPr>
          <p:cNvPr id="16" name="Text 14"/>
          <p:cNvSpPr/>
          <p:nvPr/>
        </p:nvSpPr>
        <p:spPr>
          <a:xfrm>
            <a:off x="914400" y="5943600"/>
            <a:ext cx="8991295" cy="292608"/>
          </a:xfrm>
          <a:prstGeom prst="rect">
            <a:avLst/>
          </a:prstGeom>
          <a:noFill/>
          <a:ln/>
        </p:spPr>
        <p:txBody>
          <a:bodyPr wrap="square" lIns="0" tIns="0" rIns="0" bIns="0" rtlCol="0" anchor="ctr">
            <a:normAutofit/>
          </a:bodyPr>
          <a:lstStyle/>
          <a:p>
            <a:pPr indent="0" marL="0">
              <a:buNone/>
            </a:pPr>
            <a:r>
              <a:rPr lang="en-US" sz="1050" dirty="0">
                <a:solidFill>
                  <a:srgbClr val="5C6E82"/>
                </a:solidFill>
                <a:latin typeface="Calibri" pitchFamily="34" charset="0"/>
                <a:ea typeface="Calibri" pitchFamily="34" charset="-122"/>
                <a:cs typeface="Calibri" pitchFamily="34" charset="-120"/>
              </a:rPr>
              <a:t>GHSA-773x-pxjg-gxgx · Matt Palmer disclosure statement · OWASP Top 10:2025</a:t>
            </a:r>
            <a:endParaRPr lang="en-US" sz="105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14400" y="1737360"/>
            <a:ext cx="9814255" cy="1914144"/>
          </a:xfrm>
          <a:prstGeom prst="rect">
            <a:avLst/>
          </a:prstGeom>
          <a:noFill/>
          <a:ln/>
        </p:spPr>
        <p:txBody>
          <a:bodyPr wrap="square" lIns="0" tIns="0" rIns="0" bIns="0" rtlCol="0" anchor="t">
            <a:normAutofit/>
          </a:bodyPr>
          <a:lstStyle/>
          <a:p>
            <a:pPr indent="0" marL="0">
              <a:lnSpc>
                <a:spcPts val="4640"/>
              </a:lnSpc>
              <a:buNone/>
            </a:pPr>
            <a:r>
              <a:rPr lang="en-US" sz="4000" b="1" dirty="0">
                <a:solidFill>
                  <a:srgbClr val="FFFFFF"/>
                </a:solidFill>
                <a:latin typeface="Poppins" pitchFamily="34" charset="0"/>
                <a:ea typeface="Poppins" pitchFamily="34" charset="-122"/>
                <a:cs typeface="Poppins" pitchFamily="34" charset="-120"/>
              </a:rPr>
              <a:t>A tool telling you</a:t>
            </a:r>
            <a:endParaRPr lang="en-US" sz="4000" dirty="0"/>
          </a:p>
          <a:p>
            <a:pPr indent="0" marL="0">
              <a:lnSpc>
                <a:spcPts val="4640"/>
              </a:lnSpc>
              <a:buNone/>
            </a:pPr>
            <a:r>
              <a:rPr lang="en-US" sz="4000" b="1" dirty="0">
                <a:solidFill>
                  <a:srgbClr val="FFFFFF"/>
                </a:solidFill>
                <a:latin typeface="Poppins" pitchFamily="34" charset="0"/>
                <a:ea typeface="Poppins" pitchFamily="34" charset="-122"/>
                <a:cs typeface="Poppins" pitchFamily="34" charset="-120"/>
              </a:rPr>
              <a:t>that you are secure is not</a:t>
            </a:r>
            <a:endParaRPr lang="en-US" sz="4000" dirty="0"/>
          </a:p>
          <a:p>
            <a:pPr indent="0" marL="0">
              <a:lnSpc>
                <a:spcPts val="4640"/>
              </a:lnSpc>
              <a:buNone/>
            </a:pPr>
            <a:r>
              <a:rPr lang="en-US" sz="4000" b="1" dirty="0">
                <a:solidFill>
                  <a:srgbClr val="FFFFFF"/>
                </a:solidFill>
                <a:latin typeface="Poppins" pitchFamily="34" charset="0"/>
                <a:ea typeface="Poppins" pitchFamily="34" charset="-122"/>
                <a:cs typeface="Poppins" pitchFamily="34" charset="-120"/>
              </a:rPr>
              <a:t>the same as being secure.</a:t>
            </a:r>
            <a:endParaRPr lang="en-US" sz="4000" dirty="0"/>
          </a:p>
        </p:txBody>
      </p:sp>
      <p:sp>
        <p:nvSpPr>
          <p:cNvPr id="3" name="Text 1"/>
          <p:cNvSpPr/>
          <p:nvPr/>
        </p:nvSpPr>
        <p:spPr>
          <a:xfrm>
            <a:off x="914400" y="3962400"/>
            <a:ext cx="8716975" cy="2026920"/>
          </a:xfrm>
          <a:prstGeom prst="rect">
            <a:avLst/>
          </a:prstGeom>
          <a:noFill/>
          <a:ln/>
        </p:spPr>
        <p:txBody>
          <a:bodyPr wrap="square" lIns="0" tIns="0" rIns="0" bIns="0" rtlCol="0" anchor="t">
            <a:normAutofit/>
          </a:bodyPr>
          <a:lstStyle/>
          <a:p>
            <a:pPr indent="0" marL="0">
              <a:lnSpc>
                <a:spcPts val="3000"/>
              </a:lnSpc>
              <a:buNone/>
            </a:pPr>
            <a:r>
              <a:rPr lang="en-US" sz="2000" dirty="0">
                <a:solidFill>
                  <a:srgbClr val="A7B7C9"/>
                </a:solidFill>
                <a:latin typeface="Calibri" pitchFamily="34" charset="0"/>
                <a:ea typeface="Calibri" pitchFamily="34" charset="-122"/>
                <a:cs typeface="Calibri" pitchFamily="34" charset="-120"/>
              </a:rPr>
              <a:t>When the platform responded, it shipped a scanner that checked whether a policy existed — not whether it was correct. So USING (true) passed the audit with a green checkmark.</a:t>
            </a:r>
            <a:endParaRPr lang="en-US" sz="20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914400" y="1078992"/>
            <a:ext cx="2743200" cy="310896"/>
          </a:xfrm>
          <a:prstGeom prst="rect">
            <a:avLst/>
          </a:prstGeom>
          <a:noFill/>
          <a:ln/>
        </p:spPr>
        <p:txBody>
          <a:bodyPr wrap="square" lIns="0" tIns="0" rIns="0" bIns="0" rtlCol="0" anchor="ctr">
            <a:normAutofit/>
          </a:bodyPr>
          <a:lstStyle/>
          <a:p>
            <a:pPr indent="0" marL="0">
              <a:buNone/>
            </a:pPr>
            <a:r>
              <a:rPr lang="en-US" sz="1200" b="1" spc="240" kern="0" dirty="0">
                <a:solidFill>
                  <a:srgbClr val="FF6600"/>
                </a:solidFill>
                <a:latin typeface="Calibri" pitchFamily="34" charset="0"/>
                <a:ea typeface="Calibri" pitchFamily="34" charset="-122"/>
                <a:cs typeface="Calibri" pitchFamily="34" charset="-120"/>
              </a:rPr>
              <a:t>TASK 4</a:t>
            </a:r>
            <a:endParaRPr lang="en-US" sz="1200" dirty="0"/>
          </a:p>
        </p:txBody>
      </p:sp>
      <p:sp>
        <p:nvSpPr>
          <p:cNvPr id="3" name="Text 1"/>
          <p:cNvSpPr/>
          <p:nvPr/>
        </p:nvSpPr>
        <p:spPr>
          <a:xfrm>
            <a:off x="914400" y="1517904"/>
            <a:ext cx="9448495" cy="1194816"/>
          </a:xfrm>
          <a:prstGeom prst="rect">
            <a:avLst/>
          </a:prstGeom>
          <a:noFill/>
          <a:ln/>
        </p:spPr>
        <p:txBody>
          <a:bodyPr wrap="square" lIns="0" tIns="0" rIns="0" bIns="0" rtlCol="0" anchor="t">
            <a:normAutofit/>
          </a:bodyPr>
          <a:lstStyle/>
          <a:p>
            <a:pPr indent="0" marL="0">
              <a:lnSpc>
                <a:spcPts val="4200"/>
              </a:lnSpc>
              <a:buNone/>
            </a:pPr>
            <a:r>
              <a:rPr lang="en-US" sz="3600" b="1" dirty="0">
                <a:solidFill>
                  <a:srgbClr val="FFFFFF"/>
                </a:solidFill>
                <a:latin typeface="Poppins" pitchFamily="34" charset="0"/>
                <a:ea typeface="Poppins" pitchFamily="34" charset="-122"/>
                <a:cs typeface="Poppins" pitchFamily="34" charset="-120"/>
              </a:rPr>
              <a:t>Break your</a:t>
            </a:r>
            <a:endParaRPr lang="en-US" sz="3600" dirty="0"/>
          </a:p>
          <a:p>
            <a:pPr indent="0" marL="0">
              <a:lnSpc>
                <a:spcPts val="4200"/>
              </a:lnSpc>
              <a:buNone/>
            </a:pPr>
            <a:r>
              <a:rPr lang="en-US" sz="3600" b="1" dirty="0">
                <a:solidFill>
                  <a:srgbClr val="FFFFFF"/>
                </a:solidFill>
                <a:latin typeface="Poppins" pitchFamily="34" charset="0"/>
                <a:ea typeface="Poppins" pitchFamily="34" charset="-122"/>
                <a:cs typeface="Poppins" pitchFamily="34" charset="-120"/>
              </a:rPr>
              <a:t>neighbour's app.</a:t>
            </a:r>
            <a:endParaRPr lang="en-US" sz="3600" dirty="0"/>
          </a:p>
        </p:txBody>
      </p:sp>
      <p:sp>
        <p:nvSpPr>
          <p:cNvPr id="4" name="Text 2"/>
          <p:cNvSpPr/>
          <p:nvPr/>
        </p:nvSpPr>
        <p:spPr>
          <a:xfrm>
            <a:off x="914400" y="2715768"/>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1</a:t>
            </a:r>
            <a:endParaRPr lang="en-US" sz="1700" dirty="0"/>
          </a:p>
        </p:txBody>
      </p:sp>
      <p:sp>
        <p:nvSpPr>
          <p:cNvPr id="5" name="Text 3"/>
          <p:cNvSpPr/>
          <p:nvPr/>
        </p:nvSpPr>
        <p:spPr>
          <a:xfrm>
            <a:off x="1463040" y="2697480"/>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Add a database with two or three invented records. Fake. Invent them.</a:t>
            </a:r>
            <a:endParaRPr lang="en-US" sz="1600" dirty="0"/>
          </a:p>
        </p:txBody>
      </p:sp>
      <p:sp>
        <p:nvSpPr>
          <p:cNvPr id="6" name="Text 4"/>
          <p:cNvSpPr/>
          <p:nvPr/>
        </p:nvSpPr>
        <p:spPr>
          <a:xfrm>
            <a:off x="914400" y="3364230"/>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2</a:t>
            </a:r>
            <a:endParaRPr lang="en-US" sz="1700" dirty="0"/>
          </a:p>
        </p:txBody>
      </p:sp>
      <p:sp>
        <p:nvSpPr>
          <p:cNvPr id="7" name="Text 5"/>
          <p:cNvSpPr/>
          <p:nvPr/>
        </p:nvSpPr>
        <p:spPr>
          <a:xfrm>
            <a:off x="1463040" y="3345942"/>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Turn RLS on and write one policy so a user sees only their own rows.</a:t>
            </a:r>
            <a:endParaRPr lang="en-US" sz="1600" dirty="0"/>
          </a:p>
        </p:txBody>
      </p:sp>
      <p:sp>
        <p:nvSpPr>
          <p:cNvPr id="8" name="Text 6"/>
          <p:cNvSpPr/>
          <p:nvPr/>
        </p:nvSpPr>
        <p:spPr>
          <a:xfrm>
            <a:off x="914400" y="4012692"/>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3</a:t>
            </a:r>
            <a:endParaRPr lang="en-US" sz="1700" dirty="0"/>
          </a:p>
        </p:txBody>
      </p:sp>
      <p:sp>
        <p:nvSpPr>
          <p:cNvPr id="9" name="Text 7"/>
          <p:cNvSpPr/>
          <p:nvPr/>
        </p:nvSpPr>
        <p:spPr>
          <a:xfrm>
            <a:off x="1463040" y="3994404"/>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Open Database → Security Advisor. Fix everything. Re-run until clean.</a:t>
            </a:r>
            <a:endParaRPr lang="en-US" sz="1600" dirty="0"/>
          </a:p>
        </p:txBody>
      </p:sp>
      <p:sp>
        <p:nvSpPr>
          <p:cNvPr id="10" name="Text 8"/>
          <p:cNvSpPr/>
          <p:nvPr/>
        </p:nvSpPr>
        <p:spPr>
          <a:xfrm>
            <a:off x="914400" y="4661154"/>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4</a:t>
            </a:r>
            <a:endParaRPr lang="en-US" sz="1700" dirty="0"/>
          </a:p>
        </p:txBody>
      </p:sp>
      <p:sp>
        <p:nvSpPr>
          <p:cNvPr id="11" name="Text 9"/>
          <p:cNvSpPr/>
          <p:nvPr/>
        </p:nvSpPr>
        <p:spPr>
          <a:xfrm>
            <a:off x="1463040" y="4642866"/>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Swap laptops. Your job is to see data you should not. Find the key.</a:t>
            </a:r>
            <a:endParaRPr lang="en-US" sz="1600" dirty="0"/>
          </a:p>
        </p:txBody>
      </p:sp>
      <p:sp>
        <p:nvSpPr>
          <p:cNvPr id="12" name="Text 10"/>
          <p:cNvSpPr/>
          <p:nvPr/>
        </p:nvSpPr>
        <p:spPr>
          <a:xfrm>
            <a:off x="914400" y="5309616"/>
            <a:ext cx="457200" cy="329184"/>
          </a:xfrm>
          <a:prstGeom prst="rect">
            <a:avLst/>
          </a:prstGeom>
          <a:noFill/>
          <a:ln/>
        </p:spPr>
        <p:txBody>
          <a:bodyPr wrap="square" lIns="0" tIns="0" rIns="0" bIns="0" rtlCol="0" anchor="ctr">
            <a:normAutofit/>
          </a:bodyPr>
          <a:lstStyle/>
          <a:p>
            <a:pPr indent="0" marL="0">
              <a:buNone/>
            </a:pPr>
            <a:r>
              <a:rPr lang="en-US" sz="1700" b="1" dirty="0">
                <a:solidFill>
                  <a:srgbClr val="F9DD56"/>
                </a:solidFill>
                <a:latin typeface="Poppins" pitchFamily="34" charset="0"/>
                <a:ea typeface="Poppins" pitchFamily="34" charset="-122"/>
                <a:cs typeface="Poppins" pitchFamily="34" charset="-120"/>
              </a:rPr>
              <a:t>5</a:t>
            </a:r>
            <a:endParaRPr lang="en-US" sz="1700" dirty="0"/>
          </a:p>
        </p:txBody>
      </p:sp>
      <p:sp>
        <p:nvSpPr>
          <p:cNvPr id="13" name="Text 11"/>
          <p:cNvSpPr/>
          <p:nvPr/>
        </p:nvSpPr>
        <p:spPr>
          <a:xfrm>
            <a:off x="1463040" y="5291328"/>
            <a:ext cx="9082735" cy="37795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Whatever you find, tell them. That is the exercise.</a:t>
            </a:r>
            <a:endParaRPr lang="en-US" sz="1600" dirty="0"/>
          </a:p>
        </p:txBody>
      </p:sp>
      <p:sp>
        <p:nvSpPr>
          <p:cNvPr id="14" name="Text 12"/>
          <p:cNvSpPr/>
          <p:nvPr/>
        </p:nvSpPr>
        <p:spPr>
          <a:xfrm>
            <a:off x="914400" y="5760720"/>
            <a:ext cx="10362895" cy="365760"/>
          </a:xfrm>
          <a:prstGeom prst="rect">
            <a:avLst/>
          </a:prstGeom>
          <a:noFill/>
          <a:ln/>
        </p:spPr>
        <p:txBody>
          <a:bodyPr wrap="square" lIns="0" tIns="0" rIns="0" bIns="0" rtlCol="0" anchor="ctr">
            <a:normAutofit/>
          </a:bodyPr>
          <a:lstStyle/>
          <a:p>
            <a:pPr indent="0" marL="0">
              <a:buNone/>
            </a:pPr>
            <a:r>
              <a:rPr lang="en-US" sz="1400" b="1" spc="100" kern="0" dirty="0">
                <a:solidFill>
                  <a:srgbClr val="FF6600"/>
                </a:solidFill>
                <a:latin typeface="Calibri" pitchFamily="34" charset="0"/>
                <a:ea typeface="Calibri" pitchFamily="34" charset="-122"/>
                <a:cs typeface="Calibri" pitchFamily="34" charset="-120"/>
              </a:rPr>
              <a:t>25 MINUTES · NOBODY'S SURVIVES THE FIRST TIME</a:t>
            </a:r>
            <a:endParaRPr lang="en-US" sz="14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914400" y="1371600"/>
            <a:ext cx="10362895" cy="914400"/>
          </a:xfrm>
          <a:prstGeom prst="rect">
            <a:avLst/>
          </a:prstGeom>
          <a:noFill/>
          <a:ln/>
        </p:spPr>
        <p:txBody>
          <a:bodyPr wrap="square" lIns="0" tIns="0" rIns="0" bIns="0" rtlCol="0" anchor="ctr">
            <a:normAutofit/>
          </a:bodyPr>
          <a:lstStyle/>
          <a:p>
            <a:pPr indent="0" marL="0">
              <a:buNone/>
            </a:pPr>
            <a:r>
              <a:rPr lang="en-US" sz="2000" b="1" spc="300" kern="0" dirty="0">
                <a:solidFill>
                  <a:srgbClr val="FF6600"/>
                </a:solidFill>
                <a:latin typeface="Poppins" pitchFamily="34" charset="0"/>
                <a:ea typeface="Poppins" pitchFamily="34" charset="-122"/>
                <a:cs typeface="Poppins" pitchFamily="34" charset="-120"/>
              </a:rPr>
              <a:t>PART SIX</a:t>
            </a:r>
            <a:endParaRPr lang="en-US" sz="2000" dirty="0"/>
          </a:p>
        </p:txBody>
      </p:sp>
      <p:sp>
        <p:nvSpPr>
          <p:cNvPr id="3" name="Text 1"/>
          <p:cNvSpPr/>
          <p:nvPr/>
        </p:nvSpPr>
        <p:spPr>
          <a:xfrm>
            <a:off x="914400" y="2286000"/>
            <a:ext cx="9265615" cy="1619504"/>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If you want</a:t>
            </a:r>
            <a:endParaRPr lang="en-US" sz="5000" dirty="0"/>
          </a:p>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to sell it</a:t>
            </a:r>
            <a:endParaRPr lang="en-US" sz="5000" dirty="0"/>
          </a:p>
        </p:txBody>
      </p:sp>
      <p:sp>
        <p:nvSpPr>
          <p:cNvPr id="4" name="Text 2"/>
          <p:cNvSpPr/>
          <p:nvPr/>
        </p:nvSpPr>
        <p:spPr>
          <a:xfrm>
            <a:off x="914400" y="4023360"/>
            <a:ext cx="7985455" cy="914400"/>
          </a:xfrm>
          <a:prstGeom prst="rect">
            <a:avLst/>
          </a:prstGeom>
          <a:noFill/>
          <a:ln/>
        </p:spPr>
        <p:txBody>
          <a:bodyPr wrap="square" lIns="0" tIns="0" rIns="0" bIns="0" rtlCol="0" anchor="t">
            <a:normAutofit/>
          </a:bodyPr>
          <a:lstStyle/>
          <a:p>
            <a:pPr indent="0" marL="0">
              <a:lnSpc>
                <a:spcPts val="2700"/>
              </a:lnSpc>
              <a:buNone/>
            </a:pPr>
            <a:r>
              <a:rPr lang="en-US" sz="1900" dirty="0">
                <a:solidFill>
                  <a:srgbClr val="B7CDE0"/>
                </a:solidFill>
                <a:latin typeface="Calibri" pitchFamily="34" charset="0"/>
                <a:ea typeface="Calibri" pitchFamily="34" charset="-122"/>
                <a:cs typeface="Calibri" pitchFamily="34" charset="-120"/>
              </a:rPr>
              <a:t>Start with the question almost nobody asks.</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MCC POLICY E-XVII, EFFECTIVE FEBRUARY 2011</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Who owns what you build?</a:t>
            </a:r>
            <a:endParaRPr lang="en-US" sz="4000" dirty="0"/>
          </a:p>
        </p:txBody>
      </p:sp>
      <p:sp>
        <p:nvSpPr>
          <p:cNvPr id="4" name="Text 2"/>
          <p:cNvSpPr/>
          <p:nvPr/>
        </p:nvSpPr>
        <p:spPr>
          <a:xfrm>
            <a:off x="914400" y="2697480"/>
            <a:ext cx="4929988" cy="256032"/>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YOURS</a:t>
            </a:r>
            <a:endParaRPr lang="en-US" sz="1050" dirty="0"/>
          </a:p>
        </p:txBody>
      </p:sp>
      <p:sp>
        <p:nvSpPr>
          <p:cNvPr id="5" name="Text 3"/>
          <p:cNvSpPr/>
          <p:nvPr/>
        </p:nvSpPr>
        <p:spPr>
          <a:xfrm>
            <a:off x="914400" y="3099816"/>
            <a:ext cx="4929988" cy="777240"/>
          </a:xfrm>
          <a:prstGeom prst="rect">
            <a:avLst/>
          </a:prstGeom>
          <a:noFill/>
          <a:ln/>
        </p:spPr>
        <p:txBody>
          <a:bodyPr wrap="square" lIns="0" tIns="0" rIns="0" bIns="0" rtlCol="0" anchor="t">
            <a:normAutofit/>
          </a:bodyPr>
          <a:lstStyle/>
          <a:p>
            <a:pPr indent="0" marL="0">
              <a:lnSpc>
                <a:spcPts val="2772"/>
              </a:lnSpc>
              <a:buNone/>
            </a:pPr>
            <a:r>
              <a:rPr lang="en-US" sz="2200" b="1" dirty="0">
                <a:solidFill>
                  <a:srgbClr val="003366"/>
                </a:solidFill>
                <a:latin typeface="Poppins" pitchFamily="34" charset="0"/>
                <a:ea typeface="Poppins" pitchFamily="34" charset="-122"/>
                <a:cs typeface="Poppins" pitchFamily="34" charset="-120"/>
              </a:rPr>
              <a:t>Your own time, your own resources</a:t>
            </a:r>
            <a:endParaRPr lang="en-US" sz="2200" dirty="0"/>
          </a:p>
        </p:txBody>
      </p:sp>
      <p:sp>
        <p:nvSpPr>
          <p:cNvPr id="6" name="Text 4"/>
          <p:cNvSpPr/>
          <p:nvPr/>
        </p:nvSpPr>
        <p:spPr>
          <a:xfrm>
            <a:off x="914400" y="4032504"/>
            <a:ext cx="4929988" cy="1819656"/>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The policy gives employees exclusive rights to what they develop on their own time without substantial institutional resources.</a:t>
            </a:r>
            <a:endParaRPr lang="en-US" sz="1500" dirty="0"/>
          </a:p>
        </p:txBody>
      </p:sp>
      <p:sp>
        <p:nvSpPr>
          <p:cNvPr id="7" name="Text 5"/>
          <p:cNvSpPr/>
          <p:nvPr/>
        </p:nvSpPr>
        <p:spPr>
          <a:xfrm>
            <a:off x="6347308" y="2697480"/>
            <a:ext cx="4929988" cy="256032"/>
          </a:xfrm>
          <a:prstGeom prst="rect">
            <a:avLst/>
          </a:prstGeom>
          <a:noFill/>
          <a:ln/>
        </p:spPr>
        <p:txBody>
          <a:bodyPr wrap="square" lIns="0" tIns="0" rIns="0" bIns="0" rtlCol="0" anchor="ctr">
            <a:normAutofit/>
          </a:bodyPr>
          <a:lstStyle/>
          <a:p>
            <a:pPr indent="0" marL="0">
              <a:buNone/>
            </a:pPr>
            <a:r>
              <a:rPr lang="en-US" sz="1050" b="1" spc="200" kern="0" dirty="0">
                <a:solidFill>
                  <a:srgbClr val="C0392B"/>
                </a:solidFill>
                <a:latin typeface="Calibri" pitchFamily="34" charset="0"/>
                <a:ea typeface="Calibri" pitchFamily="34" charset="-122"/>
                <a:cs typeface="Calibri" pitchFamily="34" charset="-120"/>
              </a:rPr>
              <a:t>JOINTLY OWNED</a:t>
            </a:r>
            <a:endParaRPr lang="en-US" sz="1050" dirty="0"/>
          </a:p>
        </p:txBody>
      </p:sp>
      <p:sp>
        <p:nvSpPr>
          <p:cNvPr id="8" name="Text 6"/>
          <p:cNvSpPr/>
          <p:nvPr/>
        </p:nvSpPr>
        <p:spPr>
          <a:xfrm>
            <a:off x="6347308" y="3099816"/>
            <a:ext cx="4929988" cy="777240"/>
          </a:xfrm>
          <a:prstGeom prst="rect">
            <a:avLst/>
          </a:prstGeom>
          <a:noFill/>
          <a:ln/>
        </p:spPr>
        <p:txBody>
          <a:bodyPr wrap="square" lIns="0" tIns="0" rIns="0" bIns="0" rtlCol="0" anchor="t">
            <a:normAutofit/>
          </a:bodyPr>
          <a:lstStyle/>
          <a:p>
            <a:pPr indent="0" marL="0">
              <a:lnSpc>
                <a:spcPts val="2772"/>
              </a:lnSpc>
              <a:buNone/>
            </a:pPr>
            <a:r>
              <a:rPr lang="en-US" sz="2200" b="1" dirty="0">
                <a:solidFill>
                  <a:srgbClr val="003366"/>
                </a:solidFill>
                <a:latin typeface="Poppins" pitchFamily="34" charset="0"/>
                <a:ea typeface="Poppins" pitchFamily="34" charset="-122"/>
                <a:cs typeface="Poppins" pitchFamily="34" charset="-120"/>
              </a:rPr>
              <a:t>Substantial institutional resources</a:t>
            </a:r>
            <a:endParaRPr lang="en-US" sz="2200" dirty="0"/>
          </a:p>
        </p:txBody>
      </p:sp>
      <p:sp>
        <p:nvSpPr>
          <p:cNvPr id="9" name="Text 7"/>
          <p:cNvSpPr/>
          <p:nvPr/>
        </p:nvSpPr>
        <p:spPr>
          <a:xfrm>
            <a:off x="6347308" y="4032504"/>
            <a:ext cx="4929988" cy="1819656"/>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Anything developed using them is jointly owned by the College and you. "Substantial" is nowhere defined in the policy.</a:t>
            </a:r>
            <a:endParaRPr lang="en-US" sz="1500" dirty="0"/>
          </a:p>
        </p:txBody>
      </p:sp>
      <p:sp>
        <p:nvSpPr>
          <p:cNvPr id="10" name="Text 8"/>
          <p:cNvSpPr/>
          <p:nvPr/>
        </p:nvSpPr>
        <p:spPr>
          <a:xfrm>
            <a:off x="914400" y="5029200"/>
            <a:ext cx="9631375" cy="822960"/>
          </a:xfrm>
          <a:prstGeom prst="rect">
            <a:avLst/>
          </a:prstGeom>
          <a:noFill/>
          <a:ln/>
        </p:spPr>
        <p:txBody>
          <a:bodyPr wrap="square" lIns="0" tIns="0" rIns="0" bIns="0" rtlCol="0" anchor="t">
            <a:normAutofit/>
          </a:bodyPr>
          <a:lstStyle/>
          <a:p>
            <a:pPr indent="0" marL="0">
              <a:lnSpc>
                <a:spcPts val="2300"/>
              </a:lnSpc>
              <a:buNone/>
            </a:pPr>
            <a:r>
              <a:rPr lang="en-US" sz="1550" dirty="0">
                <a:solidFill>
                  <a:srgbClr val="7A8794"/>
                </a:solidFill>
                <a:latin typeface="Calibri" pitchFamily="34" charset="0"/>
                <a:ea typeface="Calibri" pitchFamily="34" charset="-122"/>
                <a:cs typeface="Calibri" pitchFamily="34" charset="-120"/>
              </a:rPr>
              <a:t>The policy predates cloud services, institutional software licences and AI tools entirely. Expect ambiguity — do not expect it to resolve in your favour.</a:t>
            </a:r>
            <a:endParaRPr lang="en-US" sz="155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FF6600"/>
                </a:solidFill>
                <a:latin typeface="Calibri" pitchFamily="34" charset="0"/>
                <a:ea typeface="Calibri" pitchFamily="34" charset="-122"/>
                <a:cs typeface="Calibri" pitchFamily="34" charset="-120"/>
              </a:rPr>
              <a:t>TWO THINGS PEOPLE GET WRONG</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"Jointly owned" is not</a:t>
            </a:r>
            <a:endParaRPr lang="en-US" sz="4000" dirty="0"/>
          </a:p>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a compromise.</a:t>
            </a:r>
            <a:endParaRPr lang="en-US" sz="4000" dirty="0"/>
          </a:p>
        </p:txBody>
      </p:sp>
      <p:sp>
        <p:nvSpPr>
          <p:cNvPr id="4" name="Text 2"/>
          <p:cNvSpPr/>
          <p:nvPr/>
        </p:nvSpPr>
        <p:spPr>
          <a:xfrm>
            <a:off x="914400" y="2697480"/>
            <a:ext cx="4929988" cy="256032"/>
          </a:xfrm>
          <a:prstGeom prst="rect">
            <a:avLst/>
          </a:prstGeom>
          <a:noFill/>
          <a:ln/>
        </p:spPr>
        <p:txBody>
          <a:bodyPr wrap="square" lIns="0" tIns="0" rIns="0" bIns="0" rtlCol="0" anchor="ctr">
            <a:normAutofit/>
          </a:bodyPr>
          <a:lstStyle/>
          <a:p>
            <a:pPr indent="0" marL="0">
              <a:buNone/>
            </a:pPr>
            <a:r>
              <a:rPr lang="en-US" sz="1050" b="1" spc="200" kern="0" dirty="0">
                <a:solidFill>
                  <a:srgbClr val="FF8A78"/>
                </a:solidFill>
                <a:latin typeface="Calibri" pitchFamily="34" charset="0"/>
                <a:ea typeface="Calibri" pitchFamily="34" charset="-122"/>
                <a:cs typeface="Calibri" pitchFamily="34" charset="-120"/>
              </a:rPr>
              <a:t>THE IP TRAP</a:t>
            </a:r>
            <a:endParaRPr lang="en-US" sz="1050" dirty="0"/>
          </a:p>
        </p:txBody>
      </p:sp>
      <p:sp>
        <p:nvSpPr>
          <p:cNvPr id="5" name="Text 3"/>
          <p:cNvSpPr/>
          <p:nvPr/>
        </p:nvSpPr>
        <p:spPr>
          <a:xfrm>
            <a:off x="914400" y="3099816"/>
            <a:ext cx="4929988" cy="713232"/>
          </a:xfrm>
          <a:prstGeom prst="rect">
            <a:avLst/>
          </a:prstGeom>
          <a:noFill/>
          <a:ln/>
        </p:spPr>
        <p:txBody>
          <a:bodyPr wrap="square" lIns="0" tIns="0" rIns="0" bIns="0" rtlCol="0" anchor="t">
            <a:normAutofit/>
          </a:bodyPr>
          <a:lstStyle/>
          <a:p>
            <a:pPr indent="0" marL="0">
              <a:lnSpc>
                <a:spcPts val="2520"/>
              </a:lnSpc>
              <a:buNone/>
            </a:pPr>
            <a:r>
              <a:rPr lang="en-US" sz="2000" b="1" dirty="0">
                <a:solidFill>
                  <a:srgbClr val="FFFFFF"/>
                </a:solidFill>
                <a:latin typeface="Poppins" pitchFamily="34" charset="0"/>
                <a:ea typeface="Poppins" pitchFamily="34" charset="-122"/>
                <a:cs typeface="Poppins" pitchFamily="34" charset="-120"/>
              </a:rPr>
              <a:t>It means a permanent consent requirement</a:t>
            </a:r>
            <a:endParaRPr lang="en-US" sz="2000" dirty="0"/>
          </a:p>
        </p:txBody>
      </p:sp>
      <p:sp>
        <p:nvSpPr>
          <p:cNvPr id="6" name="Text 4"/>
          <p:cNvSpPr/>
          <p:nvPr/>
        </p:nvSpPr>
        <p:spPr>
          <a:xfrm>
            <a:off x="914400" y="3968496"/>
            <a:ext cx="4929988" cy="1883664"/>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Joint owners each hold an undivided interest — but neither can grant an exclusive licence or sell the whole thing without the other. A jointly owned product is effectively unsellable, and revenue carries a duty to account.</a:t>
            </a:r>
            <a:endParaRPr lang="en-US" sz="1500" dirty="0"/>
          </a:p>
        </p:txBody>
      </p:sp>
      <p:sp>
        <p:nvSpPr>
          <p:cNvPr id="7" name="Text 5"/>
          <p:cNvSpPr/>
          <p:nvPr/>
        </p:nvSpPr>
        <p:spPr>
          <a:xfrm>
            <a:off x="6347308" y="2697480"/>
            <a:ext cx="4929988" cy="256032"/>
          </a:xfrm>
          <a:prstGeom prst="rect">
            <a:avLst/>
          </a:prstGeom>
          <a:noFill/>
          <a:ln/>
        </p:spPr>
        <p:txBody>
          <a:bodyPr wrap="square" lIns="0" tIns="0" rIns="0" bIns="0" rtlCol="0" anchor="ctr">
            <a:normAutofit/>
          </a:bodyPr>
          <a:lstStyle/>
          <a:p>
            <a:pPr indent="0" marL="0">
              <a:buNone/>
            </a:pPr>
            <a:r>
              <a:rPr lang="en-US" sz="1050" b="1" spc="200" kern="0" dirty="0">
                <a:solidFill>
                  <a:srgbClr val="F9DD56"/>
                </a:solidFill>
                <a:latin typeface="Calibri" pitchFamily="34" charset="0"/>
                <a:ea typeface="Calibri" pitchFamily="34" charset="-122"/>
                <a:cs typeface="Calibri" pitchFamily="34" charset="-120"/>
              </a:rPr>
              <a:t>THE OTHER REGIME</a:t>
            </a:r>
            <a:endParaRPr lang="en-US" sz="1050" dirty="0"/>
          </a:p>
        </p:txBody>
      </p:sp>
      <p:sp>
        <p:nvSpPr>
          <p:cNvPr id="8" name="Text 6"/>
          <p:cNvSpPr/>
          <p:nvPr/>
        </p:nvSpPr>
        <p:spPr>
          <a:xfrm>
            <a:off x="6347308" y="3099816"/>
            <a:ext cx="4929988" cy="713232"/>
          </a:xfrm>
          <a:prstGeom prst="rect">
            <a:avLst/>
          </a:prstGeom>
          <a:noFill/>
          <a:ln/>
        </p:spPr>
        <p:txBody>
          <a:bodyPr wrap="square" lIns="0" tIns="0" rIns="0" bIns="0" rtlCol="0" anchor="t">
            <a:normAutofit/>
          </a:bodyPr>
          <a:lstStyle/>
          <a:p>
            <a:pPr indent="0" marL="0">
              <a:lnSpc>
                <a:spcPts val="2520"/>
              </a:lnSpc>
              <a:buNone/>
            </a:pPr>
            <a:r>
              <a:rPr lang="en-US" sz="2000" b="1" dirty="0">
                <a:solidFill>
                  <a:srgbClr val="FFFFFF"/>
                </a:solidFill>
                <a:latin typeface="Poppins" pitchFamily="34" charset="0"/>
                <a:ea typeface="Poppins" pitchFamily="34" charset="-122"/>
                <a:cs typeface="Poppins" pitchFamily="34" charset="-120"/>
              </a:rPr>
              <a:t>It is not only an IP question</a:t>
            </a:r>
            <a:endParaRPr lang="en-US" sz="2000" dirty="0"/>
          </a:p>
        </p:txBody>
      </p:sp>
      <p:sp>
        <p:nvSpPr>
          <p:cNvPr id="9" name="Text 7"/>
          <p:cNvSpPr/>
          <p:nvPr/>
        </p:nvSpPr>
        <p:spPr>
          <a:xfrm>
            <a:off x="6347308" y="3968496"/>
            <a:ext cx="4929988" cy="1883664"/>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Texas Penal Code § 39.02 makes it abuse of official capacity for a public servant to misuse government property or services for personal benefit, graded by value.</a:t>
            </a:r>
            <a:endParaRPr lang="en-US" sz="1500" dirty="0"/>
          </a:p>
        </p:txBody>
      </p:sp>
      <p:sp>
        <p:nvSpPr>
          <p:cNvPr id="10" name="Text 8"/>
          <p:cNvSpPr/>
          <p:nvPr/>
        </p:nvSpPr>
        <p:spPr>
          <a:xfrm>
            <a:off x="914400" y="5212080"/>
            <a:ext cx="9448495" cy="777240"/>
          </a:xfrm>
          <a:prstGeom prst="rect">
            <a:avLst/>
          </a:prstGeom>
          <a:noFill/>
          <a:ln/>
        </p:spPr>
        <p:txBody>
          <a:bodyPr wrap="square" lIns="0" tIns="0" rIns="0" bIns="0" rtlCol="0" anchor="t">
            <a:normAutofit/>
          </a:bodyPr>
          <a:lstStyle/>
          <a:p>
            <a:pPr indent="0" marL="0">
              <a:lnSpc>
                <a:spcPts val="2600"/>
              </a:lnSpc>
              <a:buNone/>
            </a:pPr>
            <a:r>
              <a:rPr lang="en-US" sz="1700" dirty="0">
                <a:solidFill>
                  <a:srgbClr val="F9DD56"/>
                </a:solidFill>
                <a:latin typeface="Calibri" pitchFamily="34" charset="0"/>
                <a:ea typeface="Calibri" pitchFamily="34" charset="-122"/>
                <a:cs typeface="Calibri" pitchFamily="34" charset="-120"/>
              </a:rPr>
              <a:t>Personal device. Personal accounts. Nights and weekends. No institutional data, ever. And get a written determination before you build — not after you have a customer.</a:t>
            </a:r>
            <a:endParaRPr lang="en-US" sz="17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THEN THE ORDINARY QUESTIONS</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Payments, tax, structure.</a:t>
            </a:r>
            <a:endParaRPr lang="en-US" sz="4000" dirty="0"/>
          </a:p>
        </p:txBody>
      </p:sp>
      <p:sp>
        <p:nvSpPr>
          <p:cNvPr id="4" name="Text 2"/>
          <p:cNvSpPr/>
          <p:nvPr/>
        </p:nvSpPr>
        <p:spPr>
          <a:xfrm>
            <a:off x="914400" y="2130552"/>
            <a:ext cx="713232" cy="384048"/>
          </a:xfrm>
          <a:prstGeom prst="rect">
            <a:avLst/>
          </a:prstGeom>
          <a:noFill/>
          <a:ln/>
        </p:spPr>
        <p:txBody>
          <a:bodyPr wrap="square" lIns="0" tIns="0" rIns="0" bIns="0" rtlCol="0" anchor="ctr">
            <a:normAutofit/>
          </a:bodyPr>
          <a:lstStyle/>
          <a:p>
            <a:pPr indent="0" marL="0">
              <a:buNone/>
            </a:pPr>
            <a:r>
              <a:rPr lang="en-US" sz="2000" b="1" dirty="0">
                <a:solidFill>
                  <a:srgbClr val="00697A"/>
                </a:solidFill>
                <a:latin typeface="Poppins" pitchFamily="34" charset="0"/>
                <a:ea typeface="Poppins" pitchFamily="34" charset="-122"/>
                <a:cs typeface="Poppins" pitchFamily="34" charset="-120"/>
              </a:rPr>
              <a:t>01</a:t>
            </a:r>
            <a:endParaRPr lang="en-US" sz="2000" dirty="0"/>
          </a:p>
        </p:txBody>
      </p:sp>
      <p:sp>
        <p:nvSpPr>
          <p:cNvPr id="5" name="Text 3"/>
          <p:cNvSpPr/>
          <p:nvPr/>
        </p:nvSpPr>
        <p:spPr>
          <a:xfrm>
            <a:off x="1737360" y="210312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Stripe is 2.9% + 30¢, and every tax obligation stays yours</a:t>
            </a:r>
            <a:endParaRPr lang="en-US" sz="1900" dirty="0"/>
          </a:p>
        </p:txBody>
      </p:sp>
      <p:sp>
        <p:nvSpPr>
          <p:cNvPr id="6" name="Text 4"/>
          <p:cNvSpPr/>
          <p:nvPr/>
        </p:nvSpPr>
        <p:spPr>
          <a:xfrm>
            <a:off x="1737360" y="2438400"/>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A merchant of record charges ~5% and becomes the legal seller, remitting tax for you.</a:t>
            </a:r>
            <a:endParaRPr lang="en-US" sz="1500" dirty="0"/>
          </a:p>
        </p:txBody>
      </p:sp>
      <p:sp>
        <p:nvSpPr>
          <p:cNvPr id="7" name="Text 5"/>
          <p:cNvSpPr/>
          <p:nvPr/>
        </p:nvSpPr>
        <p:spPr>
          <a:xfrm>
            <a:off x="914400" y="3166872"/>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02</a:t>
            </a:r>
            <a:endParaRPr lang="en-US" sz="2000" dirty="0"/>
          </a:p>
        </p:txBody>
      </p:sp>
      <p:sp>
        <p:nvSpPr>
          <p:cNvPr id="8" name="Text 6"/>
          <p:cNvSpPr/>
          <p:nvPr/>
        </p:nvSpPr>
        <p:spPr>
          <a:xfrm>
            <a:off x="1737360" y="313944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Texas taxes SaaS, and you live in Texas</a:t>
            </a:r>
            <a:endParaRPr lang="en-US" sz="1900" dirty="0"/>
          </a:p>
        </p:txBody>
      </p:sp>
      <p:sp>
        <p:nvSpPr>
          <p:cNvPr id="9" name="Text 7"/>
          <p:cNvSpPr/>
          <p:nvPr/>
        </p:nvSpPr>
        <p:spPr>
          <a:xfrm>
            <a:off x="1737360" y="3474720"/>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6.25% state plus up to 2% local, on 80% of the price. No safe harbor — it starts at sale one.</a:t>
            </a:r>
            <a:endParaRPr lang="en-US" sz="1500" dirty="0"/>
          </a:p>
        </p:txBody>
      </p:sp>
      <p:sp>
        <p:nvSpPr>
          <p:cNvPr id="10" name="Text 8"/>
          <p:cNvSpPr/>
          <p:nvPr/>
        </p:nvSpPr>
        <p:spPr>
          <a:xfrm>
            <a:off x="914400" y="4203192"/>
            <a:ext cx="713232" cy="384048"/>
          </a:xfrm>
          <a:prstGeom prst="rect">
            <a:avLst/>
          </a:prstGeom>
          <a:noFill/>
          <a:ln/>
        </p:spPr>
        <p:txBody>
          <a:bodyPr wrap="square" lIns="0" tIns="0" rIns="0" bIns="0" rtlCol="0" anchor="ctr">
            <a:normAutofit/>
          </a:bodyPr>
          <a:lstStyle/>
          <a:p>
            <a:pPr indent="0" marL="0">
              <a:buNone/>
            </a:pPr>
            <a:r>
              <a:rPr lang="en-US" sz="2000" b="1" dirty="0">
                <a:solidFill>
                  <a:srgbClr val="003366"/>
                </a:solidFill>
                <a:latin typeface="Poppins" pitchFamily="34" charset="0"/>
                <a:ea typeface="Poppins" pitchFamily="34" charset="-122"/>
                <a:cs typeface="Poppins" pitchFamily="34" charset="-120"/>
              </a:rPr>
              <a:t>03</a:t>
            </a:r>
            <a:endParaRPr lang="en-US" sz="2000" dirty="0"/>
          </a:p>
        </p:txBody>
      </p:sp>
      <p:sp>
        <p:nvSpPr>
          <p:cNvPr id="11" name="Text 9"/>
          <p:cNvSpPr/>
          <p:nvPr/>
        </p:nvSpPr>
        <p:spPr>
          <a:xfrm>
            <a:off x="1737360" y="417576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An LLC is one layer, not a shield</a:t>
            </a:r>
            <a:endParaRPr lang="en-US" sz="1900" dirty="0"/>
          </a:p>
        </p:txBody>
      </p:sp>
      <p:sp>
        <p:nvSpPr>
          <p:cNvPr id="12" name="Text 10"/>
          <p:cNvSpPr/>
          <p:nvPr/>
        </p:nvSpPr>
        <p:spPr>
          <a:xfrm>
            <a:off x="1737360" y="4511040"/>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$300 to form. It covers contract debts — not your own torts, which is what you get sued for.</a:t>
            </a:r>
            <a:endParaRPr lang="en-US" sz="1500" dirty="0"/>
          </a:p>
        </p:txBody>
      </p:sp>
      <p:sp>
        <p:nvSpPr>
          <p:cNvPr id="13" name="Text 11"/>
          <p:cNvSpPr/>
          <p:nvPr/>
        </p:nvSpPr>
        <p:spPr>
          <a:xfrm>
            <a:off x="914400" y="5239512"/>
            <a:ext cx="713232" cy="384048"/>
          </a:xfrm>
          <a:prstGeom prst="rect">
            <a:avLst/>
          </a:prstGeom>
          <a:noFill/>
          <a:ln/>
        </p:spPr>
        <p:txBody>
          <a:bodyPr wrap="square" lIns="0" tIns="0" rIns="0" bIns="0" rtlCol="0" anchor="ctr">
            <a:normAutofit/>
          </a:bodyPr>
          <a:lstStyle/>
          <a:p>
            <a:pPr indent="0" marL="0">
              <a:buNone/>
            </a:pPr>
            <a:r>
              <a:rPr lang="en-US" sz="2000" b="1" dirty="0">
                <a:solidFill>
                  <a:srgbClr val="8F5E08"/>
                </a:solidFill>
                <a:latin typeface="Poppins" pitchFamily="34" charset="0"/>
                <a:ea typeface="Poppins" pitchFamily="34" charset="-122"/>
                <a:cs typeface="Poppins" pitchFamily="34" charset="-120"/>
              </a:rPr>
              <a:t>04</a:t>
            </a:r>
            <a:endParaRPr lang="en-US" sz="2000" dirty="0"/>
          </a:p>
        </p:txBody>
      </p:sp>
      <p:sp>
        <p:nvSpPr>
          <p:cNvPr id="14" name="Text 12"/>
          <p:cNvSpPr/>
          <p:nvPr/>
        </p:nvSpPr>
        <p:spPr>
          <a:xfrm>
            <a:off x="1737360" y="521208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The Texas privacy law has no threshold</a:t>
            </a:r>
            <a:endParaRPr lang="en-US" sz="1900" dirty="0"/>
          </a:p>
        </p:txBody>
      </p:sp>
      <p:sp>
        <p:nvSpPr>
          <p:cNvPr id="15" name="Text 13"/>
          <p:cNvSpPr/>
          <p:nvPr/>
        </p:nvSpPr>
        <p:spPr>
          <a:xfrm>
            <a:off x="1737360" y="5547360"/>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California's CCPA has limits a side project will never hit. The Texas act applies based on doing business here.</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FF6600"/>
                </a:solidFill>
                <a:latin typeface="Calibri" pitchFamily="34" charset="0"/>
                <a:ea typeface="Calibri" pitchFamily="34" charset="-122"/>
                <a:cs typeface="Calibri" pitchFamily="34" charset="-120"/>
              </a:rPr>
              <a:t>THE NUMBER NOBODY PUTS ON A SLIDE</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Most of them earn nothing.</a:t>
            </a:r>
            <a:endParaRPr lang="en-US" sz="4000" dirty="0"/>
          </a:p>
        </p:txBody>
      </p:sp>
      <p:sp>
        <p:nvSpPr>
          <p:cNvPr id="4" name="Text 2"/>
          <p:cNvSpPr/>
          <p:nvPr/>
        </p:nvSpPr>
        <p:spPr>
          <a:xfrm>
            <a:off x="914400" y="278892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FF8A78"/>
                </a:solidFill>
                <a:latin typeface="Calibri" pitchFamily="34" charset="0"/>
                <a:ea typeface="Calibri" pitchFamily="34" charset="-122"/>
                <a:cs typeface="Calibri" pitchFamily="34" charset="-120"/>
              </a:rPr>
              <a:t>54%</a:t>
            </a:r>
            <a:endParaRPr lang="en-US" sz="1050" dirty="0"/>
          </a:p>
        </p:txBody>
      </p:sp>
      <p:sp>
        <p:nvSpPr>
          <p:cNvPr id="5" name="Text 3"/>
          <p:cNvSpPr/>
          <p:nvPr/>
        </p:nvSpPr>
        <p:spPr>
          <a:xfrm>
            <a:off x="914400" y="3191256"/>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FFFFFF"/>
                </a:solidFill>
                <a:latin typeface="Poppins" pitchFamily="34" charset="0"/>
                <a:ea typeface="Poppins" pitchFamily="34" charset="-122"/>
                <a:cs typeface="Poppins" pitchFamily="34" charset="-120"/>
              </a:rPr>
              <a:t>earn zero</a:t>
            </a:r>
            <a:endParaRPr lang="en-US" sz="2100" dirty="0"/>
          </a:p>
        </p:txBody>
      </p:sp>
      <p:sp>
        <p:nvSpPr>
          <p:cNvPr id="6" name="Text 4"/>
          <p:cNvSpPr/>
          <p:nvPr/>
        </p:nvSpPr>
        <p:spPr>
          <a:xfrm>
            <a:off x="914400" y="4091940"/>
            <a:ext cx="3119018" cy="1714500"/>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Of indie products with verified payment data. Not "not much" — nothing.</a:t>
            </a:r>
            <a:endParaRPr lang="en-US" sz="1500" dirty="0"/>
          </a:p>
        </p:txBody>
      </p:sp>
      <p:sp>
        <p:nvSpPr>
          <p:cNvPr id="7" name="Text 5"/>
          <p:cNvSpPr/>
          <p:nvPr/>
        </p:nvSpPr>
        <p:spPr>
          <a:xfrm>
            <a:off x="4536338" y="278892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F9DD56"/>
                </a:solidFill>
                <a:latin typeface="Calibri" pitchFamily="34" charset="0"/>
                <a:ea typeface="Calibri" pitchFamily="34" charset="-122"/>
                <a:cs typeface="Calibri" pitchFamily="34" charset="-120"/>
              </a:rPr>
              <a:t>~5%</a:t>
            </a:r>
            <a:endParaRPr lang="en-US" sz="1050" dirty="0"/>
          </a:p>
        </p:txBody>
      </p:sp>
      <p:sp>
        <p:nvSpPr>
          <p:cNvPr id="8" name="Text 6"/>
          <p:cNvSpPr/>
          <p:nvPr/>
        </p:nvSpPr>
        <p:spPr>
          <a:xfrm>
            <a:off x="4536338" y="3191256"/>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FFFFFF"/>
                </a:solidFill>
                <a:latin typeface="Poppins" pitchFamily="34" charset="0"/>
                <a:ea typeface="Poppins" pitchFamily="34" charset="-122"/>
                <a:cs typeface="Poppins" pitchFamily="34" charset="-120"/>
              </a:rPr>
              <a:t>clear $100K a year</a:t>
            </a:r>
            <a:endParaRPr lang="en-US" sz="2100" dirty="0"/>
          </a:p>
        </p:txBody>
      </p:sp>
      <p:sp>
        <p:nvSpPr>
          <p:cNvPr id="9" name="Text 7"/>
          <p:cNvSpPr/>
          <p:nvPr/>
        </p:nvSpPr>
        <p:spPr>
          <a:xfrm>
            <a:off x="4536338" y="4091940"/>
            <a:ext cx="3119018" cy="1714500"/>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Measured among people already serious enough to launch publicly.</a:t>
            </a:r>
            <a:endParaRPr lang="en-US" sz="1500" dirty="0"/>
          </a:p>
        </p:txBody>
      </p:sp>
      <p:sp>
        <p:nvSpPr>
          <p:cNvPr id="10" name="Text 8"/>
          <p:cNvSpPr/>
          <p:nvPr/>
        </p:nvSpPr>
        <p:spPr>
          <a:xfrm>
            <a:off x="8158277" y="278892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58C8DD"/>
                </a:solidFill>
                <a:latin typeface="Calibri" pitchFamily="34" charset="0"/>
                <a:ea typeface="Calibri" pitchFamily="34" charset="-122"/>
                <a:cs typeface="Calibri" pitchFamily="34" charset="-120"/>
              </a:rPr>
              <a:t>1</a:t>
            </a:r>
            <a:endParaRPr lang="en-US" sz="1050" dirty="0"/>
          </a:p>
        </p:txBody>
      </p:sp>
      <p:sp>
        <p:nvSpPr>
          <p:cNvPr id="11" name="Text 9"/>
          <p:cNvSpPr/>
          <p:nvPr/>
        </p:nvSpPr>
        <p:spPr>
          <a:xfrm>
            <a:off x="8158277" y="3191256"/>
            <a:ext cx="3119018"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FFFFFF"/>
                </a:solidFill>
                <a:latin typeface="Poppins" pitchFamily="34" charset="0"/>
                <a:ea typeface="Poppins" pitchFamily="34" charset="-122"/>
                <a:cs typeface="Poppins" pitchFamily="34" charset="-120"/>
              </a:rPr>
              <a:t>in every story you have heard</a:t>
            </a:r>
            <a:endParaRPr lang="en-US" sz="2100" dirty="0"/>
          </a:p>
        </p:txBody>
      </p:sp>
      <p:sp>
        <p:nvSpPr>
          <p:cNvPr id="12" name="Text 10"/>
          <p:cNvSpPr/>
          <p:nvPr/>
        </p:nvSpPr>
        <p:spPr>
          <a:xfrm>
            <a:off x="8158277" y="4091940"/>
            <a:ext cx="3119018" cy="1714500"/>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Every "$20K a month solo founder" post is a draw from the far tail, amplified because it is rare.</a:t>
            </a:r>
            <a:endParaRPr lang="en-US" sz="1500" dirty="0"/>
          </a:p>
        </p:txBody>
      </p:sp>
      <p:sp>
        <p:nvSpPr>
          <p:cNvPr id="13" name="Text 11"/>
          <p:cNvSpPr/>
          <p:nvPr/>
        </p:nvSpPr>
        <p:spPr>
          <a:xfrm>
            <a:off x="914400" y="5943600"/>
            <a:ext cx="8991295" cy="292608"/>
          </a:xfrm>
          <a:prstGeom prst="rect">
            <a:avLst/>
          </a:prstGeom>
          <a:noFill/>
          <a:ln/>
        </p:spPr>
        <p:txBody>
          <a:bodyPr wrap="square" lIns="0" tIns="0" rIns="0" bIns="0" rtlCol="0" anchor="ctr">
            <a:normAutofit/>
          </a:bodyPr>
          <a:lstStyle/>
          <a:p>
            <a:pPr indent="0" marL="0">
              <a:buNone/>
            </a:pPr>
            <a:r>
              <a:rPr lang="en-US" sz="1050" dirty="0">
                <a:solidFill>
                  <a:srgbClr val="5C6E82"/>
                </a:solidFill>
                <a:latin typeface="Calibri" pitchFamily="34" charset="0"/>
                <a:ea typeface="Calibri" pitchFamily="34" charset="-122"/>
                <a:cs typeface="Calibri" pitchFamily="34" charset="-120"/>
              </a:rPr>
              <a:t>Stripe-verified Indie Hackers data, 2022 — dated, and subject to survivorship bias</a:t>
            </a:r>
            <a:endParaRPr lang="en-US" sz="105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914400" y="1920240"/>
            <a:ext cx="9814255" cy="1324864"/>
          </a:xfrm>
          <a:prstGeom prst="rect">
            <a:avLst/>
          </a:prstGeom>
          <a:noFill/>
          <a:ln/>
        </p:spPr>
        <p:txBody>
          <a:bodyPr wrap="square" lIns="0" tIns="0" rIns="0" bIns="0" rtlCol="0" anchor="t">
            <a:normAutofit/>
          </a:bodyPr>
          <a:lstStyle/>
          <a:p>
            <a:pPr indent="0" marL="0">
              <a:lnSpc>
                <a:spcPts val="4640"/>
              </a:lnSpc>
              <a:buNone/>
            </a:pPr>
            <a:r>
              <a:rPr lang="en-US" sz="4000" b="1" dirty="0">
                <a:solidFill>
                  <a:srgbClr val="FFFFFF"/>
                </a:solidFill>
                <a:latin typeface="Poppins" pitchFamily="34" charset="0"/>
                <a:ea typeface="Poppins" pitchFamily="34" charset="-122"/>
                <a:cs typeface="Poppins" pitchFamily="34" charset="-120"/>
              </a:rPr>
              <a:t>Treat it as skill acquisition</a:t>
            </a:r>
            <a:endParaRPr lang="en-US" sz="4000" dirty="0"/>
          </a:p>
          <a:p>
            <a:pPr indent="0" marL="0">
              <a:lnSpc>
                <a:spcPts val="4640"/>
              </a:lnSpc>
              <a:buNone/>
            </a:pPr>
            <a:r>
              <a:rPr lang="en-US" sz="4000" b="1" dirty="0">
                <a:solidFill>
                  <a:srgbClr val="FFFFFF"/>
                </a:solidFill>
                <a:latin typeface="Poppins" pitchFamily="34" charset="0"/>
                <a:ea typeface="Poppins" pitchFamily="34" charset="-122"/>
                <a:cs typeface="Poppins" pitchFamily="34" charset="-120"/>
              </a:rPr>
              <a:t>with a lottery ticket attached.</a:t>
            </a:r>
            <a:endParaRPr lang="en-US" sz="4000" dirty="0"/>
          </a:p>
        </p:txBody>
      </p:sp>
      <p:sp>
        <p:nvSpPr>
          <p:cNvPr id="3" name="Text 1"/>
          <p:cNvSpPr/>
          <p:nvPr/>
        </p:nvSpPr>
        <p:spPr>
          <a:xfrm>
            <a:off x="914400" y="3556000"/>
            <a:ext cx="8716975" cy="2433320"/>
          </a:xfrm>
          <a:prstGeom prst="rect">
            <a:avLst/>
          </a:prstGeom>
          <a:noFill/>
          <a:ln/>
        </p:spPr>
        <p:txBody>
          <a:bodyPr wrap="square" lIns="0" tIns="0" rIns="0" bIns="0" rtlCol="0" anchor="t">
            <a:normAutofit/>
          </a:bodyPr>
          <a:lstStyle/>
          <a:p>
            <a:pPr indent="0" marL="0">
              <a:lnSpc>
                <a:spcPts val="3000"/>
              </a:lnSpc>
              <a:buNone/>
            </a:pPr>
            <a:r>
              <a:rPr lang="en-US" sz="2000" dirty="0">
                <a:solidFill>
                  <a:srgbClr val="A7B7C9"/>
                </a:solidFill>
                <a:latin typeface="Calibri" pitchFamily="34" charset="0"/>
                <a:ea typeface="Calibri" pitchFamily="34" charset="-122"/>
                <a:cs typeface="Calibri" pitchFamily="34" charset="-120"/>
              </a:rPr>
              <a:t>The skills transfer to your day job with certainty. The revenue does not. Do the IP analysis before you write code — it is free, and it is the only irreversible step.</a:t>
            </a:r>
            <a:endParaRPr lang="en-US" sz="20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BEFORE YOU MAKE ANYTHING PUBLIC</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The gate.</a:t>
            </a:r>
            <a:endParaRPr lang="en-US" sz="4000" dirty="0"/>
          </a:p>
        </p:txBody>
      </p:sp>
      <p:sp>
        <p:nvSpPr>
          <p:cNvPr id="4" name="Text 2"/>
          <p:cNvSpPr/>
          <p:nvPr/>
        </p:nvSpPr>
        <p:spPr>
          <a:xfrm>
            <a:off x="914400" y="2039112"/>
            <a:ext cx="713232" cy="384048"/>
          </a:xfrm>
          <a:prstGeom prst="rect">
            <a:avLst/>
          </a:prstGeom>
          <a:noFill/>
          <a:ln/>
        </p:spPr>
        <p:txBody>
          <a:bodyPr wrap="square" lIns="0" tIns="0" rIns="0" bIns="0" rtlCol="0" anchor="ctr">
            <a:normAutofit/>
          </a:bodyPr>
          <a:lstStyle/>
          <a:p>
            <a:pPr indent="0" marL="0">
              <a:buNone/>
            </a:pPr>
            <a:r>
              <a:rPr lang="en-US" sz="2000" b="1" dirty="0">
                <a:solidFill>
                  <a:srgbClr val="003366"/>
                </a:solidFill>
                <a:latin typeface="Poppins" pitchFamily="34" charset="0"/>
                <a:ea typeface="Poppins" pitchFamily="34" charset="-122"/>
                <a:cs typeface="Poppins" pitchFamily="34" charset="-120"/>
              </a:rPr>
              <a:t>01</a:t>
            </a:r>
            <a:endParaRPr lang="en-US" sz="2000" dirty="0"/>
          </a:p>
        </p:txBody>
      </p:sp>
      <p:sp>
        <p:nvSpPr>
          <p:cNvPr id="5" name="Text 3"/>
          <p:cNvSpPr/>
          <p:nvPr/>
        </p:nvSpPr>
        <p:spPr>
          <a:xfrm>
            <a:off x="1737360" y="201168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I know exactly what data this holds</a:t>
            </a:r>
            <a:endParaRPr lang="en-US" sz="1900" dirty="0"/>
          </a:p>
        </p:txBody>
      </p:sp>
      <p:sp>
        <p:nvSpPr>
          <p:cNvPr id="6" name="Text 4"/>
          <p:cNvSpPr/>
          <p:nvPr/>
        </p:nvSpPr>
        <p:spPr>
          <a:xfrm>
            <a:off x="1737360" y="234696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And whether any is about a real person. Student data means I talked to IT.</a:t>
            </a:r>
            <a:endParaRPr lang="en-US" sz="1500" dirty="0"/>
          </a:p>
        </p:txBody>
      </p:sp>
      <p:sp>
        <p:nvSpPr>
          <p:cNvPr id="7" name="Text 5"/>
          <p:cNvSpPr/>
          <p:nvPr/>
        </p:nvSpPr>
        <p:spPr>
          <a:xfrm>
            <a:off x="914400" y="2905887"/>
            <a:ext cx="713232" cy="384048"/>
          </a:xfrm>
          <a:prstGeom prst="rect">
            <a:avLst/>
          </a:prstGeom>
          <a:noFill/>
          <a:ln/>
        </p:spPr>
        <p:txBody>
          <a:bodyPr wrap="square" lIns="0" tIns="0" rIns="0" bIns="0" rtlCol="0" anchor="ctr">
            <a:normAutofit/>
          </a:bodyPr>
          <a:lstStyle/>
          <a:p>
            <a:pPr indent="0" marL="0">
              <a:buNone/>
            </a:pPr>
            <a:r>
              <a:rPr lang="en-US" sz="2000" b="1" dirty="0">
                <a:solidFill>
                  <a:srgbClr val="C0392B"/>
                </a:solidFill>
                <a:latin typeface="Poppins" pitchFamily="34" charset="0"/>
                <a:ea typeface="Poppins" pitchFamily="34" charset="-122"/>
                <a:cs typeface="Poppins" pitchFamily="34" charset="-120"/>
              </a:rPr>
              <a:t>02</a:t>
            </a:r>
            <a:endParaRPr lang="en-US" sz="2000" dirty="0"/>
          </a:p>
        </p:txBody>
      </p:sp>
      <p:sp>
        <p:nvSpPr>
          <p:cNvPr id="8" name="Text 6"/>
          <p:cNvSpPr/>
          <p:nvPr/>
        </p:nvSpPr>
        <p:spPr>
          <a:xfrm>
            <a:off x="1737360" y="2878455"/>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RLS is on for every single table</a:t>
            </a:r>
            <a:endParaRPr lang="en-US" sz="1900" dirty="0"/>
          </a:p>
        </p:txBody>
      </p:sp>
      <p:sp>
        <p:nvSpPr>
          <p:cNvPr id="9" name="Text 7"/>
          <p:cNvSpPr/>
          <p:nvPr/>
        </p:nvSpPr>
        <p:spPr>
          <a:xfrm>
            <a:off x="1737360" y="3213735"/>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Not most. Every one. And Security Advisor is clean after my last change.</a:t>
            </a:r>
            <a:endParaRPr lang="en-US" sz="1500" dirty="0"/>
          </a:p>
        </p:txBody>
      </p:sp>
      <p:sp>
        <p:nvSpPr>
          <p:cNvPr id="10" name="Text 8"/>
          <p:cNvSpPr/>
          <p:nvPr/>
        </p:nvSpPr>
        <p:spPr>
          <a:xfrm>
            <a:off x="914400" y="3772662"/>
            <a:ext cx="713232" cy="384048"/>
          </a:xfrm>
          <a:prstGeom prst="rect">
            <a:avLst/>
          </a:prstGeom>
          <a:noFill/>
          <a:ln/>
        </p:spPr>
        <p:txBody>
          <a:bodyPr wrap="square" lIns="0" tIns="0" rIns="0" bIns="0" rtlCol="0" anchor="ctr">
            <a:normAutofit/>
          </a:bodyPr>
          <a:lstStyle/>
          <a:p>
            <a:pPr indent="0" marL="0">
              <a:buNone/>
            </a:pPr>
            <a:r>
              <a:rPr lang="en-US" sz="2000" b="1" dirty="0">
                <a:solidFill>
                  <a:srgbClr val="C0392B"/>
                </a:solidFill>
                <a:latin typeface="Poppins" pitchFamily="34" charset="0"/>
                <a:ea typeface="Poppins" pitchFamily="34" charset="-122"/>
                <a:cs typeface="Poppins" pitchFamily="34" charset="-120"/>
              </a:rPr>
              <a:t>03</a:t>
            </a:r>
            <a:endParaRPr lang="en-US" sz="2000" dirty="0"/>
          </a:p>
        </p:txBody>
      </p:sp>
      <p:sp>
        <p:nvSpPr>
          <p:cNvPr id="11" name="Text 9"/>
          <p:cNvSpPr/>
          <p:nvPr/>
        </p:nvSpPr>
        <p:spPr>
          <a:xfrm>
            <a:off x="1737360" y="374523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No secret key anywhere the browser can reach</a:t>
            </a:r>
            <a:endParaRPr lang="en-US" sz="1900" dirty="0"/>
          </a:p>
        </p:txBody>
      </p:sp>
      <p:sp>
        <p:nvSpPr>
          <p:cNvPr id="12" name="Text 10"/>
          <p:cNvSpPr/>
          <p:nvPr/>
        </p:nvSpPr>
        <p:spPr>
          <a:xfrm>
            <a:off x="1737360" y="408051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And anything ever committed or deployed has been rotated, not deleted.</a:t>
            </a:r>
            <a:endParaRPr lang="en-US" sz="1500" dirty="0"/>
          </a:p>
        </p:txBody>
      </p:sp>
      <p:sp>
        <p:nvSpPr>
          <p:cNvPr id="13" name="Text 11"/>
          <p:cNvSpPr/>
          <p:nvPr/>
        </p:nvSpPr>
        <p:spPr>
          <a:xfrm>
            <a:off x="914400" y="4639437"/>
            <a:ext cx="713232" cy="384048"/>
          </a:xfrm>
          <a:prstGeom prst="rect">
            <a:avLst/>
          </a:prstGeom>
          <a:noFill/>
          <a:ln/>
        </p:spPr>
        <p:txBody>
          <a:bodyPr wrap="square" lIns="0" tIns="0" rIns="0" bIns="0" rtlCol="0" anchor="ctr">
            <a:normAutofit/>
          </a:bodyPr>
          <a:lstStyle/>
          <a:p>
            <a:pPr indent="0" marL="0">
              <a:buNone/>
            </a:pPr>
            <a:r>
              <a:rPr lang="en-US" sz="2000" b="1" dirty="0">
                <a:solidFill>
                  <a:srgbClr val="8F5E08"/>
                </a:solidFill>
                <a:latin typeface="Poppins" pitchFamily="34" charset="0"/>
                <a:ea typeface="Poppins" pitchFamily="34" charset="-122"/>
                <a:cs typeface="Poppins" pitchFamily="34" charset="-120"/>
              </a:rPr>
              <a:t>04</a:t>
            </a:r>
            <a:endParaRPr lang="en-US" sz="2000" dirty="0"/>
          </a:p>
        </p:txBody>
      </p:sp>
      <p:sp>
        <p:nvSpPr>
          <p:cNvPr id="14" name="Text 12"/>
          <p:cNvSpPr/>
          <p:nvPr/>
        </p:nvSpPr>
        <p:spPr>
          <a:xfrm>
            <a:off x="1737360" y="4612005"/>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It is gated if it only needs thirty colleagues</a:t>
            </a:r>
            <a:endParaRPr lang="en-US" sz="1900" dirty="0"/>
          </a:p>
        </p:txBody>
      </p:sp>
      <p:sp>
        <p:nvSpPr>
          <p:cNvPr id="15" name="Text 13"/>
          <p:cNvSpPr/>
          <p:nvPr/>
        </p:nvSpPr>
        <p:spPr>
          <a:xfrm>
            <a:off x="1737360" y="4947285"/>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And two-factor is on for the database, code host and hosting account.</a:t>
            </a:r>
            <a:endParaRPr lang="en-US" sz="1500" dirty="0"/>
          </a:p>
        </p:txBody>
      </p:sp>
      <p:sp>
        <p:nvSpPr>
          <p:cNvPr id="16" name="Text 14"/>
          <p:cNvSpPr/>
          <p:nvPr/>
        </p:nvSpPr>
        <p:spPr>
          <a:xfrm>
            <a:off x="914400" y="5506212"/>
            <a:ext cx="713232" cy="384048"/>
          </a:xfrm>
          <a:prstGeom prst="rect">
            <a:avLst/>
          </a:prstGeom>
          <a:noFill/>
          <a:ln/>
        </p:spPr>
        <p:txBody>
          <a:bodyPr wrap="square" lIns="0" tIns="0" rIns="0" bIns="0" rtlCol="0" anchor="ctr">
            <a:normAutofit/>
          </a:bodyPr>
          <a:lstStyle/>
          <a:p>
            <a:pPr indent="0" marL="0">
              <a:buNone/>
            </a:pPr>
            <a:r>
              <a:rPr lang="en-US" sz="2000" b="1" dirty="0">
                <a:solidFill>
                  <a:srgbClr val="00697A"/>
                </a:solidFill>
                <a:latin typeface="Poppins" pitchFamily="34" charset="0"/>
                <a:ea typeface="Poppins" pitchFamily="34" charset="-122"/>
                <a:cs typeface="Poppins" pitchFamily="34" charset="-120"/>
              </a:rPr>
              <a:t>05</a:t>
            </a:r>
            <a:endParaRPr lang="en-US" sz="2000" dirty="0"/>
          </a:p>
        </p:txBody>
      </p:sp>
      <p:sp>
        <p:nvSpPr>
          <p:cNvPr id="17" name="Text 15"/>
          <p:cNvSpPr/>
          <p:nvPr/>
        </p:nvSpPr>
        <p:spPr>
          <a:xfrm>
            <a:off x="1737360" y="547878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There is a named owner who is not only me</a:t>
            </a:r>
            <a:endParaRPr lang="en-US" sz="1900" dirty="0"/>
          </a:p>
        </p:txBody>
      </p:sp>
      <p:sp>
        <p:nvSpPr>
          <p:cNvPr id="18" name="Text 16"/>
          <p:cNvSpPr/>
          <p:nvPr/>
        </p:nvSpPr>
        <p:spPr>
          <a:xfrm>
            <a:off x="1737360" y="581406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Plus a weekly reminder so the database does not pause, and one export saved.</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914400" y="1554480"/>
            <a:ext cx="9814255" cy="2385568"/>
          </a:xfrm>
          <a:prstGeom prst="rect">
            <a:avLst/>
          </a:prstGeom>
          <a:noFill/>
          <a:ln/>
        </p:spPr>
        <p:txBody>
          <a:bodyPr wrap="square" lIns="0" tIns="0" rIns="0" bIns="0" rtlCol="0" anchor="t">
            <a:normAutofit/>
          </a:bodyPr>
          <a:lstStyle/>
          <a:p>
            <a:pPr indent="0" marL="0">
              <a:lnSpc>
                <a:spcPts val="4408"/>
              </a:lnSpc>
              <a:buNone/>
            </a:pPr>
            <a:r>
              <a:rPr lang="en-US" sz="3800" b="1" dirty="0">
                <a:solidFill>
                  <a:srgbClr val="FFFFFF"/>
                </a:solidFill>
                <a:latin typeface="Poppins" pitchFamily="34" charset="0"/>
                <a:ea typeface="Poppins" pitchFamily="34" charset="-122"/>
                <a:cs typeface="Poppins" pitchFamily="34" charset="-120"/>
              </a:rPr>
              <a:t>If you cannot explain</a:t>
            </a:r>
            <a:endParaRPr lang="en-US" sz="3800" dirty="0"/>
          </a:p>
          <a:p>
            <a:pPr indent="0" marL="0">
              <a:lnSpc>
                <a:spcPts val="4408"/>
              </a:lnSpc>
              <a:buNone/>
            </a:pPr>
            <a:r>
              <a:rPr lang="en-US" sz="3800" b="1" dirty="0">
                <a:solidFill>
                  <a:srgbClr val="FFFFFF"/>
                </a:solidFill>
                <a:latin typeface="Poppins" pitchFamily="34" charset="0"/>
                <a:ea typeface="Poppins" pitchFamily="34" charset="-122"/>
                <a:cs typeface="Poppins" pitchFamily="34" charset="-120"/>
              </a:rPr>
              <a:t>what stops a stranger from</a:t>
            </a:r>
            <a:endParaRPr lang="en-US" sz="3800" dirty="0"/>
          </a:p>
          <a:p>
            <a:pPr indent="0" marL="0">
              <a:lnSpc>
                <a:spcPts val="4408"/>
              </a:lnSpc>
              <a:buNone/>
            </a:pPr>
            <a:r>
              <a:rPr lang="en-US" sz="3800" b="1" dirty="0">
                <a:solidFill>
                  <a:srgbClr val="FFFFFF"/>
                </a:solidFill>
                <a:latin typeface="Poppins" pitchFamily="34" charset="0"/>
                <a:ea typeface="Poppins" pitchFamily="34" charset="-122"/>
                <a:cs typeface="Poppins" pitchFamily="34" charset="-120"/>
              </a:rPr>
              <a:t>reading your database,</a:t>
            </a:r>
            <a:endParaRPr lang="en-US" sz="3800" dirty="0"/>
          </a:p>
          <a:p>
            <a:pPr indent="0" marL="0">
              <a:lnSpc>
                <a:spcPts val="4408"/>
              </a:lnSpc>
              <a:buNone/>
            </a:pPr>
            <a:r>
              <a:rPr lang="en-US" sz="3800" b="1" dirty="0">
                <a:solidFill>
                  <a:srgbClr val="FFFFFF"/>
                </a:solidFill>
                <a:latin typeface="Poppins" pitchFamily="34" charset="0"/>
                <a:ea typeface="Poppins" pitchFamily="34" charset="-122"/>
                <a:cs typeface="Poppins" pitchFamily="34" charset="-120"/>
              </a:rPr>
              <a:t>it is not ready.</a:t>
            </a:r>
            <a:endParaRPr lang="en-US" sz="3800" dirty="0"/>
          </a:p>
        </p:txBody>
      </p:sp>
      <p:sp>
        <p:nvSpPr>
          <p:cNvPr id="3" name="Text 1"/>
          <p:cNvSpPr/>
          <p:nvPr/>
        </p:nvSpPr>
        <p:spPr>
          <a:xfrm>
            <a:off x="914400" y="5029200"/>
            <a:ext cx="9265615" cy="914400"/>
          </a:xfrm>
          <a:prstGeom prst="rect">
            <a:avLst/>
          </a:prstGeom>
          <a:noFill/>
          <a:ln/>
        </p:spPr>
        <p:txBody>
          <a:bodyPr wrap="square" lIns="0" tIns="0" rIns="0" bIns="0" rtlCol="0" anchor="t">
            <a:normAutofit/>
          </a:bodyPr>
          <a:lstStyle/>
          <a:p>
            <a:pPr indent="0" marL="0">
              <a:lnSpc>
                <a:spcPts val="2800"/>
              </a:lnSpc>
              <a:buNone/>
            </a:pPr>
            <a:r>
              <a:rPr lang="en-US" sz="1900" dirty="0">
                <a:solidFill>
                  <a:srgbClr val="FF6600"/>
                </a:solidFill>
                <a:latin typeface="Calibri" pitchFamily="34" charset="0"/>
                <a:ea typeface="Calibri" pitchFamily="34" charset="-122"/>
                <a:cs typeface="Calibri" pitchFamily="34" charset="-120"/>
              </a:rPr>
              <a:t>Assume everything in it becomes public tomorrow. Are you comfortable? If not, the answer is not better security. It is different data.</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xmlns:p14="http://schemas.microsoft.com/office/powerpoint/2010/main" spd="slow" p14:dur="100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McLennan Community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Your Own Tools — MCC Professional Development</dc:title>
  <dc:subject>Vibe coding, hosting, safeguards, databases and monetization</dc:subject>
  <dc:creator>Ted Gonzalez, JD/MBA</dc:creator>
  <cp:lastModifiedBy>Ted Gonzalez, JD/MBA</cp:lastModifiedBy>
  <cp:revision>1</cp:revision>
  <dcterms:created xsi:type="dcterms:W3CDTF">2026-08-04T16:45:02Z</dcterms:created>
  <dcterms:modified xsi:type="dcterms:W3CDTF">2026-08-04T16:45:02Z</dcterms:modified>
</cp:coreProperties>
</file>