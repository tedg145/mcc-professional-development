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one person what they did between 8:00 and 8:30 this morning. Whatever they say is almost certainly on slide 5. Do not open with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and early. People who are disappointed by these tools expected judgment. People who are delighted expected transcription.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arithmetic on the board using a task somebody in the room names. It is far more convincing in their numbers than in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each one. Five hands go up five times. That is the point — none of it is exotic and all of it is a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most common disappointment. People try it on thinking time, it underperforms, and they write the tools off. Redirect them to typing time and the same person becomes an advocate.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take-home. If somebody leaves with one thing, this is the one that pays for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these five on the whiteboard and leave them up. Every example after this gets labelled with one of them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idea people still have in six months. Most training treats every use as equally risky, which is both wrong and useless for making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reading it, then ask the room: how would you know? There is no good answer, and sitting in that silence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is whether the summary is a map or a replacement. Maps are wonderful. Replacements are how people end up defending something they never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rewrite one real request from their own week using all four. The improvement is large enough to feel on a single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stops people using it for the wrong things without you having to write a policy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Everybody in the room has done nine. Say it lightly — the recognition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It is a reminder, not the lesson. If the room has not done Foundations, do that first and do not compress it into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write their choice on an index card before they leave, and collect the cards. Collecting them is the entire accountability mechanism, and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 not add a tools slide after this — it deflates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B4BCC5"/>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1A2E"/>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4E5F72"/>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p:bg>
      <p:bgPr>
        <a:solidFill>
          <a:srgbClr val="003366"/>
        </a:solidFill>
      </p:bgPr>
    </p:bg>
    <p:spTree>
      <p:nvGrpSpPr>
        <p:cNvPr id="1" name=""/>
        <p:cNvGrpSpPr/>
        <p:nvPr/>
      </p:nvGrpSpPr>
      <p:grpSpPr>
        <a:xfrm>
          <a:off x="0" y="0"/>
          <a:ext cx="0" cy="0"/>
          <a:chOff x="0" y="0"/>
          <a:chExt cx="0" cy="0"/>
        </a:xfrm>
      </p:grpSpPr>
      <p:sp>
        <p:nvSpPr>
          <p:cNvPr id="2" name="Text 0"/>
          <p:cNvSpPr/>
          <p:nvPr/>
        </p:nvSpPr>
        <p:spPr>
          <a:xfrm>
            <a:off x="914400" y="6345936"/>
            <a:ext cx="6583680" cy="274320"/>
          </a:xfrm>
          <a:prstGeom prst="rect">
            <a:avLst/>
          </a:prstGeom>
          <a:noFill/>
          <a:ln/>
        </p:spPr>
        <p:txBody>
          <a:bodyPr wrap="square" lIns="0" tIns="0" rIns="0" bIns="0" rtlCol="0" anchor="ctr"/>
          <a:lstStyle/>
          <a:p>
            <a:pPr indent="0" marL="0">
              <a:buNone/>
            </a:pPr>
            <a:r>
              <a:rPr lang="en-US" sz="900" dirty="0">
                <a:solidFill>
                  <a:srgbClr val="5A82A8"/>
                </a:solidFill>
                <a:latin typeface="Calibri" pitchFamily="34" charset="0"/>
                <a:ea typeface="Calibri" pitchFamily="34" charset="-122"/>
                <a:cs typeface="Calibri" pitchFamily="34" charset="-120"/>
              </a:rPr>
              <a:t>© 2026 Ted Gonzalez, JD/MBA. All rights reserved.</a:t>
            </a:r>
            <a:endParaRPr lang="en-US" sz="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74520"/>
            <a:ext cx="10362895" cy="310896"/>
          </a:xfrm>
          <a:prstGeom prst="rect">
            <a:avLst/>
          </a:prstGeom>
          <a:noFill/>
          <a:ln/>
        </p:spPr>
        <p:txBody>
          <a:bodyPr wrap="square" lIns="0" tIns="0" rIns="0" bIns="0" rtlCol="0" anchor="ctr">
            <a:normAutofit/>
          </a:bodyPr>
          <a:lstStyle/>
          <a:p>
            <a:pPr indent="0" marL="0">
              <a:buNone/>
            </a:pPr>
            <a:r>
              <a:rPr lang="en-US" sz="1250" b="1" spc="300" kern="0" dirty="0">
                <a:solidFill>
                  <a:srgbClr val="FF6600"/>
                </a:solidFill>
                <a:latin typeface="Calibri" pitchFamily="34" charset="0"/>
                <a:ea typeface="Calibri" pitchFamily="34" charset="-122"/>
                <a:cs typeface="Calibri" pitchFamily="34" charset="-120"/>
              </a:rPr>
              <a:t>MCLENNAN COMMUNITY COLLEGE</a:t>
            </a:r>
            <a:endParaRPr lang="en-US" sz="1250" dirty="0"/>
          </a:p>
        </p:txBody>
      </p:sp>
      <p:sp>
        <p:nvSpPr>
          <p:cNvPr id="3" name="Text 1"/>
          <p:cNvSpPr/>
          <p:nvPr/>
        </p:nvSpPr>
        <p:spPr>
          <a:xfrm>
            <a:off x="914400" y="2331720"/>
            <a:ext cx="10362895" cy="1051560"/>
          </a:xfrm>
          <a:prstGeom prst="rect">
            <a:avLst/>
          </a:prstGeom>
          <a:noFill/>
          <a:ln/>
        </p:spPr>
        <p:txBody>
          <a:bodyPr wrap="square" lIns="0" tIns="0" rIns="0" bIns="0" rtlCol="0" anchor="ctr">
            <a:normAutofit/>
          </a:bodyPr>
          <a:lstStyle/>
          <a:p>
            <a:pPr indent="0" marL="0">
              <a:lnSpc>
                <a:spcPts val="6800"/>
              </a:lnSpc>
              <a:buNone/>
            </a:pPr>
            <a:r>
              <a:rPr lang="en-US" sz="6200" b="1" dirty="0">
                <a:solidFill>
                  <a:srgbClr val="FFFFFF"/>
                </a:solidFill>
                <a:latin typeface="Poppins" pitchFamily="34" charset="0"/>
                <a:ea typeface="Poppins" pitchFamily="34" charset="-122"/>
                <a:cs typeface="Poppins" pitchFamily="34" charset="-120"/>
              </a:rPr>
              <a:t>Getting Your</a:t>
            </a:r>
            <a:endParaRPr lang="en-US" sz="6200" dirty="0"/>
          </a:p>
        </p:txBody>
      </p:sp>
      <p:sp>
        <p:nvSpPr>
          <p:cNvPr id="4" name="Text 2"/>
          <p:cNvSpPr/>
          <p:nvPr/>
        </p:nvSpPr>
        <p:spPr>
          <a:xfrm>
            <a:off x="914400" y="3310128"/>
            <a:ext cx="10362895" cy="1051560"/>
          </a:xfrm>
          <a:prstGeom prst="rect">
            <a:avLst/>
          </a:prstGeom>
          <a:noFill/>
          <a:ln/>
        </p:spPr>
        <p:txBody>
          <a:bodyPr wrap="square" lIns="0" tIns="0" rIns="0" bIns="0" rtlCol="0" anchor="ctr">
            <a:normAutofit/>
          </a:bodyPr>
          <a:lstStyle/>
          <a:p>
            <a:pPr indent="0" marL="0">
              <a:lnSpc>
                <a:spcPts val="6800"/>
              </a:lnSpc>
              <a:buNone/>
            </a:pPr>
            <a:r>
              <a:rPr lang="en-US" sz="6200" b="1" dirty="0">
                <a:solidFill>
                  <a:srgbClr val="5C6E82"/>
                </a:solidFill>
                <a:latin typeface="Poppins" pitchFamily="34" charset="0"/>
                <a:ea typeface="Poppins" pitchFamily="34" charset="-122"/>
                <a:cs typeface="Poppins" pitchFamily="34" charset="-120"/>
              </a:rPr>
              <a:t>Time Back</a:t>
            </a:r>
            <a:endParaRPr lang="en-US" sz="6200" dirty="0"/>
          </a:p>
        </p:txBody>
      </p:sp>
      <p:sp>
        <p:nvSpPr>
          <p:cNvPr id="5" name="Text 3"/>
          <p:cNvSpPr/>
          <p:nvPr/>
        </p:nvSpPr>
        <p:spPr>
          <a:xfrm>
            <a:off x="914400" y="4709160"/>
            <a:ext cx="10362895" cy="365760"/>
          </a:xfrm>
          <a:prstGeom prst="rect">
            <a:avLst/>
          </a:prstGeom>
          <a:noFill/>
          <a:ln/>
        </p:spPr>
        <p:txBody>
          <a:bodyPr wrap="square" lIns="0" tIns="0" rIns="0" bIns="0" rtlCol="0" anchor="ctr">
            <a:normAutofit/>
          </a:bodyPr>
          <a:lstStyle/>
          <a:p>
            <a:pPr indent="0" marL="0">
              <a:buNone/>
            </a:pPr>
            <a:r>
              <a:rPr lang="en-US" sz="1900" dirty="0">
                <a:solidFill>
                  <a:srgbClr val="A7B7C9"/>
                </a:solidFill>
                <a:latin typeface="Calibri" pitchFamily="34" charset="0"/>
                <a:ea typeface="Calibri" pitchFamily="34" charset="-122"/>
                <a:cs typeface="Calibri" pitchFamily="34" charset="-120"/>
              </a:rPr>
              <a:t>AI for the work you actually do  ·  Applied</a:t>
            </a:r>
            <a:endParaRPr lang="en-US" sz="1900" dirty="0"/>
          </a:p>
        </p:txBody>
      </p:sp>
      <p:sp>
        <p:nvSpPr>
          <p:cNvPr id="6" name="Text 4"/>
          <p:cNvSpPr/>
          <p:nvPr/>
        </p:nvSpPr>
        <p:spPr>
          <a:xfrm>
            <a:off x="914400" y="5138928"/>
            <a:ext cx="10362895" cy="365760"/>
          </a:xfrm>
          <a:prstGeom prst="rect">
            <a:avLst/>
          </a:prstGeom>
          <a:noFill/>
          <a:ln/>
        </p:spPr>
        <p:txBody>
          <a:bodyPr wrap="square" lIns="0" tIns="0" rIns="0" bIns="0" rtlCol="0" anchor="ctr">
            <a:normAutofit/>
          </a:bodyPr>
          <a:lstStyle/>
          <a:p>
            <a:pPr indent="0" marL="0">
              <a:buNone/>
            </a:pPr>
            <a:r>
              <a:rPr lang="en-US" sz="1500" dirty="0">
                <a:solidFill>
                  <a:srgbClr val="5C6E82"/>
                </a:solidFill>
                <a:latin typeface="Calibri" pitchFamily="34" charset="0"/>
                <a:ea typeface="Calibri" pitchFamily="34" charset="-122"/>
                <a:cs typeface="Calibri" pitchFamily="34" charset="-120"/>
              </a:rPr>
              <a:t>Ted Gonzalez, JD/MBA</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14400" y="1965960"/>
            <a:ext cx="9814255" cy="1619504"/>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It will not do your job.</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It will do the typing.</a:t>
            </a:r>
            <a:endParaRPr lang="en-US" sz="5000" dirty="0"/>
          </a:p>
        </p:txBody>
      </p:sp>
      <p:sp>
        <p:nvSpPr>
          <p:cNvPr id="3" name="Text 1"/>
          <p:cNvSpPr/>
          <p:nvPr/>
        </p:nvSpPr>
        <p:spPr>
          <a:xfrm>
            <a:off x="914400" y="3896360"/>
            <a:ext cx="8716975" cy="2092960"/>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Nearly all of the time this gives back comes from one place: the gap between deciding what to say and having it written down.</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ONE</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Find the repeat</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The savings are not in hard tasks. They are in ordinary tasks you do again and again.</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WHERE THE HOURS ACTUALLY ARE</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One boring task, done often,</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beats one impressive rescue.</a:t>
            </a:r>
            <a:endParaRPr lang="en-US" sz="4000" dirty="0"/>
          </a:p>
        </p:txBody>
      </p:sp>
      <p:sp>
        <p:nvSpPr>
          <p:cNvPr id="4" name="Text 2"/>
          <p:cNvSpPr/>
          <p:nvPr/>
        </p:nvSpPr>
        <p:spPr>
          <a:xfrm>
            <a:off x="914400" y="30175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003366"/>
                </a:solidFill>
                <a:latin typeface="Calibri" pitchFamily="34" charset="0"/>
                <a:ea typeface="Calibri" pitchFamily="34" charset="-122"/>
                <a:cs typeface="Calibri" pitchFamily="34" charset="-120"/>
              </a:rPr>
              <a:t>THE TASK</a:t>
            </a:r>
            <a:endParaRPr lang="en-US" sz="1050" dirty="0"/>
          </a:p>
        </p:txBody>
      </p:sp>
      <p:sp>
        <p:nvSpPr>
          <p:cNvPr id="5" name="Text 3"/>
          <p:cNvSpPr/>
          <p:nvPr/>
        </p:nvSpPr>
        <p:spPr>
          <a:xfrm>
            <a:off x="914400" y="3419856"/>
            <a:ext cx="2213534"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25 minutes</a:t>
            </a:r>
            <a:endParaRPr lang="en-US" sz="2100" dirty="0"/>
          </a:p>
        </p:txBody>
      </p:sp>
      <p:sp>
        <p:nvSpPr>
          <p:cNvPr id="6" name="Text 4"/>
          <p:cNvSpPr/>
          <p:nvPr/>
        </p:nvSpPr>
        <p:spPr>
          <a:xfrm>
            <a:off x="914400" y="4030218"/>
            <a:ext cx="2213534" cy="182194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Drafting the same kind of email — a deadline, a room change.</a:t>
            </a:r>
            <a:endParaRPr lang="en-US" sz="1500" dirty="0"/>
          </a:p>
        </p:txBody>
      </p:sp>
      <p:sp>
        <p:nvSpPr>
          <p:cNvPr id="7" name="Text 5"/>
          <p:cNvSpPr/>
          <p:nvPr/>
        </p:nvSpPr>
        <p:spPr>
          <a:xfrm>
            <a:off x="3630854" y="30175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THE FREQUENCY</a:t>
            </a:r>
            <a:endParaRPr lang="en-US" sz="1050" dirty="0"/>
          </a:p>
        </p:txBody>
      </p:sp>
      <p:sp>
        <p:nvSpPr>
          <p:cNvPr id="8" name="Text 6"/>
          <p:cNvSpPr/>
          <p:nvPr/>
        </p:nvSpPr>
        <p:spPr>
          <a:xfrm>
            <a:off x="3630854" y="3419856"/>
            <a:ext cx="2213534"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4 a week</a:t>
            </a:r>
            <a:endParaRPr lang="en-US" sz="2100" dirty="0"/>
          </a:p>
        </p:txBody>
      </p:sp>
      <p:sp>
        <p:nvSpPr>
          <p:cNvPr id="9" name="Text 7"/>
          <p:cNvSpPr/>
          <p:nvPr/>
        </p:nvSpPr>
        <p:spPr>
          <a:xfrm>
            <a:off x="3630854" y="4030218"/>
            <a:ext cx="2213534" cy="182194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Not remarkable. Most people here do something like it more often.</a:t>
            </a:r>
            <a:endParaRPr lang="en-US" sz="1500" dirty="0"/>
          </a:p>
        </p:txBody>
      </p:sp>
      <p:sp>
        <p:nvSpPr>
          <p:cNvPr id="10" name="Text 8"/>
          <p:cNvSpPr/>
          <p:nvPr/>
        </p:nvSpPr>
        <p:spPr>
          <a:xfrm>
            <a:off x="6347308" y="30175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B34A00"/>
                </a:solidFill>
                <a:latin typeface="Calibri" pitchFamily="34" charset="0"/>
                <a:ea typeface="Calibri" pitchFamily="34" charset="-122"/>
                <a:cs typeface="Calibri" pitchFamily="34" charset="-120"/>
              </a:rPr>
              <a:t>ACROSS A YEAR</a:t>
            </a:r>
            <a:endParaRPr lang="en-US" sz="1050" dirty="0"/>
          </a:p>
        </p:txBody>
      </p:sp>
      <p:sp>
        <p:nvSpPr>
          <p:cNvPr id="11" name="Text 9"/>
          <p:cNvSpPr/>
          <p:nvPr/>
        </p:nvSpPr>
        <p:spPr>
          <a:xfrm>
            <a:off x="6347308" y="3419856"/>
            <a:ext cx="2213534"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75 hours</a:t>
            </a:r>
            <a:endParaRPr lang="en-US" sz="2100" dirty="0"/>
          </a:p>
        </p:txBody>
      </p:sp>
      <p:sp>
        <p:nvSpPr>
          <p:cNvPr id="12" name="Text 10"/>
          <p:cNvSpPr/>
          <p:nvPr/>
        </p:nvSpPr>
        <p:spPr>
          <a:xfrm>
            <a:off x="6347308" y="4030218"/>
            <a:ext cx="2213534" cy="182194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Forty-five working weeks. Nearly two full working weeks of your life.</a:t>
            </a:r>
            <a:endParaRPr lang="en-US" sz="1500" dirty="0"/>
          </a:p>
        </p:txBody>
      </p:sp>
      <p:sp>
        <p:nvSpPr>
          <p:cNvPr id="13" name="Text 11"/>
          <p:cNvSpPr/>
          <p:nvPr/>
        </p:nvSpPr>
        <p:spPr>
          <a:xfrm>
            <a:off x="9063761" y="301752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CUT IT TO 8 MINUTES</a:t>
            </a:r>
            <a:endParaRPr lang="en-US" sz="1050" dirty="0"/>
          </a:p>
        </p:txBody>
      </p:sp>
      <p:sp>
        <p:nvSpPr>
          <p:cNvPr id="14" name="Text 12"/>
          <p:cNvSpPr/>
          <p:nvPr/>
        </p:nvSpPr>
        <p:spPr>
          <a:xfrm>
            <a:off x="9063761" y="3419856"/>
            <a:ext cx="2213534" cy="409194"/>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51 hours back</a:t>
            </a:r>
            <a:endParaRPr lang="en-US" sz="2100" dirty="0"/>
          </a:p>
        </p:txBody>
      </p:sp>
      <p:sp>
        <p:nvSpPr>
          <p:cNvPr id="15" name="Text 13"/>
          <p:cNvSpPr/>
          <p:nvPr/>
        </p:nvSpPr>
        <p:spPr>
          <a:xfrm>
            <a:off x="9063761" y="4030218"/>
            <a:ext cx="2213534" cy="1821942"/>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Not by being clever once. By being unremarkable, repeatedly.</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HONEST INVENTORY</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What actually eats a week</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in a college office.</a:t>
            </a:r>
            <a:endParaRPr lang="en-US" sz="4000" dirty="0"/>
          </a:p>
        </p:txBody>
      </p:sp>
      <p:sp>
        <p:nvSpPr>
          <p:cNvPr id="4" name="Text 2"/>
          <p:cNvSpPr/>
          <p:nvPr/>
        </p:nvSpPr>
        <p:spPr>
          <a:xfrm>
            <a:off x="914400" y="2423160"/>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395728"/>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Writing the same thing again, slightly differently</a:t>
            </a:r>
            <a:endParaRPr lang="en-US" sz="1700" dirty="0"/>
          </a:p>
        </p:txBody>
      </p:sp>
      <p:sp>
        <p:nvSpPr>
          <p:cNvPr id="6" name="Text 4"/>
          <p:cNvSpPr/>
          <p:nvPr/>
        </p:nvSpPr>
        <p:spPr>
          <a:xfrm>
            <a:off x="1737360" y="2700528"/>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Deadline notices. Room changes. The twelfth withdrawal explanation.</a:t>
            </a:r>
            <a:endParaRPr lang="en-US" sz="1500" dirty="0"/>
          </a:p>
        </p:txBody>
      </p:sp>
      <p:sp>
        <p:nvSpPr>
          <p:cNvPr id="7" name="Text 5"/>
          <p:cNvSpPr/>
          <p:nvPr/>
        </p:nvSpPr>
        <p:spPr>
          <a:xfrm>
            <a:off x="914400" y="3201543"/>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174111"/>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Turning one document into another document</a:t>
            </a:r>
            <a:endParaRPr lang="en-US" sz="1700" dirty="0"/>
          </a:p>
        </p:txBody>
      </p:sp>
      <p:sp>
        <p:nvSpPr>
          <p:cNvPr id="9" name="Text 7"/>
          <p:cNvSpPr/>
          <p:nvPr/>
        </p:nvSpPr>
        <p:spPr>
          <a:xfrm>
            <a:off x="1737360" y="3478911"/>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Notes into minutes. A policy into an FAQ. A report into a one-pager.</a:t>
            </a:r>
            <a:endParaRPr lang="en-US" sz="1500" dirty="0"/>
          </a:p>
        </p:txBody>
      </p:sp>
      <p:sp>
        <p:nvSpPr>
          <p:cNvPr id="10" name="Text 8"/>
          <p:cNvSpPr/>
          <p:nvPr/>
        </p:nvSpPr>
        <p:spPr>
          <a:xfrm>
            <a:off x="914400" y="3979926"/>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3952494"/>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Pulling facts out of a pile</a:t>
            </a:r>
            <a:endParaRPr lang="en-US" sz="1700" dirty="0"/>
          </a:p>
        </p:txBody>
      </p:sp>
      <p:sp>
        <p:nvSpPr>
          <p:cNvPr id="12" name="Text 10"/>
          <p:cNvSpPr/>
          <p:nvPr/>
        </p:nvSpPr>
        <p:spPr>
          <a:xfrm>
            <a:off x="1737360" y="4257294"/>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Dates out of a thread. Numbers out of a PDF that used to be a sheet.</a:t>
            </a:r>
            <a:endParaRPr lang="en-US" sz="1500" dirty="0"/>
          </a:p>
        </p:txBody>
      </p:sp>
      <p:sp>
        <p:nvSpPr>
          <p:cNvPr id="13" name="Text 11"/>
          <p:cNvSpPr/>
          <p:nvPr/>
        </p:nvSpPr>
        <p:spPr>
          <a:xfrm>
            <a:off x="914400" y="4758309"/>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4730877"/>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Reading something long to find out if it matters</a:t>
            </a:r>
            <a:endParaRPr lang="en-US" sz="1700" dirty="0"/>
          </a:p>
        </p:txBody>
      </p:sp>
      <p:sp>
        <p:nvSpPr>
          <p:cNvPr id="15" name="Text 13"/>
          <p:cNvSpPr/>
          <p:nvPr/>
        </p:nvSpPr>
        <p:spPr>
          <a:xfrm>
            <a:off x="1737360" y="5035677"/>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Board packets. Forty pages in which two sentences concern you.</a:t>
            </a:r>
            <a:endParaRPr lang="en-US" sz="1500" dirty="0"/>
          </a:p>
        </p:txBody>
      </p:sp>
      <p:sp>
        <p:nvSpPr>
          <p:cNvPr id="16" name="Text 14"/>
          <p:cNvSpPr/>
          <p:nvPr/>
        </p:nvSpPr>
        <p:spPr>
          <a:xfrm>
            <a:off x="914400" y="553669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05</a:t>
            </a:r>
            <a:endParaRPr lang="en-US" sz="2000" dirty="0"/>
          </a:p>
        </p:txBody>
      </p:sp>
      <p:sp>
        <p:nvSpPr>
          <p:cNvPr id="17" name="Text 15"/>
          <p:cNvSpPr/>
          <p:nvPr/>
        </p:nvSpPr>
        <p:spPr>
          <a:xfrm>
            <a:off x="1737360" y="5509260"/>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Checking whether two things agree</a:t>
            </a:r>
            <a:endParaRPr lang="en-US" sz="1700" dirty="0"/>
          </a:p>
        </p:txBody>
      </p:sp>
      <p:sp>
        <p:nvSpPr>
          <p:cNvPr id="18" name="Text 16"/>
          <p:cNvSpPr/>
          <p:nvPr/>
        </p:nvSpPr>
        <p:spPr>
          <a:xfrm>
            <a:off x="1737360" y="581406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Does the catalogue match the website. Is every field complete.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NOT ALL OF YOUR TIME IS THE SAME</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Three kinds of time.</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Only two are in play.</a:t>
            </a:r>
            <a:endParaRPr lang="en-US" sz="4000" dirty="0"/>
          </a:p>
        </p:txBody>
      </p:sp>
      <p:sp>
        <p:nvSpPr>
          <p:cNvPr id="4" name="Text 2"/>
          <p:cNvSpPr/>
          <p:nvPr/>
        </p:nvSpPr>
        <p:spPr>
          <a:xfrm>
            <a:off x="914400" y="292608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8DA7"/>
                </a:solidFill>
                <a:latin typeface="Calibri" pitchFamily="34" charset="0"/>
                <a:ea typeface="Calibri" pitchFamily="34" charset="-122"/>
                <a:cs typeface="Calibri" pitchFamily="34" charset="-120"/>
              </a:rPr>
              <a:t>THINKING TIME</a:t>
            </a:r>
            <a:endParaRPr lang="en-US" sz="1050" dirty="0"/>
          </a:p>
        </p:txBody>
      </p:sp>
      <p:sp>
        <p:nvSpPr>
          <p:cNvPr id="5" name="Text 3"/>
          <p:cNvSpPr/>
          <p:nvPr/>
        </p:nvSpPr>
        <p:spPr>
          <a:xfrm>
            <a:off x="914400" y="3328416"/>
            <a:ext cx="3119018" cy="425196"/>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FFFFFF"/>
                </a:solidFill>
                <a:latin typeface="Poppins" pitchFamily="34" charset="0"/>
                <a:ea typeface="Poppins" pitchFamily="34" charset="-122"/>
                <a:cs typeface="Poppins" pitchFamily="34" charset="-120"/>
              </a:rPr>
              <a:t>Yours</a:t>
            </a:r>
            <a:endParaRPr lang="en-US" sz="2200" dirty="0"/>
          </a:p>
        </p:txBody>
      </p:sp>
      <p:sp>
        <p:nvSpPr>
          <p:cNvPr id="6" name="Text 4"/>
          <p:cNvSpPr/>
          <p:nvPr/>
        </p:nvSpPr>
        <p:spPr>
          <a:xfrm>
            <a:off x="914400"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Deciding what should happen. Judging a hard case. Nothing here helps.</a:t>
            </a:r>
            <a:endParaRPr lang="en-US" sz="1500" dirty="0"/>
          </a:p>
        </p:txBody>
      </p:sp>
      <p:sp>
        <p:nvSpPr>
          <p:cNvPr id="7" name="Text 5"/>
          <p:cNvSpPr/>
          <p:nvPr/>
        </p:nvSpPr>
        <p:spPr>
          <a:xfrm>
            <a:off x="4536338" y="292608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FF6600"/>
                </a:solidFill>
                <a:latin typeface="Calibri" pitchFamily="34" charset="0"/>
                <a:ea typeface="Calibri" pitchFamily="34" charset="-122"/>
                <a:cs typeface="Calibri" pitchFamily="34" charset="-120"/>
              </a:rPr>
              <a:t>TYPING TIME</a:t>
            </a:r>
            <a:endParaRPr lang="en-US" sz="1050" dirty="0"/>
          </a:p>
        </p:txBody>
      </p:sp>
      <p:sp>
        <p:nvSpPr>
          <p:cNvPr id="8" name="Text 6"/>
          <p:cNvSpPr/>
          <p:nvPr/>
        </p:nvSpPr>
        <p:spPr>
          <a:xfrm>
            <a:off x="4536338" y="3328416"/>
            <a:ext cx="3119018" cy="425196"/>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FFFFFF"/>
                </a:solidFill>
                <a:latin typeface="Poppins" pitchFamily="34" charset="0"/>
                <a:ea typeface="Poppins" pitchFamily="34" charset="-122"/>
                <a:cs typeface="Poppins" pitchFamily="34" charset="-120"/>
              </a:rPr>
              <a:t>Very much in play</a:t>
            </a:r>
            <a:endParaRPr lang="en-US" sz="2200" dirty="0"/>
          </a:p>
        </p:txBody>
      </p:sp>
      <p:sp>
        <p:nvSpPr>
          <p:cNvPr id="9" name="Text 7"/>
          <p:cNvSpPr/>
          <p:nvPr/>
        </p:nvSpPr>
        <p:spPr>
          <a:xfrm>
            <a:off x="4536338"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Getting a decision you already made into words. Nearly all the savings live here.</a:t>
            </a:r>
            <a:endParaRPr lang="en-US" sz="1500" dirty="0"/>
          </a:p>
        </p:txBody>
      </p:sp>
      <p:sp>
        <p:nvSpPr>
          <p:cNvPr id="10" name="Text 8"/>
          <p:cNvSpPr/>
          <p:nvPr/>
        </p:nvSpPr>
        <p:spPr>
          <a:xfrm>
            <a:off x="8158277" y="292608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F9DD56"/>
                </a:solidFill>
                <a:latin typeface="Calibri" pitchFamily="34" charset="0"/>
                <a:ea typeface="Calibri" pitchFamily="34" charset="-122"/>
                <a:cs typeface="Calibri" pitchFamily="34" charset="-120"/>
              </a:rPr>
              <a:t>HUNTING TIME</a:t>
            </a:r>
            <a:endParaRPr lang="en-US" sz="1050" dirty="0"/>
          </a:p>
        </p:txBody>
      </p:sp>
      <p:sp>
        <p:nvSpPr>
          <p:cNvPr id="11" name="Text 9"/>
          <p:cNvSpPr/>
          <p:nvPr/>
        </p:nvSpPr>
        <p:spPr>
          <a:xfrm>
            <a:off x="8158277" y="3328416"/>
            <a:ext cx="3119018" cy="425196"/>
          </a:xfrm>
          <a:prstGeom prst="rect">
            <a:avLst/>
          </a:prstGeom>
          <a:noFill/>
          <a:ln/>
        </p:spPr>
        <p:txBody>
          <a:bodyPr wrap="square" lIns="0" tIns="0" rIns="0" bIns="0" rtlCol="0" anchor="t">
            <a:normAutofit/>
          </a:bodyPr>
          <a:lstStyle/>
          <a:p>
            <a:pPr indent="0" marL="0">
              <a:lnSpc>
                <a:spcPts val="2772"/>
              </a:lnSpc>
              <a:buNone/>
            </a:pPr>
            <a:r>
              <a:rPr lang="en-US" sz="2200" b="1" dirty="0">
                <a:solidFill>
                  <a:srgbClr val="FFFFFF"/>
                </a:solidFill>
                <a:latin typeface="Poppins" pitchFamily="34" charset="0"/>
                <a:ea typeface="Poppins" pitchFamily="34" charset="-122"/>
                <a:cs typeface="Poppins" pitchFamily="34" charset="-120"/>
              </a:rPr>
              <a:t>Conditionally</a:t>
            </a:r>
            <a:endParaRPr lang="en-US" sz="2200" dirty="0"/>
          </a:p>
        </p:txBody>
      </p:sp>
      <p:sp>
        <p:nvSpPr>
          <p:cNvPr id="12" name="Text 10"/>
          <p:cNvSpPr/>
          <p:nvPr/>
        </p:nvSpPr>
        <p:spPr>
          <a:xfrm>
            <a:off x="8158277" y="3954780"/>
            <a:ext cx="3119018" cy="189738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Finding the thing. Works only when you hand it the pile to search.</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A TWENTY-MINUTE EXERCISE</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How to find yours.</a:t>
            </a:r>
            <a:endParaRPr lang="en-US" sz="4000" dirty="0"/>
          </a:p>
        </p:txBody>
      </p:sp>
      <p:sp>
        <p:nvSpPr>
          <p:cNvPr id="4" name="Text 2"/>
          <p:cNvSpPr/>
          <p:nvPr/>
        </p:nvSpPr>
        <p:spPr>
          <a:xfrm>
            <a:off x="914400" y="2569464"/>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542032"/>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Open last week's sent folder</a:t>
            </a:r>
            <a:endParaRPr lang="en-US" sz="1900" dirty="0"/>
          </a:p>
        </p:txBody>
      </p:sp>
      <p:sp>
        <p:nvSpPr>
          <p:cNvPr id="6" name="Text 4"/>
          <p:cNvSpPr/>
          <p:nvPr/>
        </p:nvSpPr>
        <p:spPr>
          <a:xfrm>
            <a:off x="1737360" y="2877312"/>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Not your calendar. Sent items are sorted by what you actually did.</a:t>
            </a:r>
            <a:endParaRPr lang="en-US" sz="1500" dirty="0"/>
          </a:p>
        </p:txBody>
      </p:sp>
      <p:sp>
        <p:nvSpPr>
          <p:cNvPr id="7" name="Text 5"/>
          <p:cNvSpPr/>
          <p:nvPr/>
        </p:nvSpPr>
        <p:spPr>
          <a:xfrm>
            <a:off x="914400" y="3487420"/>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459988"/>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Find anything you have written more than twice</a:t>
            </a:r>
            <a:endParaRPr lang="en-US" sz="1900" dirty="0"/>
          </a:p>
        </p:txBody>
      </p:sp>
      <p:sp>
        <p:nvSpPr>
          <p:cNvPr id="9" name="Text 7"/>
          <p:cNvSpPr/>
          <p:nvPr/>
        </p:nvSpPr>
        <p:spPr>
          <a:xfrm>
            <a:off x="1737360" y="3795268"/>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Same shape, different names and dates. Usually more than you expect.</a:t>
            </a:r>
            <a:endParaRPr lang="en-US" sz="1500" dirty="0"/>
          </a:p>
        </p:txBody>
      </p:sp>
      <p:sp>
        <p:nvSpPr>
          <p:cNvPr id="10" name="Text 8"/>
          <p:cNvSpPr/>
          <p:nvPr/>
        </p:nvSpPr>
        <p:spPr>
          <a:xfrm>
            <a:off x="914400" y="4405376"/>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377944"/>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Write down how long it takes and how often</a:t>
            </a:r>
            <a:endParaRPr lang="en-US" sz="1900" dirty="0"/>
          </a:p>
        </p:txBody>
      </p:sp>
      <p:sp>
        <p:nvSpPr>
          <p:cNvPr id="12" name="Text 10"/>
          <p:cNvSpPr/>
          <p:nvPr/>
        </p:nvSpPr>
        <p:spPr>
          <a:xfrm>
            <a:off x="1737360" y="4713224"/>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Estimate honestly, then multiply. The number keeps this on your calendar.</a:t>
            </a:r>
            <a:endParaRPr lang="en-US" sz="1500" dirty="0"/>
          </a:p>
        </p:txBody>
      </p:sp>
      <p:sp>
        <p:nvSpPr>
          <p:cNvPr id="13" name="Text 11"/>
          <p:cNvSpPr/>
          <p:nvPr/>
        </p:nvSpPr>
        <p:spPr>
          <a:xfrm>
            <a:off x="914400" y="532333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29590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Pick exactly one</a:t>
            </a:r>
            <a:endParaRPr lang="en-US" sz="1900" dirty="0"/>
          </a:p>
        </p:txBody>
      </p:sp>
      <p:sp>
        <p:nvSpPr>
          <p:cNvPr id="15" name="Text 13"/>
          <p:cNvSpPr/>
          <p:nvPr/>
        </p:nvSpPr>
        <p:spPr>
          <a:xfrm>
            <a:off x="1737360" y="563118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most frequent, not the most annoying. Rare tasks do not repay setup.</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14400" y="1783080"/>
            <a:ext cx="9814255" cy="2179320"/>
          </a:xfrm>
          <a:prstGeom prst="rect">
            <a:avLst/>
          </a:prstGeom>
          <a:noFill/>
          <a:ln/>
        </p:spPr>
        <p:txBody>
          <a:bodyPr wrap="square" lIns="0" tIns="0" rIns="0" bIns="0" rtlCol="0" anchor="t">
            <a:normAutofit/>
          </a:bodyPr>
          <a:lstStyle/>
          <a:p>
            <a:pPr indent="0" marL="0">
              <a:lnSpc>
                <a:spcPts val="5336"/>
              </a:lnSpc>
              <a:buNone/>
            </a:pPr>
            <a:r>
              <a:rPr lang="en-US" sz="4600" b="1" dirty="0">
                <a:solidFill>
                  <a:srgbClr val="FFFFFF"/>
                </a:solidFill>
                <a:latin typeface="Poppins" pitchFamily="34" charset="0"/>
                <a:ea typeface="Poppins" pitchFamily="34" charset="-122"/>
                <a:cs typeface="Poppins" pitchFamily="34" charset="-120"/>
              </a:rPr>
              <a:t>Almost everything you</a:t>
            </a:r>
            <a:endParaRPr lang="en-US" sz="4600" dirty="0"/>
          </a:p>
          <a:p>
            <a:pPr indent="0" marL="0">
              <a:lnSpc>
                <a:spcPts val="5336"/>
              </a:lnSpc>
              <a:buNone/>
            </a:pPr>
            <a:r>
              <a:rPr lang="en-US" sz="4600" b="1" dirty="0">
                <a:solidFill>
                  <a:srgbClr val="FFFFFF"/>
                </a:solidFill>
                <a:latin typeface="Poppins" pitchFamily="34" charset="0"/>
                <a:ea typeface="Poppins" pitchFamily="34" charset="-122"/>
                <a:cs typeface="Poppins" pitchFamily="34" charset="-120"/>
              </a:rPr>
              <a:t>hand it is one of</a:t>
            </a:r>
            <a:endParaRPr lang="en-US" sz="4600" dirty="0"/>
          </a:p>
          <a:p>
            <a:pPr indent="0" marL="0">
              <a:lnSpc>
                <a:spcPts val="5336"/>
              </a:lnSpc>
              <a:buNone/>
            </a:pPr>
            <a:r>
              <a:rPr lang="en-US" sz="4600" b="1" dirty="0">
                <a:solidFill>
                  <a:srgbClr val="FFFFFF"/>
                </a:solidFill>
                <a:latin typeface="Poppins" pitchFamily="34" charset="0"/>
                <a:ea typeface="Poppins" pitchFamily="34" charset="-122"/>
                <a:cs typeface="Poppins" pitchFamily="34" charset="-120"/>
              </a:rPr>
              <a:t>five shapes.</a:t>
            </a:r>
            <a:endParaRPr lang="en-US" sz="4600" dirty="0"/>
          </a:p>
        </p:txBody>
      </p:sp>
      <p:sp>
        <p:nvSpPr>
          <p:cNvPr id="3" name="Text 1"/>
          <p:cNvSpPr/>
          <p:nvPr/>
        </p:nvSpPr>
        <p:spPr>
          <a:xfrm>
            <a:off x="914400" y="4273296"/>
            <a:ext cx="8716975" cy="1716024"/>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Learn the shapes and you stop needing a new prompt for every occasion.</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TWO</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The five shapes</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What each is good for — and which one will quietly hurt you.</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THE WHOLE TAXONOMY</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Five patterns.</a:t>
            </a:r>
            <a:endParaRPr lang="en-US" sz="4000" dirty="0"/>
          </a:p>
        </p:txBody>
      </p:sp>
      <p:sp>
        <p:nvSpPr>
          <p:cNvPr id="4" name="Text 2"/>
          <p:cNvSpPr/>
          <p:nvPr/>
        </p:nvSpPr>
        <p:spPr>
          <a:xfrm>
            <a:off x="914400" y="2423160"/>
            <a:ext cx="713232" cy="384048"/>
          </a:xfrm>
          <a:prstGeom prst="rect">
            <a:avLst/>
          </a:prstGeom>
          <a:noFill/>
          <a:ln/>
        </p:spPr>
        <p:txBody>
          <a:bodyPr wrap="square" lIns="0" tIns="0" rIns="0" bIns="0" rtlCol="0" anchor="ctr">
            <a:normAutofit/>
          </a:bodyPr>
          <a:lstStyle/>
          <a:p>
            <a:pPr indent="0" marL="0">
              <a:buNone/>
            </a:pPr>
            <a:r>
              <a:rPr lang="en-US" sz="2000" b="1" dirty="0">
                <a:solidFill>
                  <a:srgbClr val="003366"/>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395728"/>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DRAFT — a first version of something you would have written</a:t>
            </a:r>
            <a:endParaRPr lang="en-US" sz="1700" dirty="0"/>
          </a:p>
        </p:txBody>
      </p:sp>
      <p:sp>
        <p:nvSpPr>
          <p:cNvPr id="6" name="Text 4"/>
          <p:cNvSpPr/>
          <p:nvPr/>
        </p:nvSpPr>
        <p:spPr>
          <a:xfrm>
            <a:off x="1737360" y="2700528"/>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reminder email. The job posting. The agenda.</a:t>
            </a:r>
            <a:endParaRPr lang="en-US" sz="1500" dirty="0"/>
          </a:p>
        </p:txBody>
      </p:sp>
      <p:sp>
        <p:nvSpPr>
          <p:cNvPr id="7" name="Text 5"/>
          <p:cNvSpPr/>
          <p:nvPr/>
        </p:nvSpPr>
        <p:spPr>
          <a:xfrm>
            <a:off x="914400" y="3201543"/>
            <a:ext cx="713232" cy="384048"/>
          </a:xfrm>
          <a:prstGeom prst="rect">
            <a:avLst/>
          </a:prstGeom>
          <a:noFill/>
          <a:ln/>
        </p:spPr>
        <p:txBody>
          <a:bodyPr wrap="square" lIns="0" tIns="0" rIns="0" bIns="0" rtlCol="0" anchor="ctr">
            <a:normAutofit/>
          </a:bodyPr>
          <a:lstStyle/>
          <a:p>
            <a:pPr indent="0" marL="0">
              <a:buNone/>
            </a:pPr>
            <a:r>
              <a:rPr lang="en-US" sz="2000" b="1" dirty="0">
                <a:solidFill>
                  <a:srgbClr val="00697A"/>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174111"/>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TRANSFORM — same content, different form</a:t>
            </a:r>
            <a:endParaRPr lang="en-US" sz="1700" dirty="0"/>
          </a:p>
        </p:txBody>
      </p:sp>
      <p:sp>
        <p:nvSpPr>
          <p:cNvPr id="9" name="Text 7"/>
          <p:cNvSpPr/>
          <p:nvPr/>
        </p:nvSpPr>
        <p:spPr>
          <a:xfrm>
            <a:off x="1737360" y="3478911"/>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Notes into minutes. Policy into plain language. English into Spanish.</a:t>
            </a:r>
            <a:endParaRPr lang="en-US" sz="1500" dirty="0"/>
          </a:p>
        </p:txBody>
      </p:sp>
      <p:sp>
        <p:nvSpPr>
          <p:cNvPr id="10" name="Text 8"/>
          <p:cNvSpPr/>
          <p:nvPr/>
        </p:nvSpPr>
        <p:spPr>
          <a:xfrm>
            <a:off x="914400" y="3979926"/>
            <a:ext cx="713232" cy="384048"/>
          </a:xfrm>
          <a:prstGeom prst="rect">
            <a:avLst/>
          </a:prstGeom>
          <a:noFill/>
          <a:ln/>
        </p:spPr>
        <p:txBody>
          <a:bodyPr wrap="square" lIns="0" tIns="0" rIns="0" bIns="0" rtlCol="0" anchor="ctr">
            <a:normAutofit/>
          </a:bodyPr>
          <a:lstStyle/>
          <a:p>
            <a:pPr indent="0" marL="0">
              <a:buNone/>
            </a:pPr>
            <a:r>
              <a:rPr lang="en-US" sz="2000" b="1" dirty="0">
                <a:solidFill>
                  <a:srgbClr val="1A7F4B"/>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3952494"/>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EXTRACT — pull structure out of mess</a:t>
            </a:r>
            <a:endParaRPr lang="en-US" sz="1700" dirty="0"/>
          </a:p>
        </p:txBody>
      </p:sp>
      <p:sp>
        <p:nvSpPr>
          <p:cNvPr id="12" name="Text 10"/>
          <p:cNvSpPr/>
          <p:nvPr/>
        </p:nvSpPr>
        <p:spPr>
          <a:xfrm>
            <a:off x="1737360" y="4257294"/>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Dates, names and dollar figures out of documents, into a table.</a:t>
            </a:r>
            <a:endParaRPr lang="en-US" sz="1500" dirty="0"/>
          </a:p>
        </p:txBody>
      </p:sp>
      <p:sp>
        <p:nvSpPr>
          <p:cNvPr id="13" name="Text 11"/>
          <p:cNvSpPr/>
          <p:nvPr/>
        </p:nvSpPr>
        <p:spPr>
          <a:xfrm>
            <a:off x="914400" y="4758309"/>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4730877"/>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SUMMARIZE — long into short</a:t>
            </a:r>
            <a:endParaRPr lang="en-US" sz="1700" dirty="0"/>
          </a:p>
        </p:txBody>
      </p:sp>
      <p:sp>
        <p:nvSpPr>
          <p:cNvPr id="15" name="Text 13"/>
          <p:cNvSpPr/>
          <p:nvPr/>
        </p:nvSpPr>
        <p:spPr>
          <a:xfrm>
            <a:off x="1737360" y="5035677"/>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The board packet. The thread with forty replies you were added to yesterday.</a:t>
            </a:r>
            <a:endParaRPr lang="en-US" sz="1500" dirty="0"/>
          </a:p>
        </p:txBody>
      </p:sp>
      <p:sp>
        <p:nvSpPr>
          <p:cNvPr id="16" name="Text 14"/>
          <p:cNvSpPr/>
          <p:nvPr/>
        </p:nvSpPr>
        <p:spPr>
          <a:xfrm>
            <a:off x="914400" y="553669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05</a:t>
            </a:r>
            <a:endParaRPr lang="en-US" sz="2000" dirty="0"/>
          </a:p>
        </p:txBody>
      </p:sp>
      <p:sp>
        <p:nvSpPr>
          <p:cNvPr id="17" name="Text 15"/>
          <p:cNvSpPr/>
          <p:nvPr/>
        </p:nvSpPr>
        <p:spPr>
          <a:xfrm>
            <a:off x="1737360" y="5509260"/>
            <a:ext cx="9539935" cy="304800"/>
          </a:xfrm>
          <a:prstGeom prst="rect">
            <a:avLst/>
          </a:prstGeom>
          <a:noFill/>
          <a:ln/>
        </p:spPr>
        <p:txBody>
          <a:bodyPr wrap="square" lIns="0" tIns="0" rIns="0" bIns="0" rtlCol="0" anchor="t">
            <a:normAutofit/>
          </a:bodyPr>
          <a:lstStyle/>
          <a:p>
            <a:pPr indent="0" marL="0">
              <a:lnSpc>
                <a:spcPts val="2040"/>
              </a:lnSpc>
              <a:buNone/>
            </a:pPr>
            <a:r>
              <a:rPr lang="en-US" sz="1700" b="1" dirty="0">
                <a:solidFill>
                  <a:srgbClr val="003366"/>
                </a:solidFill>
                <a:latin typeface="Poppins" pitchFamily="34" charset="0"/>
                <a:ea typeface="Poppins" pitchFamily="34" charset="-122"/>
                <a:cs typeface="Poppins" pitchFamily="34" charset="-120"/>
              </a:rPr>
              <a:t>CHECK — find what is missing or inconsistent</a:t>
            </a:r>
            <a:endParaRPr lang="en-US" sz="1700" dirty="0"/>
          </a:p>
        </p:txBody>
      </p:sp>
      <p:sp>
        <p:nvSpPr>
          <p:cNvPr id="18" name="Text 16"/>
          <p:cNvSpPr/>
          <p:nvPr/>
        </p:nvSpPr>
        <p:spPr>
          <a:xfrm>
            <a:off x="1737360" y="581406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Does this contradict that. Did we answer all four questions they asked.</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MOST USEFUL IDEA IN THIS SESSION</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The risk is a property of</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the pattern — not the tool.</a:t>
            </a:r>
            <a:endParaRPr lang="en-US" sz="4000" dirty="0"/>
          </a:p>
        </p:txBody>
      </p:sp>
      <p:sp>
        <p:nvSpPr>
          <p:cNvPr id="4" name="Text 2"/>
          <p:cNvSpPr/>
          <p:nvPr/>
        </p:nvSpPr>
        <p:spPr>
          <a:xfrm>
            <a:off x="914400" y="2852928"/>
            <a:ext cx="9265615" cy="411480"/>
          </a:xfrm>
          <a:prstGeom prst="rect">
            <a:avLst/>
          </a:prstGeom>
          <a:noFill/>
          <a:ln/>
        </p:spPr>
        <p:txBody>
          <a:bodyPr wrap="square" lIns="0" tIns="0" rIns="0" bIns="0" rtlCol="0" anchor="ctr">
            <a:normAutofit/>
          </a:bodyPr>
          <a:lstStyle/>
          <a:p>
            <a:pPr indent="0" marL="0">
              <a:buNone/>
            </a:pPr>
            <a:r>
              <a:rPr lang="en-US" sz="1900" dirty="0">
                <a:solidFill>
                  <a:srgbClr val="A7B7C9"/>
                </a:solidFill>
                <a:latin typeface="Calibri" pitchFamily="34" charset="0"/>
                <a:ea typeface="Calibri" pitchFamily="34" charset="-122"/>
                <a:cs typeface="Calibri" pitchFamily="34" charset="-120"/>
              </a:rPr>
              <a:t>The same model, on the same day, is safe for one of these and dangerous for another.</a:t>
            </a:r>
            <a:endParaRPr lang="en-US" sz="1900" dirty="0"/>
          </a:p>
        </p:txBody>
      </p:sp>
      <p:sp>
        <p:nvSpPr>
          <p:cNvPr id="5" name="Text 3"/>
          <p:cNvSpPr/>
          <p:nvPr/>
        </p:nvSpPr>
        <p:spPr>
          <a:xfrm>
            <a:off x="914400" y="342900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DRAFT</a:t>
            </a:r>
            <a:endParaRPr lang="en-US" sz="1050" dirty="0"/>
          </a:p>
        </p:txBody>
      </p:sp>
      <p:sp>
        <p:nvSpPr>
          <p:cNvPr id="6" name="Text 4"/>
          <p:cNvSpPr/>
          <p:nvPr/>
        </p:nvSpPr>
        <p:spPr>
          <a:xfrm>
            <a:off x="914400" y="383133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FFFFFF"/>
                </a:solidFill>
                <a:latin typeface="Poppins" pitchFamily="34" charset="0"/>
                <a:ea typeface="Poppins" pitchFamily="34" charset="-122"/>
                <a:cs typeface="Poppins" pitchFamily="34" charset="-120"/>
              </a:rPr>
              <a:t>Low risk</a:t>
            </a:r>
            <a:endParaRPr lang="en-US" sz="2100" dirty="0"/>
          </a:p>
        </p:txBody>
      </p:sp>
      <p:sp>
        <p:nvSpPr>
          <p:cNvPr id="7" name="Text 5"/>
          <p:cNvSpPr/>
          <p:nvPr/>
        </p:nvSpPr>
        <p:spPr>
          <a:xfrm>
            <a:off x="914400" y="4777740"/>
            <a:ext cx="2213534" cy="116586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You read every word before it leaves.</a:t>
            </a:r>
            <a:endParaRPr lang="en-US" sz="1500" dirty="0"/>
          </a:p>
        </p:txBody>
      </p:sp>
      <p:sp>
        <p:nvSpPr>
          <p:cNvPr id="8" name="Text 6"/>
          <p:cNvSpPr/>
          <p:nvPr/>
        </p:nvSpPr>
        <p:spPr>
          <a:xfrm>
            <a:off x="3630854" y="342900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F9DD56"/>
                </a:solidFill>
                <a:latin typeface="Calibri" pitchFamily="34" charset="0"/>
                <a:ea typeface="Calibri" pitchFamily="34" charset="-122"/>
                <a:cs typeface="Calibri" pitchFamily="34" charset="-120"/>
              </a:rPr>
              <a:t>TRANSFORM · EXTRACT</a:t>
            </a:r>
            <a:endParaRPr lang="en-US" sz="1050" dirty="0"/>
          </a:p>
        </p:txBody>
      </p:sp>
      <p:sp>
        <p:nvSpPr>
          <p:cNvPr id="9" name="Text 7"/>
          <p:cNvSpPr/>
          <p:nvPr/>
        </p:nvSpPr>
        <p:spPr>
          <a:xfrm>
            <a:off x="3630854" y="383133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FFFFFF"/>
                </a:solidFill>
                <a:latin typeface="Poppins" pitchFamily="34" charset="0"/>
                <a:ea typeface="Poppins" pitchFamily="34" charset="-122"/>
                <a:cs typeface="Poppins" pitchFamily="34" charset="-120"/>
              </a:rPr>
              <a:t>Manageable</a:t>
            </a:r>
            <a:endParaRPr lang="en-US" sz="2100" dirty="0"/>
          </a:p>
        </p:txBody>
      </p:sp>
      <p:sp>
        <p:nvSpPr>
          <p:cNvPr id="10" name="Text 8"/>
          <p:cNvSpPr/>
          <p:nvPr/>
        </p:nvSpPr>
        <p:spPr>
          <a:xfrm>
            <a:off x="3630854" y="4777740"/>
            <a:ext cx="2213534" cy="116586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The original is right there beside it.</a:t>
            </a:r>
            <a:endParaRPr lang="en-US" sz="1500" dirty="0"/>
          </a:p>
        </p:txBody>
      </p:sp>
      <p:sp>
        <p:nvSpPr>
          <p:cNvPr id="11" name="Text 9"/>
          <p:cNvSpPr/>
          <p:nvPr/>
        </p:nvSpPr>
        <p:spPr>
          <a:xfrm>
            <a:off x="6347308" y="342900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008DA7"/>
                </a:solidFill>
                <a:latin typeface="Calibri" pitchFamily="34" charset="0"/>
                <a:ea typeface="Calibri" pitchFamily="34" charset="-122"/>
                <a:cs typeface="Calibri" pitchFamily="34" charset="-120"/>
              </a:rPr>
              <a:t>CHECK</a:t>
            </a:r>
            <a:endParaRPr lang="en-US" sz="1050" dirty="0"/>
          </a:p>
        </p:txBody>
      </p:sp>
      <p:sp>
        <p:nvSpPr>
          <p:cNvPr id="12" name="Text 10"/>
          <p:cNvSpPr/>
          <p:nvPr/>
        </p:nvSpPr>
        <p:spPr>
          <a:xfrm>
            <a:off x="6347308" y="383133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FFFFFF"/>
                </a:solidFill>
                <a:latin typeface="Poppins" pitchFamily="34" charset="0"/>
                <a:ea typeface="Poppins" pitchFamily="34" charset="-122"/>
                <a:cs typeface="Poppins" pitchFamily="34" charset="-120"/>
              </a:rPr>
              <a:t>Low risk</a:t>
            </a:r>
            <a:endParaRPr lang="en-US" sz="2100" dirty="0"/>
          </a:p>
        </p:txBody>
      </p:sp>
      <p:sp>
        <p:nvSpPr>
          <p:cNvPr id="13" name="Text 11"/>
          <p:cNvSpPr/>
          <p:nvPr/>
        </p:nvSpPr>
        <p:spPr>
          <a:xfrm>
            <a:off x="6347308" y="4777740"/>
            <a:ext cx="2213534" cy="116586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It raises a hand. You decide.</a:t>
            </a:r>
            <a:endParaRPr lang="en-US" sz="1500" dirty="0"/>
          </a:p>
        </p:txBody>
      </p:sp>
      <p:sp>
        <p:nvSpPr>
          <p:cNvPr id="14" name="Text 12"/>
          <p:cNvSpPr/>
          <p:nvPr/>
        </p:nvSpPr>
        <p:spPr>
          <a:xfrm>
            <a:off x="9063761" y="342900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SUMMARIZE</a:t>
            </a:r>
            <a:endParaRPr lang="en-US" sz="1050" dirty="0"/>
          </a:p>
        </p:txBody>
      </p:sp>
      <p:sp>
        <p:nvSpPr>
          <p:cNvPr id="15" name="Text 13"/>
          <p:cNvSpPr/>
          <p:nvPr/>
        </p:nvSpPr>
        <p:spPr>
          <a:xfrm>
            <a:off x="9063761" y="383133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FFFFFF"/>
                </a:solidFill>
                <a:latin typeface="Poppins" pitchFamily="34" charset="0"/>
                <a:ea typeface="Poppins" pitchFamily="34" charset="-122"/>
                <a:cs typeface="Poppins" pitchFamily="34" charset="-120"/>
              </a:rPr>
              <a:t>The dangerous one</a:t>
            </a:r>
            <a:endParaRPr lang="en-US" sz="2100" dirty="0"/>
          </a:p>
        </p:txBody>
      </p:sp>
      <p:sp>
        <p:nvSpPr>
          <p:cNvPr id="16" name="Text 14"/>
          <p:cNvSpPr/>
          <p:nvPr/>
        </p:nvSpPr>
        <p:spPr>
          <a:xfrm>
            <a:off x="9063761" y="4777740"/>
            <a:ext cx="2213534" cy="1165860"/>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You see what it kept, never what it dropped.</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14400" y="1691640"/>
            <a:ext cx="9814255" cy="2090928"/>
          </a:xfrm>
          <a:prstGeom prst="rect">
            <a:avLst/>
          </a:prstGeom>
          <a:noFill/>
          <a:ln/>
        </p:spPr>
        <p:txBody>
          <a:bodyPr wrap="square" lIns="0" tIns="0" rIns="0" bIns="0" rtlCol="0" anchor="t">
            <a:normAutofit/>
          </a:bodyPr>
          <a:lstStyle/>
          <a:p>
            <a:pPr indent="0" marL="0">
              <a:lnSpc>
                <a:spcPts val="5104"/>
              </a:lnSpc>
              <a:buNone/>
            </a:pPr>
            <a:r>
              <a:rPr lang="en-US" sz="4400" b="1" dirty="0">
                <a:solidFill>
                  <a:srgbClr val="FFFFFF"/>
                </a:solidFill>
                <a:latin typeface="Poppins" pitchFamily="34" charset="0"/>
                <a:ea typeface="Poppins" pitchFamily="34" charset="-122"/>
                <a:cs typeface="Poppins" pitchFamily="34" charset="-120"/>
              </a:rPr>
              <a:t>A summary that leaves out</a:t>
            </a:r>
            <a:endParaRPr lang="en-US" sz="4400" dirty="0"/>
          </a:p>
          <a:p>
            <a:pPr indent="0" marL="0">
              <a:lnSpc>
                <a:spcPts val="5104"/>
              </a:lnSpc>
              <a:buNone/>
            </a:pPr>
            <a:r>
              <a:rPr lang="en-US" sz="4400" b="1" dirty="0">
                <a:solidFill>
                  <a:srgbClr val="FFFFFF"/>
                </a:solidFill>
                <a:latin typeface="Poppins" pitchFamily="34" charset="0"/>
                <a:ea typeface="Poppins" pitchFamily="34" charset="-122"/>
                <a:cs typeface="Poppins" pitchFamily="34" charset="-120"/>
              </a:rPr>
              <a:t>the thing that mattered</a:t>
            </a:r>
            <a:endParaRPr lang="en-US" sz="4400" dirty="0"/>
          </a:p>
          <a:p>
            <a:pPr indent="0" marL="0">
              <a:lnSpc>
                <a:spcPts val="5104"/>
              </a:lnSpc>
              <a:buNone/>
            </a:pPr>
            <a:r>
              <a:rPr lang="en-US" sz="4400" b="1" dirty="0">
                <a:solidFill>
                  <a:srgbClr val="FFFFFF"/>
                </a:solidFill>
                <a:latin typeface="Poppins" pitchFamily="34" charset="0"/>
                <a:ea typeface="Poppins" pitchFamily="34" charset="-122"/>
                <a:cs typeface="Poppins" pitchFamily="34" charset="-120"/>
              </a:rPr>
              <a:t>reads perfectly.</a:t>
            </a:r>
            <a:endParaRPr lang="en-US" sz="4400" dirty="0"/>
          </a:p>
        </p:txBody>
      </p:sp>
      <p:sp>
        <p:nvSpPr>
          <p:cNvPr id="3" name="Text 1"/>
          <p:cNvSpPr/>
          <p:nvPr/>
        </p:nvSpPr>
        <p:spPr>
          <a:xfrm>
            <a:off x="914400" y="4093464"/>
            <a:ext cx="8716975" cy="1895856"/>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Every other pattern produces an error you can see. This one produces an error shaped exactly like nothing.</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SO WHAT DO YOU DO</a:t>
            </a:r>
            <a:endParaRPr lang="en-US" sz="1150" dirty="0"/>
          </a:p>
        </p:txBody>
      </p:sp>
      <p:sp>
        <p:nvSpPr>
          <p:cNvPr id="3" name="Text 1"/>
          <p:cNvSpPr/>
          <p:nvPr/>
        </p:nvSpPr>
        <p:spPr>
          <a:xfrm>
            <a:off x="914400" y="1078992"/>
            <a:ext cx="10362895" cy="18806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Summarize to decide where to read.</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Never to avoid reading.</a:t>
            </a:r>
            <a:endParaRPr lang="en-US" sz="4000" dirty="0"/>
          </a:p>
        </p:txBody>
      </p:sp>
      <p:sp>
        <p:nvSpPr>
          <p:cNvPr id="4" name="Text 2"/>
          <p:cNvSpPr/>
          <p:nvPr/>
        </p:nvSpPr>
        <p:spPr>
          <a:xfrm>
            <a:off x="914400" y="3200400"/>
            <a:ext cx="4929988" cy="274320"/>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A GOOD USE</a:t>
            </a:r>
            <a:endParaRPr lang="en-US" sz="1050" dirty="0"/>
          </a:p>
        </p:txBody>
      </p:sp>
      <p:sp>
        <p:nvSpPr>
          <p:cNvPr id="5" name="Text 3"/>
          <p:cNvSpPr/>
          <p:nvPr/>
        </p:nvSpPr>
        <p:spPr>
          <a:xfrm>
            <a:off x="914400" y="3602736"/>
            <a:ext cx="4929988" cy="428752"/>
          </a:xfrm>
          <a:prstGeom prst="rect">
            <a:avLst/>
          </a:prstGeom>
          <a:noFill/>
          <a:ln/>
        </p:spPr>
        <p:txBody>
          <a:bodyPr wrap="square" lIns="0" tIns="0" rIns="0" bIns="0" rtlCol="0" anchor="t">
            <a:normAutofit/>
          </a:bodyPr>
          <a:lstStyle/>
          <a:p>
            <a:pPr indent="0" marL="0">
              <a:lnSpc>
                <a:spcPts val="2800"/>
              </a:lnSpc>
              <a:buNone/>
            </a:pPr>
            <a:r>
              <a:rPr lang="en-US" sz="2200" b="1" dirty="0">
                <a:solidFill>
                  <a:srgbClr val="003366"/>
                </a:solidFill>
                <a:latin typeface="Poppins" pitchFamily="34" charset="0"/>
                <a:ea typeface="Poppins" pitchFamily="34" charset="-122"/>
                <a:cs typeface="Poppins" pitchFamily="34" charset="-120"/>
              </a:rPr>
              <a:t>Triage</a:t>
            </a:r>
            <a:endParaRPr lang="en-US" sz="2200" dirty="0"/>
          </a:p>
        </p:txBody>
      </p:sp>
      <p:sp>
        <p:nvSpPr>
          <p:cNvPr id="6" name="Text 4"/>
          <p:cNvSpPr/>
          <p:nvPr/>
        </p:nvSpPr>
        <p:spPr>
          <a:xfrm>
            <a:off x="914400" y="4214368"/>
            <a:ext cx="4747108" cy="1363472"/>
          </a:xfrm>
          <a:prstGeom prst="rect">
            <a:avLst/>
          </a:prstGeom>
          <a:noFill/>
          <a:ln/>
        </p:spPr>
        <p:txBody>
          <a:bodyPr wrap="square" lIns="0" tIns="0" rIns="0" bIns="0" rtlCol="0" anchor="t">
            <a:normAutofit/>
          </a:bodyPr>
          <a:lstStyle/>
          <a:p>
            <a:pPr indent="0" marL="0">
              <a:lnSpc>
                <a:spcPts val="2400"/>
              </a:lnSpc>
              <a:buNone/>
            </a:pPr>
            <a:r>
              <a:rPr lang="en-US" sz="1600" dirty="0">
                <a:solidFill>
                  <a:srgbClr val="68737F"/>
                </a:solidFill>
                <a:latin typeface="Calibri" pitchFamily="34" charset="0"/>
                <a:ea typeface="Calibri" pitchFamily="34" charset="-122"/>
                <a:cs typeface="Calibri" pitchFamily="34" charset="-120"/>
              </a:rPr>
              <a:t>Ninety pages, and you need to know which four to read closely. An imperfect summary still sends you to the right pages — and you read those yourself.</a:t>
            </a:r>
            <a:endParaRPr lang="en-US" sz="1600" dirty="0"/>
          </a:p>
        </p:txBody>
      </p:sp>
      <p:sp>
        <p:nvSpPr>
          <p:cNvPr id="7" name="Text 5"/>
          <p:cNvSpPr/>
          <p:nvPr/>
        </p:nvSpPr>
        <p:spPr>
          <a:xfrm>
            <a:off x="6347308" y="3200400"/>
            <a:ext cx="4929988" cy="274320"/>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A BAD USE</a:t>
            </a:r>
            <a:endParaRPr lang="en-US" sz="1050" dirty="0"/>
          </a:p>
        </p:txBody>
      </p:sp>
      <p:sp>
        <p:nvSpPr>
          <p:cNvPr id="8" name="Text 6"/>
          <p:cNvSpPr/>
          <p:nvPr/>
        </p:nvSpPr>
        <p:spPr>
          <a:xfrm>
            <a:off x="6347308" y="3602736"/>
            <a:ext cx="4929988" cy="428752"/>
          </a:xfrm>
          <a:prstGeom prst="rect">
            <a:avLst/>
          </a:prstGeom>
          <a:noFill/>
          <a:ln/>
        </p:spPr>
        <p:txBody>
          <a:bodyPr wrap="square" lIns="0" tIns="0" rIns="0" bIns="0" rtlCol="0" anchor="t">
            <a:normAutofit/>
          </a:bodyPr>
          <a:lstStyle/>
          <a:p>
            <a:pPr indent="0" marL="0">
              <a:lnSpc>
                <a:spcPts val="2800"/>
              </a:lnSpc>
              <a:buNone/>
            </a:pPr>
            <a:r>
              <a:rPr lang="en-US" sz="2200" b="1" dirty="0">
                <a:solidFill>
                  <a:srgbClr val="003366"/>
                </a:solidFill>
                <a:latin typeface="Poppins" pitchFamily="34" charset="0"/>
                <a:ea typeface="Poppins" pitchFamily="34" charset="-122"/>
                <a:cs typeface="Poppins" pitchFamily="34" charset="-120"/>
              </a:rPr>
              <a:t>Substitution</a:t>
            </a:r>
            <a:endParaRPr lang="en-US" sz="2200" dirty="0"/>
          </a:p>
        </p:txBody>
      </p:sp>
      <p:sp>
        <p:nvSpPr>
          <p:cNvPr id="9" name="Text 7"/>
          <p:cNvSpPr/>
          <p:nvPr/>
        </p:nvSpPr>
        <p:spPr>
          <a:xfrm>
            <a:off x="6347308" y="4214368"/>
            <a:ext cx="4747108" cy="1363472"/>
          </a:xfrm>
          <a:prstGeom prst="rect">
            <a:avLst/>
          </a:prstGeom>
          <a:noFill/>
          <a:ln/>
        </p:spPr>
        <p:txBody>
          <a:bodyPr wrap="square" lIns="0" tIns="0" rIns="0" bIns="0" rtlCol="0" anchor="t">
            <a:normAutofit/>
          </a:bodyPr>
          <a:lstStyle/>
          <a:p>
            <a:pPr indent="0" marL="0">
              <a:lnSpc>
                <a:spcPts val="2400"/>
              </a:lnSpc>
              <a:buNone/>
            </a:pPr>
            <a:r>
              <a:rPr lang="en-US" sz="1600" dirty="0">
                <a:solidFill>
                  <a:srgbClr val="68737F"/>
                </a:solidFill>
                <a:latin typeface="Calibri" pitchFamily="34" charset="0"/>
                <a:ea typeface="Calibri" pitchFamily="34" charset="-122"/>
                <a:cs typeface="Calibri" pitchFamily="34" charset="-120"/>
              </a:rPr>
              <a:t>Ninety pages, and you brief your director off the summary without opening the document. The one dropped sentence is now your recommendation.</a:t>
            </a:r>
            <a:endParaRPr lang="en-US" sz="16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THREE</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Making it</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actually save time</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A tool that needs an hour of checking has not saved you fifty minutes.</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WHAT A REQUEST NEEDS</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Four things — none of them</a:t>
            </a:r>
            <a:endParaRPr lang="en-US" sz="4000" dirty="0"/>
          </a:p>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a magic phrase.</a:t>
            </a:r>
            <a:endParaRPr lang="en-US" sz="4000" dirty="0"/>
          </a:p>
        </p:txBody>
      </p:sp>
      <p:sp>
        <p:nvSpPr>
          <p:cNvPr id="4" name="Text 2"/>
          <p:cNvSpPr/>
          <p:nvPr/>
        </p:nvSpPr>
        <p:spPr>
          <a:xfrm>
            <a:off x="914400" y="2569464"/>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542032"/>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Who it is for and what you want them to do</a:t>
            </a:r>
            <a:endParaRPr lang="en-US" sz="1900" dirty="0"/>
          </a:p>
        </p:txBody>
      </p:sp>
      <p:sp>
        <p:nvSpPr>
          <p:cNvPr id="6" name="Text 4"/>
          <p:cNvSpPr/>
          <p:nvPr/>
        </p:nvSpPr>
        <p:spPr>
          <a:xfrm>
            <a:off x="1737360" y="2877312"/>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 student who missed the withdrawal deadline." Not "a professional email."</a:t>
            </a:r>
            <a:endParaRPr lang="en-US" sz="1500" dirty="0"/>
          </a:p>
        </p:txBody>
      </p:sp>
      <p:sp>
        <p:nvSpPr>
          <p:cNvPr id="7" name="Text 5"/>
          <p:cNvSpPr/>
          <p:nvPr/>
        </p:nvSpPr>
        <p:spPr>
          <a:xfrm>
            <a:off x="914400" y="3517900"/>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490468"/>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The material it should work from</a:t>
            </a:r>
            <a:endParaRPr lang="en-US" sz="1900" dirty="0"/>
          </a:p>
        </p:txBody>
      </p:sp>
      <p:sp>
        <p:nvSpPr>
          <p:cNvPr id="9" name="Text 7"/>
          <p:cNvSpPr/>
          <p:nvPr/>
        </p:nvSpPr>
        <p:spPr>
          <a:xfrm>
            <a:off x="1737360" y="3825748"/>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Paste the policy. What you withhold, it invents — and does not say so.</a:t>
            </a:r>
            <a:endParaRPr lang="en-US" sz="1500" dirty="0"/>
          </a:p>
        </p:txBody>
      </p:sp>
      <p:sp>
        <p:nvSpPr>
          <p:cNvPr id="10" name="Text 8"/>
          <p:cNvSpPr/>
          <p:nvPr/>
        </p:nvSpPr>
        <p:spPr>
          <a:xfrm>
            <a:off x="914400" y="4466336"/>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438904"/>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The shape you want back</a:t>
            </a:r>
            <a:endParaRPr lang="en-US" sz="1900" dirty="0"/>
          </a:p>
        </p:txBody>
      </p:sp>
      <p:sp>
        <p:nvSpPr>
          <p:cNvPr id="12" name="Text 10"/>
          <p:cNvSpPr/>
          <p:nvPr/>
        </p:nvSpPr>
        <p:spPr>
          <a:xfrm>
            <a:off x="1737360" y="4774184"/>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Under 150 words. Three bullets and a closing line. A four-column table.</a:t>
            </a:r>
            <a:endParaRPr lang="en-US" sz="1500" dirty="0"/>
          </a:p>
        </p:txBody>
      </p:sp>
      <p:sp>
        <p:nvSpPr>
          <p:cNvPr id="13" name="Text 11"/>
          <p:cNvSpPr/>
          <p:nvPr/>
        </p:nvSpPr>
        <p:spPr>
          <a:xfrm>
            <a:off x="914400" y="5414772"/>
            <a:ext cx="713232" cy="384048"/>
          </a:xfrm>
          <a:prstGeom prst="rect">
            <a:avLst/>
          </a:prstGeom>
          <a:noFill/>
          <a:ln/>
        </p:spPr>
        <p:txBody>
          <a:bodyPr wrap="square" lIns="0" tIns="0" rIns="0" bIns="0" rtlCol="0" anchor="ctr">
            <a:normAutofit/>
          </a:bodyPr>
          <a:lstStyle/>
          <a:p>
            <a:pPr indent="0" marL="0">
              <a:buNone/>
            </a:pPr>
            <a:r>
              <a:rPr lang="en-US" sz="2000" b="1" dirty="0">
                <a:solidFill>
                  <a:srgbClr val="B34A00"/>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38734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An example of good, if you have one</a:t>
            </a:r>
            <a:endParaRPr lang="en-US" sz="1900" dirty="0"/>
          </a:p>
        </p:txBody>
      </p:sp>
      <p:sp>
        <p:nvSpPr>
          <p:cNvPr id="15" name="Text 13"/>
          <p:cNvSpPr/>
          <p:nvPr/>
        </p:nvSpPr>
        <p:spPr>
          <a:xfrm>
            <a:off x="1737360" y="572262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One message you liked beats any amount of describing the tone.</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ARITHMETIC NOBODY DOES</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Checking is part of the task.</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Count it, or you are guessing.</a:t>
            </a:r>
            <a:endParaRPr lang="en-US" sz="4000" dirty="0"/>
          </a:p>
        </p:txBody>
      </p:sp>
      <p:sp>
        <p:nvSpPr>
          <p:cNvPr id="4" name="Text 2"/>
          <p:cNvSpPr/>
          <p:nvPr/>
        </p:nvSpPr>
        <p:spPr>
          <a:xfrm>
            <a:off x="914400" y="3017520"/>
            <a:ext cx="4929988" cy="274320"/>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WORTH IT</a:t>
            </a:r>
            <a:endParaRPr lang="en-US" sz="1050" dirty="0"/>
          </a:p>
        </p:txBody>
      </p:sp>
      <p:sp>
        <p:nvSpPr>
          <p:cNvPr id="5" name="Text 3"/>
          <p:cNvSpPr/>
          <p:nvPr/>
        </p:nvSpPr>
        <p:spPr>
          <a:xfrm>
            <a:off x="914400" y="3419856"/>
            <a:ext cx="4929988" cy="428752"/>
          </a:xfrm>
          <a:prstGeom prst="rect">
            <a:avLst/>
          </a:prstGeom>
          <a:noFill/>
          <a:ln/>
        </p:spPr>
        <p:txBody>
          <a:bodyPr wrap="square" lIns="0" tIns="0" rIns="0" bIns="0" rtlCol="0" anchor="t">
            <a:normAutofit/>
          </a:bodyPr>
          <a:lstStyle/>
          <a:p>
            <a:pPr indent="0" marL="0">
              <a:lnSpc>
                <a:spcPts val="2800"/>
              </a:lnSpc>
              <a:buNone/>
            </a:pPr>
            <a:r>
              <a:rPr lang="en-US" sz="2200" b="1" dirty="0">
                <a:solidFill>
                  <a:srgbClr val="FFFFFF"/>
                </a:solidFill>
                <a:latin typeface="Poppins" pitchFamily="34" charset="0"/>
                <a:ea typeface="Poppins" pitchFamily="34" charset="-122"/>
                <a:cs typeface="Poppins" pitchFamily="34" charset="-120"/>
              </a:rPr>
              <a:t>Draft an email</a:t>
            </a:r>
            <a:endParaRPr lang="en-US" sz="2200" dirty="0"/>
          </a:p>
        </p:txBody>
      </p:sp>
      <p:sp>
        <p:nvSpPr>
          <p:cNvPr id="6" name="Text 4"/>
          <p:cNvSpPr/>
          <p:nvPr/>
        </p:nvSpPr>
        <p:spPr>
          <a:xfrm>
            <a:off x="914400" y="4031488"/>
            <a:ext cx="4747108" cy="136347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Twelve minutes to write, two to check — and you would have proofread it anyway. Real saving: ten minutes, every time.</a:t>
            </a:r>
            <a:endParaRPr lang="en-US" sz="1600" dirty="0"/>
          </a:p>
        </p:txBody>
      </p:sp>
      <p:sp>
        <p:nvSpPr>
          <p:cNvPr id="7" name="Text 5"/>
          <p:cNvSpPr/>
          <p:nvPr/>
        </p:nvSpPr>
        <p:spPr>
          <a:xfrm>
            <a:off x="6347308" y="3017520"/>
            <a:ext cx="4929988" cy="274320"/>
          </a:xfrm>
          <a:prstGeom prst="rect">
            <a:avLst/>
          </a:prstGeom>
          <a:noFill/>
          <a:ln/>
        </p:spPr>
        <p:txBody>
          <a:bodyPr wrap="square" lIns="0" tIns="0" rIns="0" bIns="0" rtlCol="0" anchor="ctr">
            <a:normAutofit/>
          </a:bodyPr>
          <a:lstStyle/>
          <a:p>
            <a:pPr indent="0" marL="0">
              <a:buNone/>
            </a:pPr>
            <a:r>
              <a:rPr lang="en-US" sz="1050" b="1" spc="200" kern="0" dirty="0">
                <a:solidFill>
                  <a:srgbClr val="C0392B"/>
                </a:solidFill>
                <a:latin typeface="Calibri" pitchFamily="34" charset="0"/>
                <a:ea typeface="Calibri" pitchFamily="34" charset="-122"/>
                <a:cs typeface="Calibri" pitchFamily="34" charset="-120"/>
              </a:rPr>
              <a:t>NOT WHAT IT LOOKS LIKE</a:t>
            </a:r>
            <a:endParaRPr lang="en-US" sz="1050" dirty="0"/>
          </a:p>
        </p:txBody>
      </p:sp>
      <p:sp>
        <p:nvSpPr>
          <p:cNvPr id="8" name="Text 6"/>
          <p:cNvSpPr/>
          <p:nvPr/>
        </p:nvSpPr>
        <p:spPr>
          <a:xfrm>
            <a:off x="6347308" y="3419856"/>
            <a:ext cx="4929988" cy="428752"/>
          </a:xfrm>
          <a:prstGeom prst="rect">
            <a:avLst/>
          </a:prstGeom>
          <a:noFill/>
          <a:ln/>
        </p:spPr>
        <p:txBody>
          <a:bodyPr wrap="square" lIns="0" tIns="0" rIns="0" bIns="0" rtlCol="0" anchor="t">
            <a:normAutofit/>
          </a:bodyPr>
          <a:lstStyle/>
          <a:p>
            <a:pPr indent="0" marL="0">
              <a:lnSpc>
                <a:spcPts val="2800"/>
              </a:lnSpc>
              <a:buNone/>
            </a:pPr>
            <a:r>
              <a:rPr lang="en-US" sz="2200" b="1" dirty="0">
                <a:solidFill>
                  <a:srgbClr val="FFFFFF"/>
                </a:solidFill>
                <a:latin typeface="Poppins" pitchFamily="34" charset="0"/>
                <a:ea typeface="Poppins" pitchFamily="34" charset="-122"/>
                <a:cs typeface="Poppins" pitchFamily="34" charset="-120"/>
              </a:rPr>
              <a:t>Summarize 90 pages</a:t>
            </a:r>
            <a:endParaRPr lang="en-US" sz="2200" dirty="0"/>
          </a:p>
        </p:txBody>
      </p:sp>
      <p:sp>
        <p:nvSpPr>
          <p:cNvPr id="9" name="Text 7"/>
          <p:cNvSpPr/>
          <p:nvPr/>
        </p:nvSpPr>
        <p:spPr>
          <a:xfrm>
            <a:off x="6347308" y="4031488"/>
            <a:ext cx="4747108" cy="1363472"/>
          </a:xfrm>
          <a:prstGeom prst="rect">
            <a:avLst/>
          </a:prstGeom>
          <a:noFill/>
          <a:ln/>
        </p:spPr>
        <p:txBody>
          <a:bodyPr wrap="square" lIns="0" tIns="0" rIns="0" bIns="0" rtlCol="0" anchor="t">
            <a:normAutofit/>
          </a:bodyPr>
          <a:lstStyle/>
          <a:p>
            <a:pPr indent="0" marL="0">
              <a:lnSpc>
                <a:spcPts val="2400"/>
              </a:lnSpc>
              <a:buNone/>
            </a:pPr>
            <a:r>
              <a:rPr lang="en-US" sz="1600" dirty="0">
                <a:solidFill>
                  <a:srgbClr val="A7B7C9"/>
                </a:solidFill>
                <a:latin typeface="Calibri" pitchFamily="34" charset="0"/>
                <a:ea typeface="Calibri" pitchFamily="34" charset="-122"/>
                <a:cs typeface="Calibri" pitchFamily="34" charset="-120"/>
              </a:rPr>
              <a:t>Thirty seconds to produce, forty minutes to check properly. Either you check and save nothing, or you skip it and carry a risk you cannot see.</a:t>
            </a:r>
            <a:endParaRPr lang="en-US" sz="1600" dirty="0"/>
          </a:p>
        </p:txBody>
      </p:sp>
      <p:sp>
        <p:nvSpPr>
          <p:cNvPr id="10" name="Text 8"/>
          <p:cNvSpPr/>
          <p:nvPr/>
        </p:nvSpPr>
        <p:spPr>
          <a:xfrm>
            <a:off x="914400" y="5577840"/>
            <a:ext cx="9448495" cy="502920"/>
          </a:xfrm>
          <a:prstGeom prst="rect">
            <a:avLst/>
          </a:prstGeom>
          <a:noFill/>
          <a:ln/>
        </p:spPr>
        <p:txBody>
          <a:bodyPr wrap="square" lIns="0" tIns="0" rIns="0" bIns="0" rtlCol="0" anchor="ctr">
            <a:normAutofit/>
          </a:bodyPr>
          <a:lstStyle/>
          <a:p>
            <a:pPr indent="0" marL="0">
              <a:lnSpc>
                <a:spcPts val="2400"/>
              </a:lnSpc>
              <a:buNone/>
            </a:pPr>
            <a:r>
              <a:rPr lang="en-US" sz="1700" dirty="0">
                <a:solidFill>
                  <a:srgbClr val="F9DD56"/>
                </a:solidFill>
                <a:latin typeface="Calibri" pitchFamily="34" charset="0"/>
                <a:ea typeface="Calibri" pitchFamily="34" charset="-122"/>
                <a:cs typeface="Calibri" pitchFamily="34" charset="-120"/>
              </a:rPr>
              <a:t>Use it where checking is fast relative to producing. That one rule sorts most decisions for you.</a:t>
            </a:r>
            <a:endParaRPr lang="en-US" sz="17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A RULE WORTH KEEPING</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Three tries, then do it yourself.</a:t>
            </a:r>
            <a:endParaRPr lang="en-US" sz="4000" dirty="0"/>
          </a:p>
        </p:txBody>
      </p:sp>
      <p:sp>
        <p:nvSpPr>
          <p:cNvPr id="4" name="Text 2"/>
          <p:cNvSpPr/>
          <p:nvPr/>
        </p:nvSpPr>
        <p:spPr>
          <a:xfrm>
            <a:off x="914400" y="2514600"/>
            <a:ext cx="8899855" cy="1234440"/>
          </a:xfrm>
          <a:prstGeom prst="rect">
            <a:avLst/>
          </a:prstGeom>
          <a:noFill/>
          <a:ln/>
        </p:spPr>
        <p:txBody>
          <a:bodyPr wrap="square" lIns="0" tIns="0" rIns="0" bIns="0" rtlCol="0" anchor="t">
            <a:normAutofit/>
          </a:bodyPr>
          <a:lstStyle/>
          <a:p>
            <a:pPr indent="0" marL="0">
              <a:lnSpc>
                <a:spcPts val="2982"/>
              </a:lnSpc>
              <a:buNone/>
            </a:pPr>
            <a:r>
              <a:rPr lang="en-US" sz="2100" dirty="0">
                <a:solidFill>
                  <a:srgbClr val="68737F"/>
                </a:solidFill>
                <a:latin typeface="Calibri" pitchFamily="34" charset="0"/>
                <a:ea typeface="Calibri" pitchFamily="34" charset="-122"/>
                <a:cs typeface="Calibri" pitchFamily="34" charset="-120"/>
              </a:rPr>
              <a:t>If the third attempt has not moved you closer, the task is not shaped for this — and you have now spent longer arguing with it than the task was going to take.</a:t>
            </a:r>
            <a:endParaRPr lang="en-US" sz="2100" dirty="0"/>
          </a:p>
        </p:txBody>
      </p:sp>
      <p:sp>
        <p:nvSpPr>
          <p:cNvPr id="5" name="Text 3"/>
          <p:cNvSpPr/>
          <p:nvPr/>
        </p:nvSpPr>
        <p:spPr>
          <a:xfrm>
            <a:off x="914400" y="4297680"/>
            <a:ext cx="8899855" cy="914400"/>
          </a:xfrm>
          <a:prstGeom prst="rect">
            <a:avLst/>
          </a:prstGeom>
          <a:noFill/>
          <a:ln/>
        </p:spPr>
        <p:txBody>
          <a:bodyPr wrap="square" lIns="0" tIns="0" rIns="0" bIns="0" rtlCol="0" anchor="t">
            <a:normAutofit/>
          </a:bodyPr>
          <a:lstStyle/>
          <a:p>
            <a:pPr indent="0" marL="0">
              <a:lnSpc>
                <a:spcPts val="3400"/>
              </a:lnSpc>
              <a:buNone/>
            </a:pPr>
            <a:r>
              <a:rPr lang="en-US" sz="2400" b="1" dirty="0">
                <a:solidFill>
                  <a:srgbClr val="003366"/>
                </a:solidFill>
                <a:latin typeface="Poppins" pitchFamily="34" charset="0"/>
                <a:ea typeface="Poppins" pitchFamily="34" charset="-122"/>
                <a:cs typeface="Poppins" pitchFamily="34" charset="-120"/>
              </a:rPr>
              <a:t>The sunk cost is small at three attempts and embarrassing at nine.</a:t>
            </a:r>
            <a:endParaRPr lang="en-US" sz="24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THE ACTUAL DIFFERENTIATOR</a:t>
            </a:r>
            <a:endParaRPr lang="en-US" sz="1150" dirty="0"/>
          </a:p>
        </p:txBody>
      </p:sp>
      <p:sp>
        <p:nvSpPr>
          <p:cNvPr id="3" name="Text 1"/>
          <p:cNvSpPr/>
          <p:nvPr/>
        </p:nvSpPr>
        <p:spPr>
          <a:xfrm>
            <a:off x="914400" y="1078992"/>
            <a:ext cx="10362895" cy="12964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The biggest time saver is not</a:t>
            </a:r>
            <a:endParaRPr lang="en-US" sz="4000" dirty="0"/>
          </a:p>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the best prompter.</a:t>
            </a:r>
            <a:endParaRPr lang="en-US" sz="4000" dirty="0"/>
          </a:p>
        </p:txBody>
      </p:sp>
      <p:sp>
        <p:nvSpPr>
          <p:cNvPr id="4" name="Text 2"/>
          <p:cNvSpPr/>
          <p:nvPr/>
        </p:nvSpPr>
        <p:spPr>
          <a:xfrm>
            <a:off x="914400" y="2926080"/>
            <a:ext cx="9265615" cy="731520"/>
          </a:xfrm>
          <a:prstGeom prst="rect">
            <a:avLst/>
          </a:prstGeom>
          <a:noFill/>
          <a:ln/>
        </p:spPr>
        <p:txBody>
          <a:bodyPr wrap="square" lIns="0" tIns="0" rIns="0" bIns="0" rtlCol="0" anchor="t">
            <a:normAutofit/>
          </a:bodyPr>
          <a:lstStyle/>
          <a:p>
            <a:pPr indent="0" marL="0">
              <a:lnSpc>
                <a:spcPts val="3400"/>
              </a:lnSpc>
              <a:buNone/>
            </a:pPr>
            <a:r>
              <a:rPr lang="en-US" sz="2700" b="1" dirty="0">
                <a:solidFill>
                  <a:srgbClr val="FF6600"/>
                </a:solidFill>
                <a:latin typeface="Poppins" pitchFamily="34" charset="0"/>
                <a:ea typeface="Poppins" pitchFamily="34" charset="-122"/>
                <a:cs typeface="Poppins" pitchFamily="34" charset="-120"/>
              </a:rPr>
              <a:t>It is the one who saved a mediocre prompt and used it forty times.</a:t>
            </a:r>
            <a:endParaRPr lang="en-US" sz="2700" dirty="0"/>
          </a:p>
        </p:txBody>
      </p:sp>
      <p:sp>
        <p:nvSpPr>
          <p:cNvPr id="5" name="Text 3"/>
          <p:cNvSpPr/>
          <p:nvPr/>
        </p:nvSpPr>
        <p:spPr>
          <a:xfrm>
            <a:off x="914400" y="3931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008DA7"/>
                </a:solidFill>
                <a:latin typeface="Calibri" pitchFamily="34" charset="0"/>
                <a:ea typeface="Calibri" pitchFamily="34" charset="-122"/>
                <a:cs typeface="Calibri" pitchFamily="34" charset="-120"/>
              </a:rPr>
              <a:t>KEEP THEM SOMEWHERE</a:t>
            </a:r>
            <a:endParaRPr lang="en-US" sz="1050" dirty="0"/>
          </a:p>
        </p:txBody>
      </p:sp>
      <p:sp>
        <p:nvSpPr>
          <p:cNvPr id="6" name="Text 4"/>
          <p:cNvSpPr/>
          <p:nvPr/>
        </p:nvSpPr>
        <p:spPr>
          <a:xfrm>
            <a:off x="914400" y="4334256"/>
            <a:ext cx="3119018"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A document is fine</a:t>
            </a:r>
            <a:endParaRPr lang="en-US" sz="1900" dirty="0"/>
          </a:p>
        </p:txBody>
      </p:sp>
      <p:sp>
        <p:nvSpPr>
          <p:cNvPr id="7" name="Text 5"/>
          <p:cNvSpPr/>
          <p:nvPr/>
        </p:nvSpPr>
        <p:spPr>
          <a:xfrm>
            <a:off x="914400" y="4912614"/>
            <a:ext cx="3119018" cy="1030986"/>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One file. Nothing fancier beats starting fresh each time.</a:t>
            </a:r>
            <a:endParaRPr lang="en-US" sz="1500" dirty="0"/>
          </a:p>
        </p:txBody>
      </p:sp>
      <p:sp>
        <p:nvSpPr>
          <p:cNvPr id="8" name="Text 6"/>
          <p:cNvSpPr/>
          <p:nvPr/>
        </p:nvSpPr>
        <p:spPr>
          <a:xfrm>
            <a:off x="4536338" y="3931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F9DD56"/>
                </a:solidFill>
                <a:latin typeface="Calibri" pitchFamily="34" charset="0"/>
                <a:ea typeface="Calibri" pitchFamily="34" charset="-122"/>
                <a:cs typeface="Calibri" pitchFamily="34" charset="-120"/>
              </a:rPr>
              <a:t>NAME THEM BY TASK</a:t>
            </a:r>
            <a:endParaRPr lang="en-US" sz="1050" dirty="0"/>
          </a:p>
        </p:txBody>
      </p:sp>
      <p:sp>
        <p:nvSpPr>
          <p:cNvPr id="9" name="Text 7"/>
          <p:cNvSpPr/>
          <p:nvPr/>
        </p:nvSpPr>
        <p:spPr>
          <a:xfrm>
            <a:off x="4536338" y="4334256"/>
            <a:ext cx="3119018"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Not by cleverness</a:t>
            </a:r>
            <a:endParaRPr lang="en-US" sz="1900" dirty="0"/>
          </a:p>
        </p:txBody>
      </p:sp>
      <p:sp>
        <p:nvSpPr>
          <p:cNvPr id="10" name="Text 8"/>
          <p:cNvSpPr/>
          <p:nvPr/>
        </p:nvSpPr>
        <p:spPr>
          <a:xfrm>
            <a:off x="4536338" y="4912614"/>
            <a:ext cx="3119018" cy="1030986"/>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"Deadline reminder — student" beats "good email prompt v3".</a:t>
            </a:r>
            <a:endParaRPr lang="en-US" sz="1500" dirty="0"/>
          </a:p>
        </p:txBody>
      </p:sp>
      <p:sp>
        <p:nvSpPr>
          <p:cNvPr id="11" name="Text 9"/>
          <p:cNvSpPr/>
          <p:nvPr/>
        </p:nvSpPr>
        <p:spPr>
          <a:xfrm>
            <a:off x="8158277" y="3931920"/>
            <a:ext cx="3119018"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SHARE THEM</a:t>
            </a:r>
            <a:endParaRPr lang="en-US" sz="1050" dirty="0"/>
          </a:p>
        </p:txBody>
      </p:sp>
      <p:sp>
        <p:nvSpPr>
          <p:cNvPr id="12" name="Text 10"/>
          <p:cNvSpPr/>
          <p:nvPr/>
        </p:nvSpPr>
        <p:spPr>
          <a:xfrm>
            <a:off x="8158277" y="4334256"/>
            <a:ext cx="3119018" cy="377190"/>
          </a:xfrm>
          <a:prstGeom prst="rect">
            <a:avLst/>
          </a:prstGeom>
          <a:noFill/>
          <a:ln/>
        </p:spPr>
        <p:txBody>
          <a:bodyPr wrap="square" lIns="0" tIns="0" rIns="0" bIns="0" rtlCol="0" anchor="t">
            <a:normAutofit/>
          </a:bodyPr>
          <a:lstStyle/>
          <a:p>
            <a:pPr indent="0" marL="0">
              <a:lnSpc>
                <a:spcPts val="2394"/>
              </a:lnSpc>
              <a:buNone/>
            </a:pPr>
            <a:r>
              <a:rPr lang="en-US" sz="1900" b="1" dirty="0">
                <a:solidFill>
                  <a:srgbClr val="FFFFFF"/>
                </a:solidFill>
                <a:latin typeface="Poppins" pitchFamily="34" charset="0"/>
                <a:ea typeface="Poppins" pitchFamily="34" charset="-122"/>
                <a:cs typeface="Poppins" pitchFamily="34" charset="-120"/>
              </a:rPr>
              <a:t>Your office too</a:t>
            </a:r>
            <a:endParaRPr lang="en-US" sz="1900" dirty="0"/>
          </a:p>
        </p:txBody>
      </p:sp>
      <p:sp>
        <p:nvSpPr>
          <p:cNvPr id="13" name="Text 11"/>
          <p:cNvSpPr/>
          <p:nvPr/>
        </p:nvSpPr>
        <p:spPr>
          <a:xfrm>
            <a:off x="8158277" y="4912614"/>
            <a:ext cx="3119018" cy="1030986"/>
          </a:xfrm>
          <a:prstGeom prst="rect">
            <a:avLst/>
          </a:prstGeom>
          <a:noFill/>
          <a:ln/>
        </p:spPr>
        <p:txBody>
          <a:bodyPr wrap="square" lIns="0" tIns="0" rIns="0" bIns="0" rtlCol="0" anchor="t">
            <a:normAutofit/>
          </a:bodyPr>
          <a:lstStyle/>
          <a:p>
            <a:pPr indent="0" marL="0">
              <a:lnSpc>
                <a:spcPts val="2200"/>
              </a:lnSpc>
              <a:buNone/>
            </a:pPr>
            <a:r>
              <a:rPr lang="en-US" sz="1500" dirty="0">
                <a:solidFill>
                  <a:srgbClr val="A7B7C9"/>
                </a:solidFill>
                <a:latin typeface="Calibri" pitchFamily="34" charset="0"/>
                <a:ea typeface="Calibri" pitchFamily="34" charset="-122"/>
                <a:cs typeface="Calibri" pitchFamily="34" charset="-120"/>
              </a:rPr>
              <a:t>Four people writing it four ways is four answers to one student.</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FOUR</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The line you</a:t>
            </a:r>
            <a:endParaRPr lang="en-US" sz="5000" dirty="0"/>
          </a:p>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do not cross</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Short, because it is simple — and non-negotiable.</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BEFORE YOU PASTE</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Two seconds, every time.</a:t>
            </a:r>
            <a:endParaRPr lang="en-US" sz="4000" dirty="0"/>
          </a:p>
        </p:txBody>
      </p:sp>
      <p:sp>
        <p:nvSpPr>
          <p:cNvPr id="4" name="Text 2"/>
          <p:cNvSpPr/>
          <p:nvPr/>
        </p:nvSpPr>
        <p:spPr>
          <a:xfrm>
            <a:off x="914400" y="2569464"/>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542032"/>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Is there a student in this?</a:t>
            </a:r>
            <a:endParaRPr lang="en-US" sz="1900" dirty="0"/>
          </a:p>
        </p:txBody>
      </p:sp>
      <p:sp>
        <p:nvSpPr>
          <p:cNvPr id="6" name="Text 4"/>
          <p:cNvSpPr/>
          <p:nvPr/>
        </p:nvSpPr>
        <p:spPr>
          <a:xfrm>
            <a:off x="1737360" y="2877312"/>
            <a:ext cx="9082735" cy="5791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A name, ID, grade, schedule, discipline or aid record. If yes, stop and use an approved system.</a:t>
            </a:r>
            <a:endParaRPr lang="en-US" sz="1500" dirty="0"/>
          </a:p>
        </p:txBody>
      </p:sp>
      <p:sp>
        <p:nvSpPr>
          <p:cNvPr id="7" name="Text 5"/>
          <p:cNvSpPr/>
          <p:nvPr/>
        </p:nvSpPr>
        <p:spPr>
          <a:xfrm>
            <a:off x="914400" y="3649980"/>
            <a:ext cx="713232" cy="384048"/>
          </a:xfrm>
          <a:prstGeom prst="rect">
            <a:avLst/>
          </a:prstGeom>
          <a:noFill/>
          <a:ln/>
        </p:spPr>
        <p:txBody>
          <a:bodyPr wrap="square" lIns="0" tIns="0" rIns="0" bIns="0" rtlCol="0" anchor="ctr">
            <a:normAutofit/>
          </a:bodyPr>
          <a:lstStyle/>
          <a:p>
            <a:pPr indent="0" marL="0">
              <a:buNone/>
            </a:pPr>
            <a:r>
              <a:rPr lang="en-US" sz="2000" b="1" dirty="0">
                <a:solidFill>
                  <a:srgbClr val="C0392B"/>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622548"/>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Is there an employee in this?</a:t>
            </a:r>
            <a:endParaRPr lang="en-US" sz="1900" dirty="0"/>
          </a:p>
        </p:txBody>
      </p:sp>
      <p:sp>
        <p:nvSpPr>
          <p:cNvPr id="9" name="Text 7"/>
          <p:cNvSpPr/>
          <p:nvPr/>
        </p:nvSpPr>
        <p:spPr>
          <a:xfrm>
            <a:off x="1737360" y="3957828"/>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Performance, complaints, medical leave, pay. Same answer.</a:t>
            </a:r>
            <a:endParaRPr lang="en-US" sz="1500" dirty="0"/>
          </a:p>
        </p:txBody>
      </p:sp>
      <p:sp>
        <p:nvSpPr>
          <p:cNvPr id="10" name="Text 8"/>
          <p:cNvSpPr/>
          <p:nvPr/>
        </p:nvSpPr>
        <p:spPr>
          <a:xfrm>
            <a:off x="914400" y="4463796"/>
            <a:ext cx="713232" cy="384048"/>
          </a:xfrm>
          <a:prstGeom prst="rect">
            <a:avLst/>
          </a:prstGeom>
          <a:noFill/>
          <a:ln/>
        </p:spPr>
        <p:txBody>
          <a:bodyPr wrap="square" lIns="0" tIns="0" rIns="0" bIns="0" rtlCol="0" anchor="ctr">
            <a:normAutofit/>
          </a:bodyPr>
          <a:lstStyle/>
          <a:p>
            <a:pPr indent="0" marL="0">
              <a:buNone/>
            </a:pPr>
            <a:r>
              <a:rPr lang="en-US" sz="2000" b="1" dirty="0">
                <a:solidFill>
                  <a:srgbClr val="8F5E08"/>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436364"/>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Would I be comfortable seeing this publicly with my name on it?</a:t>
            </a:r>
            <a:endParaRPr lang="en-US" sz="1900" dirty="0"/>
          </a:p>
        </p:txBody>
      </p:sp>
      <p:sp>
        <p:nvSpPr>
          <p:cNvPr id="12" name="Text 10"/>
          <p:cNvSpPr/>
          <p:nvPr/>
        </p:nvSpPr>
        <p:spPr>
          <a:xfrm>
            <a:off x="1737360" y="4771644"/>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Not a legal test. A useful one, and it catches what the first two miss.</a:t>
            </a:r>
            <a:endParaRPr lang="en-US" sz="1500" dirty="0"/>
          </a:p>
        </p:txBody>
      </p:sp>
      <p:sp>
        <p:nvSpPr>
          <p:cNvPr id="13" name="Text 11"/>
          <p:cNvSpPr/>
          <p:nvPr/>
        </p:nvSpPr>
        <p:spPr>
          <a:xfrm>
            <a:off x="914400" y="5277612"/>
            <a:ext cx="713232" cy="384048"/>
          </a:xfrm>
          <a:prstGeom prst="rect">
            <a:avLst/>
          </a:prstGeom>
          <a:noFill/>
          <a:ln/>
        </p:spPr>
        <p:txBody>
          <a:bodyPr wrap="square" lIns="0" tIns="0" rIns="0" bIns="0" rtlCol="0" anchor="ctr">
            <a:normAutofit/>
          </a:bodyPr>
          <a:lstStyle/>
          <a:p>
            <a:pPr indent="0" marL="0">
              <a:buNone/>
            </a:pPr>
            <a:r>
              <a:rPr lang="en-US" sz="2000" b="1" dirty="0">
                <a:solidFill>
                  <a:srgbClr val="1A7F4B"/>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250180"/>
            <a:ext cx="9539935" cy="335280"/>
          </a:xfrm>
          <a:prstGeom prst="rect">
            <a:avLst/>
          </a:prstGeom>
          <a:noFill/>
          <a:ln/>
        </p:spPr>
        <p:txBody>
          <a:bodyPr wrap="square" lIns="0" tIns="0" rIns="0" bIns="0" rtlCol="0" anchor="t">
            <a:normAutofit/>
          </a:bodyPr>
          <a:lstStyle/>
          <a:p>
            <a:pPr indent="0" marL="0">
              <a:lnSpc>
                <a:spcPts val="2280"/>
              </a:lnSpc>
              <a:buNone/>
            </a:pPr>
            <a:r>
              <a:rPr lang="en-US" sz="1900" b="1" dirty="0">
                <a:solidFill>
                  <a:srgbClr val="003366"/>
                </a:solidFill>
                <a:latin typeface="Poppins" pitchFamily="34" charset="0"/>
                <a:ea typeface="Poppins" pitchFamily="34" charset="-122"/>
                <a:cs typeface="Poppins" pitchFamily="34" charset="-120"/>
              </a:rPr>
              <a:t>If you cannot answer in two seconds, that is the answer</a:t>
            </a:r>
            <a:endParaRPr lang="en-US" sz="1900" dirty="0"/>
          </a:p>
        </p:txBody>
      </p:sp>
      <p:sp>
        <p:nvSpPr>
          <p:cNvPr id="15" name="Text 13"/>
          <p:cNvSpPr/>
          <p:nvPr/>
        </p:nvSpPr>
        <p:spPr>
          <a:xfrm>
            <a:off x="1737360" y="558546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68737F"/>
                </a:solidFill>
                <a:latin typeface="Calibri" pitchFamily="34" charset="0"/>
                <a:ea typeface="Calibri" pitchFamily="34" charset="-122"/>
                <a:cs typeface="Calibri" pitchFamily="34" charset="-120"/>
              </a:rPr>
              <a:t>Hesitation means it is not GREEN.</a:t>
            </a:r>
            <a:endParaRPr lang="en-US" sz="1500" dirty="0"/>
          </a:p>
        </p:txBody>
      </p:sp>
      <p:sp>
        <p:nvSpPr>
          <p:cNvPr id="16" name="Text 14"/>
          <p:cNvSpPr/>
          <p:nvPr/>
        </p:nvSpPr>
        <p:spPr>
          <a:xfrm>
            <a:off x="914400" y="5943600"/>
            <a:ext cx="8991295" cy="292608"/>
          </a:xfrm>
          <a:prstGeom prst="rect">
            <a:avLst/>
          </a:prstGeom>
          <a:noFill/>
          <a:ln/>
        </p:spPr>
        <p:txBody>
          <a:bodyPr wrap="square" lIns="0" tIns="0" rIns="0" bIns="0" rtlCol="0" anchor="ctr">
            <a:normAutofit/>
          </a:bodyPr>
          <a:lstStyle/>
          <a:p>
            <a:pPr indent="0" marL="0">
              <a:buNone/>
            </a:pPr>
            <a:r>
              <a:rPr lang="en-US" sz="1050" dirty="0">
                <a:solidFill>
                  <a:srgbClr val="7A8794"/>
                </a:solidFill>
                <a:latin typeface="Calibri" pitchFamily="34" charset="0"/>
                <a:ea typeface="Calibri" pitchFamily="34" charset="-122"/>
                <a:cs typeface="Calibri" pitchFamily="34" charset="-120"/>
              </a:rPr>
              <a:t>Covered in full in the Foundations session — the data line and the three tiers.</a:t>
            </a:r>
            <a:endParaRPr lang="en-US" sz="105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14400" y="1371600"/>
            <a:ext cx="10362895" cy="914400"/>
          </a:xfrm>
          <a:prstGeom prst="rect">
            <a:avLst/>
          </a:prstGeom>
          <a:noFill/>
          <a:ln/>
        </p:spPr>
        <p:txBody>
          <a:bodyPr wrap="square" lIns="0" tIns="0" rIns="0" bIns="0" rtlCol="0" anchor="ctr">
            <a:normAutofit/>
          </a:bodyPr>
          <a:lstStyle/>
          <a:p>
            <a:pPr indent="0" marL="0">
              <a:buNone/>
            </a:pPr>
            <a:r>
              <a:rPr lang="en-US" sz="2000" b="1" spc="300" kern="0" dirty="0">
                <a:solidFill>
                  <a:srgbClr val="FF6600"/>
                </a:solidFill>
                <a:latin typeface="Poppins" pitchFamily="34" charset="0"/>
                <a:ea typeface="Poppins" pitchFamily="34" charset="-122"/>
                <a:cs typeface="Poppins" pitchFamily="34" charset="-120"/>
              </a:rPr>
              <a:t>PART FIVE</a:t>
            </a:r>
            <a:endParaRPr lang="en-US" sz="2000" dirty="0"/>
          </a:p>
        </p:txBody>
      </p:sp>
      <p:sp>
        <p:nvSpPr>
          <p:cNvPr id="3" name="Text 1"/>
          <p:cNvSpPr/>
          <p:nvPr/>
        </p:nvSpPr>
        <p:spPr>
          <a:xfrm>
            <a:off x="914400" y="2286000"/>
            <a:ext cx="9265615" cy="1554480"/>
          </a:xfrm>
          <a:prstGeom prst="rect">
            <a:avLst/>
          </a:prstGeom>
          <a:noFill/>
          <a:ln/>
        </p:spPr>
        <p:txBody>
          <a:bodyPr wrap="square" lIns="0" tIns="0" rIns="0" bIns="0" rtlCol="0" anchor="t">
            <a:normAutofit/>
          </a:bodyPr>
          <a:lstStyle/>
          <a:p>
            <a:pPr indent="0" marL="0">
              <a:lnSpc>
                <a:spcPts val="5800"/>
              </a:lnSpc>
              <a:buNone/>
            </a:pPr>
            <a:r>
              <a:rPr lang="en-US" sz="5000" b="1" dirty="0">
                <a:solidFill>
                  <a:srgbClr val="FFFFFF"/>
                </a:solidFill>
                <a:latin typeface="Poppins" pitchFamily="34" charset="0"/>
                <a:ea typeface="Poppins" pitchFamily="34" charset="-122"/>
                <a:cs typeface="Poppins" pitchFamily="34" charset="-120"/>
              </a:rPr>
              <a:t>Build one thing</a:t>
            </a:r>
            <a:endParaRPr lang="en-US" sz="5000" dirty="0"/>
          </a:p>
        </p:txBody>
      </p:sp>
      <p:sp>
        <p:nvSpPr>
          <p:cNvPr id="4" name="Text 2"/>
          <p:cNvSpPr/>
          <p:nvPr/>
        </p:nvSpPr>
        <p:spPr>
          <a:xfrm>
            <a:off x="914400" y="4023360"/>
            <a:ext cx="7985455" cy="914400"/>
          </a:xfrm>
          <a:prstGeom prst="rect">
            <a:avLst/>
          </a:prstGeom>
          <a:noFill/>
          <a:ln/>
        </p:spPr>
        <p:txBody>
          <a:bodyPr wrap="square" lIns="0" tIns="0" rIns="0" bIns="0" rtlCol="0" anchor="t">
            <a:normAutofit/>
          </a:bodyPr>
          <a:lstStyle/>
          <a:p>
            <a:pPr indent="0" marL="0">
              <a:lnSpc>
                <a:spcPts val="2700"/>
              </a:lnSpc>
              <a:buNone/>
            </a:pPr>
            <a:r>
              <a:rPr lang="en-US" sz="1900" dirty="0">
                <a:solidFill>
                  <a:srgbClr val="B7CDE0"/>
                </a:solidFill>
                <a:latin typeface="Calibri" pitchFamily="34" charset="0"/>
                <a:ea typeface="Calibri" pitchFamily="34" charset="-122"/>
                <a:cs typeface="Calibri" pitchFamily="34" charset="-120"/>
              </a:rPr>
              <a:t>Not fifty experiments. One thing that saves you time every week.</a:t>
            </a:r>
            <a:endParaRPr lang="en-US" sz="19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82A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B34A00"/>
                </a:solidFill>
                <a:latin typeface="Calibri" pitchFamily="34" charset="0"/>
                <a:ea typeface="Calibri" pitchFamily="34" charset="-122"/>
                <a:cs typeface="Calibri" pitchFamily="34" charset="-120"/>
              </a:rPr>
              <a:t>THIS WEEK</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003366"/>
                </a:solidFill>
                <a:latin typeface="Poppins" pitchFamily="34" charset="0"/>
                <a:ea typeface="Poppins" pitchFamily="34" charset="-122"/>
                <a:cs typeface="Poppins" pitchFamily="34" charset="-120"/>
              </a:rPr>
              <a:t>Pick one. Finish it.</a:t>
            </a:r>
            <a:endParaRPr lang="en-US" sz="4000" dirty="0"/>
          </a:p>
        </p:txBody>
      </p:sp>
      <p:sp>
        <p:nvSpPr>
          <p:cNvPr id="4" name="Text 2"/>
          <p:cNvSpPr/>
          <p:nvPr/>
        </p:nvSpPr>
        <p:spPr>
          <a:xfrm>
            <a:off x="914400" y="292608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003366"/>
                </a:solidFill>
                <a:latin typeface="Calibri" pitchFamily="34" charset="0"/>
                <a:ea typeface="Calibri" pitchFamily="34" charset="-122"/>
                <a:cs typeface="Calibri" pitchFamily="34" charset="-120"/>
              </a:rPr>
              <a:t>OPTION A</a:t>
            </a:r>
            <a:endParaRPr lang="en-US" sz="1050" dirty="0"/>
          </a:p>
        </p:txBody>
      </p:sp>
      <p:sp>
        <p:nvSpPr>
          <p:cNvPr id="5" name="Text 3"/>
          <p:cNvSpPr/>
          <p:nvPr/>
        </p:nvSpPr>
        <p:spPr>
          <a:xfrm>
            <a:off x="914400" y="332841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 saved prompt</a:t>
            </a:r>
            <a:endParaRPr lang="en-US" sz="2100" dirty="0"/>
          </a:p>
        </p:txBody>
      </p:sp>
      <p:sp>
        <p:nvSpPr>
          <p:cNvPr id="6" name="Text 4"/>
          <p:cNvSpPr/>
          <p:nvPr/>
        </p:nvSpPr>
        <p:spPr>
          <a:xfrm>
            <a:off x="914400" y="4274820"/>
            <a:ext cx="2213534" cy="157734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For the message you write most often. Ten minutes to build.</a:t>
            </a:r>
            <a:endParaRPr lang="en-US" sz="1500" dirty="0"/>
          </a:p>
        </p:txBody>
      </p:sp>
      <p:sp>
        <p:nvSpPr>
          <p:cNvPr id="7" name="Text 5"/>
          <p:cNvSpPr/>
          <p:nvPr/>
        </p:nvSpPr>
        <p:spPr>
          <a:xfrm>
            <a:off x="3630854" y="292608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00697A"/>
                </a:solidFill>
                <a:latin typeface="Calibri" pitchFamily="34" charset="0"/>
                <a:ea typeface="Calibri" pitchFamily="34" charset="-122"/>
                <a:cs typeface="Calibri" pitchFamily="34" charset="-120"/>
              </a:rPr>
              <a:t>OPTION B</a:t>
            </a:r>
            <a:endParaRPr lang="en-US" sz="1050" dirty="0"/>
          </a:p>
        </p:txBody>
      </p:sp>
      <p:sp>
        <p:nvSpPr>
          <p:cNvPr id="8" name="Text 6"/>
          <p:cNvSpPr/>
          <p:nvPr/>
        </p:nvSpPr>
        <p:spPr>
          <a:xfrm>
            <a:off x="3630854" y="332841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 one-page FAQ</a:t>
            </a:r>
            <a:endParaRPr lang="en-US" sz="2100" dirty="0"/>
          </a:p>
        </p:txBody>
      </p:sp>
      <p:sp>
        <p:nvSpPr>
          <p:cNvPr id="9" name="Text 7"/>
          <p:cNvSpPr/>
          <p:nvPr/>
        </p:nvSpPr>
        <p:spPr>
          <a:xfrm>
            <a:off x="3630854" y="4274820"/>
            <a:ext cx="2213534" cy="157734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The twenty questions your office answers every week.</a:t>
            </a:r>
            <a:endParaRPr lang="en-US" sz="1500" dirty="0"/>
          </a:p>
        </p:txBody>
      </p:sp>
      <p:sp>
        <p:nvSpPr>
          <p:cNvPr id="10" name="Text 8"/>
          <p:cNvSpPr/>
          <p:nvPr/>
        </p:nvSpPr>
        <p:spPr>
          <a:xfrm>
            <a:off x="6347308" y="292608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1A7F4B"/>
                </a:solidFill>
                <a:latin typeface="Calibri" pitchFamily="34" charset="0"/>
                <a:ea typeface="Calibri" pitchFamily="34" charset="-122"/>
                <a:cs typeface="Calibri" pitchFamily="34" charset="-120"/>
              </a:rPr>
              <a:t>OPTION C</a:t>
            </a:r>
            <a:endParaRPr lang="en-US" sz="1050" dirty="0"/>
          </a:p>
        </p:txBody>
      </p:sp>
      <p:sp>
        <p:nvSpPr>
          <p:cNvPr id="11" name="Text 9"/>
          <p:cNvSpPr/>
          <p:nvPr/>
        </p:nvSpPr>
        <p:spPr>
          <a:xfrm>
            <a:off x="6347308" y="332841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 cleanup routine</a:t>
            </a:r>
            <a:endParaRPr lang="en-US" sz="2100" dirty="0"/>
          </a:p>
        </p:txBody>
      </p:sp>
      <p:sp>
        <p:nvSpPr>
          <p:cNvPr id="12" name="Text 10"/>
          <p:cNvSpPr/>
          <p:nvPr/>
        </p:nvSpPr>
        <p:spPr>
          <a:xfrm>
            <a:off x="6347308" y="4274820"/>
            <a:ext cx="2213534" cy="157734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The spreadsheet you fix by hand every month. Write it once.</a:t>
            </a:r>
            <a:endParaRPr lang="en-US" sz="1500" dirty="0"/>
          </a:p>
        </p:txBody>
      </p:sp>
      <p:sp>
        <p:nvSpPr>
          <p:cNvPr id="13" name="Text 11"/>
          <p:cNvSpPr/>
          <p:nvPr/>
        </p:nvSpPr>
        <p:spPr>
          <a:xfrm>
            <a:off x="9063761" y="2926080"/>
            <a:ext cx="2213534" cy="256032"/>
          </a:xfrm>
          <a:prstGeom prst="rect">
            <a:avLst/>
          </a:prstGeom>
          <a:noFill/>
          <a:ln/>
        </p:spPr>
        <p:txBody>
          <a:bodyPr wrap="square" lIns="0" tIns="0" rIns="0" bIns="0" rtlCol="0" anchor="ctr">
            <a:normAutofit/>
          </a:bodyPr>
          <a:lstStyle/>
          <a:p>
            <a:pPr indent="0" marL="0">
              <a:buNone/>
            </a:pPr>
            <a:r>
              <a:rPr lang="en-US" sz="1050" b="1" spc="200" kern="0" dirty="0">
                <a:solidFill>
                  <a:srgbClr val="B34A00"/>
                </a:solidFill>
                <a:latin typeface="Calibri" pitchFamily="34" charset="0"/>
                <a:ea typeface="Calibri" pitchFamily="34" charset="-122"/>
                <a:cs typeface="Calibri" pitchFamily="34" charset="-120"/>
              </a:rPr>
              <a:t>OPTION D</a:t>
            </a:r>
            <a:endParaRPr lang="en-US" sz="1050" dirty="0"/>
          </a:p>
        </p:txBody>
      </p:sp>
      <p:sp>
        <p:nvSpPr>
          <p:cNvPr id="14" name="Text 12"/>
          <p:cNvSpPr/>
          <p:nvPr/>
        </p:nvSpPr>
        <p:spPr>
          <a:xfrm>
            <a:off x="9063761" y="3328416"/>
            <a:ext cx="2213534" cy="745236"/>
          </a:xfrm>
          <a:prstGeom prst="rect">
            <a:avLst/>
          </a:prstGeom>
          <a:noFill/>
          <a:ln/>
        </p:spPr>
        <p:txBody>
          <a:bodyPr wrap="square" lIns="0" tIns="0" rIns="0" bIns="0" rtlCol="0" anchor="t">
            <a:normAutofit/>
          </a:bodyPr>
          <a:lstStyle/>
          <a:p>
            <a:pPr indent="0" marL="0">
              <a:lnSpc>
                <a:spcPts val="2646"/>
              </a:lnSpc>
              <a:buNone/>
            </a:pPr>
            <a:r>
              <a:rPr lang="en-US" sz="2100" b="1" dirty="0">
                <a:solidFill>
                  <a:srgbClr val="003366"/>
                </a:solidFill>
                <a:latin typeface="Poppins" pitchFamily="34" charset="0"/>
                <a:ea typeface="Poppins" pitchFamily="34" charset="-122"/>
                <a:cs typeface="Poppins" pitchFamily="34" charset="-120"/>
              </a:rPr>
              <a:t>A plain-language rewrite</a:t>
            </a:r>
            <a:endParaRPr lang="en-US" sz="2100" dirty="0"/>
          </a:p>
        </p:txBody>
      </p:sp>
      <p:sp>
        <p:nvSpPr>
          <p:cNvPr id="15" name="Text 13"/>
          <p:cNvSpPr/>
          <p:nvPr/>
        </p:nvSpPr>
        <p:spPr>
          <a:xfrm>
            <a:off x="9063761" y="4274820"/>
            <a:ext cx="2213534" cy="1577340"/>
          </a:xfrm>
          <a:prstGeom prst="rect">
            <a:avLst/>
          </a:prstGeom>
          <a:noFill/>
          <a:ln/>
        </p:spPr>
        <p:txBody>
          <a:bodyPr wrap="square" lIns="0" tIns="0" rIns="0" bIns="0" rtlCol="0" anchor="t">
            <a:normAutofit/>
          </a:bodyPr>
          <a:lstStyle/>
          <a:p>
            <a:pPr indent="0" marL="0">
              <a:lnSpc>
                <a:spcPts val="2200"/>
              </a:lnSpc>
              <a:buNone/>
            </a:pPr>
            <a:r>
              <a:rPr lang="en-US" sz="1500" dirty="0">
                <a:solidFill>
                  <a:srgbClr val="68737F"/>
                </a:solidFill>
                <a:latin typeface="Calibri" pitchFamily="34" charset="0"/>
                <a:ea typeface="Calibri" pitchFamily="34" charset="-122"/>
                <a:cs typeface="Calibri" pitchFamily="34" charset="-120"/>
              </a:rPr>
              <a:t>One policy students consistently misread.</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4BCC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14400" y="713232"/>
            <a:ext cx="10362895" cy="274320"/>
          </a:xfrm>
          <a:prstGeom prst="rect">
            <a:avLst/>
          </a:prstGeom>
          <a:noFill/>
          <a:ln/>
        </p:spPr>
        <p:txBody>
          <a:bodyPr wrap="square" lIns="0" tIns="0" rIns="0" bIns="0" rtlCol="0" anchor="ctr">
            <a:normAutofit/>
          </a:bodyPr>
          <a:lstStyle/>
          <a:p>
            <a:pPr indent="0" marL="0">
              <a:buNone/>
            </a:pPr>
            <a:r>
              <a:rPr lang="en-US" sz="1150" b="1" spc="260" kern="0" dirty="0">
                <a:solidFill>
                  <a:srgbClr val="FF6600"/>
                </a:solidFill>
                <a:latin typeface="Calibri" pitchFamily="34" charset="0"/>
                <a:ea typeface="Calibri" pitchFamily="34" charset="-122"/>
                <a:cs typeface="Calibri" pitchFamily="34" charset="-120"/>
              </a:rPr>
              <a:t>WHAT MAKES IT STICK</a:t>
            </a:r>
            <a:endParaRPr lang="en-US" sz="1150" dirty="0"/>
          </a:p>
        </p:txBody>
      </p:sp>
      <p:sp>
        <p:nvSpPr>
          <p:cNvPr id="3" name="Text 1"/>
          <p:cNvSpPr/>
          <p:nvPr/>
        </p:nvSpPr>
        <p:spPr>
          <a:xfrm>
            <a:off x="914400" y="1078992"/>
            <a:ext cx="10362895" cy="712216"/>
          </a:xfrm>
          <a:prstGeom prst="rect">
            <a:avLst/>
          </a:prstGeom>
          <a:noFill/>
          <a:ln/>
        </p:spPr>
        <p:txBody>
          <a:bodyPr wrap="square" lIns="0" tIns="0" rIns="0" bIns="0" rtlCol="0" anchor="t">
            <a:normAutofit/>
          </a:bodyPr>
          <a:lstStyle/>
          <a:p>
            <a:pPr indent="0" marL="0">
              <a:lnSpc>
                <a:spcPts val="4600"/>
              </a:lnSpc>
              <a:buNone/>
            </a:pPr>
            <a:r>
              <a:rPr lang="en-US" sz="4000" b="1" dirty="0">
                <a:solidFill>
                  <a:srgbClr val="FFFFFF"/>
                </a:solidFill>
                <a:latin typeface="Poppins" pitchFamily="34" charset="0"/>
                <a:ea typeface="Poppins" pitchFamily="34" charset="-122"/>
                <a:cs typeface="Poppins" pitchFamily="34" charset="-120"/>
              </a:rPr>
              <a:t>Fifteen minutes, once a week.</a:t>
            </a:r>
            <a:endParaRPr lang="en-US" sz="4000" dirty="0"/>
          </a:p>
        </p:txBody>
      </p:sp>
      <p:sp>
        <p:nvSpPr>
          <p:cNvPr id="4" name="Text 2"/>
          <p:cNvSpPr/>
          <p:nvPr/>
        </p:nvSpPr>
        <p:spPr>
          <a:xfrm>
            <a:off x="914400" y="2953512"/>
            <a:ext cx="713232" cy="384048"/>
          </a:xfrm>
          <a:prstGeom prst="rect">
            <a:avLst/>
          </a:prstGeom>
          <a:noFill/>
          <a:ln/>
        </p:spPr>
        <p:txBody>
          <a:bodyPr wrap="square" lIns="0" tIns="0" rIns="0" bIns="0" rtlCol="0" anchor="ctr">
            <a:normAutofit/>
          </a:bodyPr>
          <a:lstStyle/>
          <a:p>
            <a:pPr indent="0" marL="0">
              <a:buNone/>
            </a:pPr>
            <a:r>
              <a:rPr lang="en-US" sz="2000" b="1" dirty="0">
                <a:solidFill>
                  <a:srgbClr val="008DA7"/>
                </a:solidFill>
                <a:latin typeface="Poppins" pitchFamily="34" charset="0"/>
                <a:ea typeface="Poppins" pitchFamily="34" charset="-122"/>
                <a:cs typeface="Poppins" pitchFamily="34" charset="-120"/>
              </a:rPr>
              <a:t>01</a:t>
            </a:r>
            <a:endParaRPr lang="en-US" sz="2000" dirty="0"/>
          </a:p>
        </p:txBody>
      </p:sp>
      <p:sp>
        <p:nvSpPr>
          <p:cNvPr id="5" name="Text 3"/>
          <p:cNvSpPr/>
          <p:nvPr/>
        </p:nvSpPr>
        <p:spPr>
          <a:xfrm>
            <a:off x="1737360" y="2926080"/>
            <a:ext cx="9539935" cy="320040"/>
          </a:xfrm>
          <a:prstGeom prst="rect">
            <a:avLst/>
          </a:prstGeom>
          <a:noFill/>
          <a:ln/>
        </p:spPr>
        <p:txBody>
          <a:bodyPr wrap="square" lIns="0" tIns="0" rIns="0" bIns="0" rtlCol="0" anchor="t">
            <a:normAutofit/>
          </a:bodyPr>
          <a:lstStyle/>
          <a:p>
            <a:pPr indent="0" marL="0">
              <a:lnSpc>
                <a:spcPts val="2160"/>
              </a:lnSpc>
              <a:buNone/>
            </a:pPr>
            <a:r>
              <a:rPr lang="en-US" sz="1800" b="1" dirty="0">
                <a:solidFill>
                  <a:srgbClr val="FFFFFF"/>
                </a:solidFill>
                <a:latin typeface="Poppins" pitchFamily="34" charset="0"/>
                <a:ea typeface="Poppins" pitchFamily="34" charset="-122"/>
                <a:cs typeface="Poppins" pitchFamily="34" charset="-120"/>
              </a:rPr>
              <a:t>Look at what you did more than twice</a:t>
            </a:r>
            <a:endParaRPr lang="en-US" sz="1800" dirty="0"/>
          </a:p>
        </p:txBody>
      </p:sp>
      <p:sp>
        <p:nvSpPr>
          <p:cNvPr id="6" name="Text 4"/>
          <p:cNvSpPr/>
          <p:nvPr/>
        </p:nvSpPr>
        <p:spPr>
          <a:xfrm>
            <a:off x="1737360" y="324612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A7B7C9"/>
                </a:solidFill>
                <a:latin typeface="Calibri" pitchFamily="34" charset="0"/>
                <a:ea typeface="Calibri" pitchFamily="34" charset="-122"/>
                <a:cs typeface="Calibri" pitchFamily="34" charset="-120"/>
              </a:rPr>
              <a:t>The same sent-folder move. Four minutes once you have done it once.</a:t>
            </a:r>
            <a:endParaRPr lang="en-US" sz="1500" dirty="0"/>
          </a:p>
        </p:txBody>
      </p:sp>
      <p:sp>
        <p:nvSpPr>
          <p:cNvPr id="7" name="Text 5"/>
          <p:cNvSpPr/>
          <p:nvPr/>
        </p:nvSpPr>
        <p:spPr>
          <a:xfrm>
            <a:off x="914400" y="3748532"/>
            <a:ext cx="713232" cy="384048"/>
          </a:xfrm>
          <a:prstGeom prst="rect">
            <a:avLst/>
          </a:prstGeom>
          <a:noFill/>
          <a:ln/>
        </p:spPr>
        <p:txBody>
          <a:bodyPr wrap="square" lIns="0" tIns="0" rIns="0" bIns="0" rtlCol="0" anchor="ctr">
            <a:normAutofit/>
          </a:bodyPr>
          <a:lstStyle/>
          <a:p>
            <a:pPr indent="0" marL="0">
              <a:buNone/>
            </a:pPr>
            <a:r>
              <a:rPr lang="en-US" sz="2000" b="1" dirty="0">
                <a:solidFill>
                  <a:srgbClr val="FF6600"/>
                </a:solidFill>
                <a:latin typeface="Poppins" pitchFamily="34" charset="0"/>
                <a:ea typeface="Poppins" pitchFamily="34" charset="-122"/>
                <a:cs typeface="Poppins" pitchFamily="34" charset="-120"/>
              </a:rPr>
              <a:t>02</a:t>
            </a:r>
            <a:endParaRPr lang="en-US" sz="2000" dirty="0"/>
          </a:p>
        </p:txBody>
      </p:sp>
      <p:sp>
        <p:nvSpPr>
          <p:cNvPr id="8" name="Text 6"/>
          <p:cNvSpPr/>
          <p:nvPr/>
        </p:nvSpPr>
        <p:spPr>
          <a:xfrm>
            <a:off x="1737360" y="3721100"/>
            <a:ext cx="9539935" cy="320040"/>
          </a:xfrm>
          <a:prstGeom prst="rect">
            <a:avLst/>
          </a:prstGeom>
          <a:noFill/>
          <a:ln/>
        </p:spPr>
        <p:txBody>
          <a:bodyPr wrap="square" lIns="0" tIns="0" rIns="0" bIns="0" rtlCol="0" anchor="t">
            <a:normAutofit/>
          </a:bodyPr>
          <a:lstStyle/>
          <a:p>
            <a:pPr indent="0" marL="0">
              <a:lnSpc>
                <a:spcPts val="2160"/>
              </a:lnSpc>
              <a:buNone/>
            </a:pPr>
            <a:r>
              <a:rPr lang="en-US" sz="1800" b="1" dirty="0">
                <a:solidFill>
                  <a:srgbClr val="FFFFFF"/>
                </a:solidFill>
                <a:latin typeface="Poppins" pitchFamily="34" charset="0"/>
                <a:ea typeface="Poppins" pitchFamily="34" charset="-122"/>
                <a:cs typeface="Poppins" pitchFamily="34" charset="-120"/>
              </a:rPr>
              <a:t>Turn the most frequent one into a saved prompt</a:t>
            </a:r>
            <a:endParaRPr lang="en-US" sz="1800" dirty="0"/>
          </a:p>
        </p:txBody>
      </p:sp>
      <p:sp>
        <p:nvSpPr>
          <p:cNvPr id="9" name="Text 7"/>
          <p:cNvSpPr/>
          <p:nvPr/>
        </p:nvSpPr>
        <p:spPr>
          <a:xfrm>
            <a:off x="1737360" y="404114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A7B7C9"/>
                </a:solidFill>
                <a:latin typeface="Calibri" pitchFamily="34" charset="0"/>
                <a:ea typeface="Calibri" pitchFamily="34" charset="-122"/>
                <a:cs typeface="Calibri" pitchFamily="34" charset="-120"/>
              </a:rPr>
              <a:t>Mediocre and saved beats excellent and forgotten.</a:t>
            </a:r>
            <a:endParaRPr lang="en-US" sz="1500" dirty="0"/>
          </a:p>
        </p:txBody>
      </p:sp>
      <p:sp>
        <p:nvSpPr>
          <p:cNvPr id="10" name="Text 8"/>
          <p:cNvSpPr/>
          <p:nvPr/>
        </p:nvSpPr>
        <p:spPr>
          <a:xfrm>
            <a:off x="914400" y="4543552"/>
            <a:ext cx="713232" cy="384048"/>
          </a:xfrm>
          <a:prstGeom prst="rect">
            <a:avLst/>
          </a:prstGeom>
          <a:noFill/>
          <a:ln/>
        </p:spPr>
        <p:txBody>
          <a:bodyPr wrap="square" lIns="0" tIns="0" rIns="0" bIns="0" rtlCol="0" anchor="ctr">
            <a:normAutofit/>
          </a:bodyPr>
          <a:lstStyle/>
          <a:p>
            <a:pPr indent="0" marL="0">
              <a:buNone/>
            </a:pPr>
            <a:r>
              <a:rPr lang="en-US" sz="2000" b="1" dirty="0">
                <a:solidFill>
                  <a:srgbClr val="F9DD56"/>
                </a:solidFill>
                <a:latin typeface="Poppins" pitchFamily="34" charset="0"/>
                <a:ea typeface="Poppins" pitchFamily="34" charset="-122"/>
                <a:cs typeface="Poppins" pitchFamily="34" charset="-120"/>
              </a:rPr>
              <a:t>03</a:t>
            </a:r>
            <a:endParaRPr lang="en-US" sz="2000" dirty="0"/>
          </a:p>
        </p:txBody>
      </p:sp>
      <p:sp>
        <p:nvSpPr>
          <p:cNvPr id="11" name="Text 9"/>
          <p:cNvSpPr/>
          <p:nvPr/>
        </p:nvSpPr>
        <p:spPr>
          <a:xfrm>
            <a:off x="1737360" y="4516120"/>
            <a:ext cx="9539935" cy="320040"/>
          </a:xfrm>
          <a:prstGeom prst="rect">
            <a:avLst/>
          </a:prstGeom>
          <a:noFill/>
          <a:ln/>
        </p:spPr>
        <p:txBody>
          <a:bodyPr wrap="square" lIns="0" tIns="0" rIns="0" bIns="0" rtlCol="0" anchor="t">
            <a:normAutofit/>
          </a:bodyPr>
          <a:lstStyle/>
          <a:p>
            <a:pPr indent="0" marL="0">
              <a:lnSpc>
                <a:spcPts val="2160"/>
              </a:lnSpc>
              <a:buNone/>
            </a:pPr>
            <a:r>
              <a:rPr lang="en-US" sz="1800" b="1" dirty="0">
                <a:solidFill>
                  <a:srgbClr val="FFFFFF"/>
                </a:solidFill>
                <a:latin typeface="Poppins" pitchFamily="34" charset="0"/>
                <a:ea typeface="Poppins" pitchFamily="34" charset="-122"/>
                <a:cs typeface="Poppins" pitchFamily="34" charset="-120"/>
              </a:rPr>
              <a:t>Delete the ones you never used</a:t>
            </a:r>
            <a:endParaRPr lang="en-US" sz="1800" dirty="0"/>
          </a:p>
        </p:txBody>
      </p:sp>
      <p:sp>
        <p:nvSpPr>
          <p:cNvPr id="12" name="Text 10"/>
          <p:cNvSpPr/>
          <p:nvPr/>
        </p:nvSpPr>
        <p:spPr>
          <a:xfrm>
            <a:off x="1737360" y="483616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A7B7C9"/>
                </a:solidFill>
                <a:latin typeface="Calibri" pitchFamily="34" charset="0"/>
                <a:ea typeface="Calibri" pitchFamily="34" charset="-122"/>
                <a:cs typeface="Calibri" pitchFamily="34" charset="-120"/>
              </a:rPr>
              <a:t>Forty prompts you do not trust is worse than four you do.</a:t>
            </a:r>
            <a:endParaRPr lang="en-US" sz="1500" dirty="0"/>
          </a:p>
        </p:txBody>
      </p:sp>
      <p:sp>
        <p:nvSpPr>
          <p:cNvPr id="13" name="Text 11"/>
          <p:cNvSpPr/>
          <p:nvPr/>
        </p:nvSpPr>
        <p:spPr>
          <a:xfrm>
            <a:off x="914400" y="5338572"/>
            <a:ext cx="713232" cy="384048"/>
          </a:xfrm>
          <a:prstGeom prst="rect">
            <a:avLst/>
          </a:prstGeom>
          <a:noFill/>
          <a:ln/>
        </p:spPr>
        <p:txBody>
          <a:bodyPr wrap="square" lIns="0" tIns="0" rIns="0" bIns="0" rtlCol="0" anchor="ctr">
            <a:normAutofit/>
          </a:bodyPr>
          <a:lstStyle/>
          <a:p>
            <a:pPr indent="0" marL="0">
              <a:buNone/>
            </a:pPr>
            <a:r>
              <a:rPr lang="en-US" sz="2000" b="1" dirty="0">
                <a:solidFill>
                  <a:srgbClr val="1A7F4B"/>
                </a:solidFill>
                <a:latin typeface="Poppins" pitchFamily="34" charset="0"/>
                <a:ea typeface="Poppins" pitchFamily="34" charset="-122"/>
                <a:cs typeface="Poppins" pitchFamily="34" charset="-120"/>
              </a:rPr>
              <a:t>04</a:t>
            </a:r>
            <a:endParaRPr lang="en-US" sz="2000" dirty="0"/>
          </a:p>
        </p:txBody>
      </p:sp>
      <p:sp>
        <p:nvSpPr>
          <p:cNvPr id="14" name="Text 12"/>
          <p:cNvSpPr/>
          <p:nvPr/>
        </p:nvSpPr>
        <p:spPr>
          <a:xfrm>
            <a:off x="1737360" y="5311140"/>
            <a:ext cx="9539935" cy="320040"/>
          </a:xfrm>
          <a:prstGeom prst="rect">
            <a:avLst/>
          </a:prstGeom>
          <a:noFill/>
          <a:ln/>
        </p:spPr>
        <p:txBody>
          <a:bodyPr wrap="square" lIns="0" tIns="0" rIns="0" bIns="0" rtlCol="0" anchor="t">
            <a:normAutofit/>
          </a:bodyPr>
          <a:lstStyle/>
          <a:p>
            <a:pPr indent="0" marL="0">
              <a:lnSpc>
                <a:spcPts val="2160"/>
              </a:lnSpc>
              <a:buNone/>
            </a:pPr>
            <a:r>
              <a:rPr lang="en-US" sz="1800" b="1" dirty="0">
                <a:solidFill>
                  <a:srgbClr val="FFFFFF"/>
                </a:solidFill>
                <a:latin typeface="Poppins" pitchFamily="34" charset="0"/>
                <a:ea typeface="Poppins" pitchFamily="34" charset="-122"/>
                <a:cs typeface="Poppins" pitchFamily="34" charset="-120"/>
              </a:rPr>
              <a:t>Tell one colleague what worked</a:t>
            </a:r>
            <a:endParaRPr lang="en-US" sz="1800" dirty="0"/>
          </a:p>
        </p:txBody>
      </p:sp>
      <p:sp>
        <p:nvSpPr>
          <p:cNvPr id="15" name="Text 13"/>
          <p:cNvSpPr/>
          <p:nvPr/>
        </p:nvSpPr>
        <p:spPr>
          <a:xfrm>
            <a:off x="1737360" y="5631180"/>
            <a:ext cx="9082735" cy="312420"/>
          </a:xfrm>
          <a:prstGeom prst="rect">
            <a:avLst/>
          </a:prstGeom>
          <a:noFill/>
          <a:ln/>
        </p:spPr>
        <p:txBody>
          <a:bodyPr wrap="square" lIns="0" tIns="0" rIns="0" bIns="0" rtlCol="0" anchor="t">
            <a:normAutofit/>
          </a:bodyPr>
          <a:lstStyle/>
          <a:p>
            <a:pPr indent="0" marL="0">
              <a:lnSpc>
                <a:spcPts val="2100"/>
              </a:lnSpc>
              <a:buNone/>
            </a:pPr>
            <a:r>
              <a:rPr lang="en-US" sz="1500" dirty="0">
                <a:solidFill>
                  <a:srgbClr val="A7B7C9"/>
                </a:solidFill>
                <a:latin typeface="Calibri" pitchFamily="34" charset="0"/>
                <a:ea typeface="Calibri" pitchFamily="34" charset="-122"/>
                <a:cs typeface="Calibri" pitchFamily="34" charset="-120"/>
              </a:rPr>
              <a:t>This is how a department improves rather than one person getting faster.</a:t>
            </a:r>
            <a:endParaRPr lang="en-US" sz="15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14400" y="1325880"/>
            <a:ext cx="9814255" cy="2945384"/>
          </a:xfrm>
          <a:prstGeom prst="rect">
            <a:avLst/>
          </a:prstGeom>
          <a:noFill/>
          <a:ln/>
        </p:spPr>
        <p:txBody>
          <a:bodyPr wrap="square" lIns="0" tIns="0" rIns="0" bIns="0" rtlCol="0" anchor="t">
            <a:normAutofit/>
          </a:bodyPr>
          <a:lstStyle/>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You are not trying</a:t>
            </a:r>
            <a:endParaRPr lang="en-US" sz="3800" dirty="0"/>
          </a:p>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to work faster.</a:t>
            </a:r>
            <a:endParaRPr lang="en-US" sz="3800" dirty="0"/>
          </a:p>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You are trying to spend</a:t>
            </a:r>
            <a:endParaRPr lang="en-US" sz="3800" dirty="0"/>
          </a:p>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your hours on the part</a:t>
            </a:r>
            <a:endParaRPr lang="en-US" sz="3800" dirty="0"/>
          </a:p>
          <a:p>
            <a:pPr indent="0" marL="0">
              <a:lnSpc>
                <a:spcPts val="4408"/>
              </a:lnSpc>
              <a:buNone/>
            </a:pPr>
            <a:r>
              <a:rPr lang="en-US" sz="3800" b="1" dirty="0">
                <a:solidFill>
                  <a:srgbClr val="FFFFFF"/>
                </a:solidFill>
                <a:latin typeface="Poppins" pitchFamily="34" charset="0"/>
                <a:ea typeface="Poppins" pitchFamily="34" charset="-122"/>
                <a:cs typeface="Poppins" pitchFamily="34" charset="-120"/>
              </a:rPr>
              <a:t>only you can do.</a:t>
            </a:r>
            <a:endParaRPr lang="en-US" sz="3800" dirty="0"/>
          </a:p>
        </p:txBody>
      </p:sp>
      <p:sp>
        <p:nvSpPr>
          <p:cNvPr id="3" name="Text 1"/>
          <p:cNvSpPr/>
          <p:nvPr/>
        </p:nvSpPr>
        <p:spPr>
          <a:xfrm>
            <a:off x="914400" y="4582160"/>
            <a:ext cx="8716975" cy="1407160"/>
          </a:xfrm>
          <a:prstGeom prst="rect">
            <a:avLst/>
          </a:prstGeom>
          <a:noFill/>
          <a:ln/>
        </p:spPr>
        <p:txBody>
          <a:bodyPr wrap="square" lIns="0" tIns="0" rIns="0" bIns="0" rtlCol="0" anchor="t">
            <a:normAutofit/>
          </a:bodyPr>
          <a:lstStyle/>
          <a:p>
            <a:pPr indent="0" marL="0">
              <a:lnSpc>
                <a:spcPts val="3000"/>
              </a:lnSpc>
              <a:buNone/>
            </a:pPr>
            <a:r>
              <a:rPr lang="en-US" sz="2000" dirty="0">
                <a:solidFill>
                  <a:srgbClr val="A7B7C9"/>
                </a:solidFill>
                <a:latin typeface="Calibri" pitchFamily="34" charset="0"/>
                <a:ea typeface="Calibri" pitchFamily="34" charset="-122"/>
                <a:cs typeface="Calibri" pitchFamily="34" charset="-120"/>
              </a:rPr>
              <a:t>The email gets written either way. The conversation with the student who is about to drop out only happens if you have time for it.</a:t>
            </a:r>
            <a:endParaRPr lang="en-US" sz="2000" dirty="0"/>
          </a:p>
        </p:txBody>
      </p:sp>
      <p:sp>
        <p:nvSpPr>
          <p:cNvPr id="25" name="Slide Number Placeholder 0"/>
          <p:cNvSpPr>
            <a:spLocks noGrp="1"/>
          </p:cNvSpPr>
          <p:nvPr>
            <p:ph type="sldNum" sz="quarter" idx="4294967295"/>
          </p:nvPr>
        </p:nvSpPr>
        <p:spPr>
          <a:xfrm>
            <a:off x="10637215" y="6345936"/>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E5F7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McLennan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Your Time Back — AI for the work you actually do</dc:title>
  <dc:subject>Staff professional development · applied productivity</dc:subject>
  <dc:creator>Ted Gonzalez, JD/MBA</dc:creator>
  <cp:lastModifiedBy>Ted Gonzalez, JD/MBA</cp:lastModifiedBy>
  <cp:revision>1</cp:revision>
  <dcterms:created xsi:type="dcterms:W3CDTF">2026-08-10T17:46:26Z</dcterms:created>
  <dcterms:modified xsi:type="dcterms:W3CDTF">2026-08-10T17:46:26Z</dcterms:modified>
</cp:coreProperties>
</file>