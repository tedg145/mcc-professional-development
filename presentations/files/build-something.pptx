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reporting tangible value</c:v>
                </c:pt>
              </c:strCache>
            </c:strRef>
          </c:tx>
          <c:spPr>
            <a:solidFill>
              <a:srgbClr val="003366"/>
            </a:solidFill>
            <a:effectLst/>
          </c:spPr>
          <c:invertIfNegative val="0"/>
          <c:dLbls>
            <c:numFmt formatCode="0&quot;%&quot;" sourceLinked="0"/>
            <c:txPr>
              <a:bodyPr/>
              <a:lstStyle/>
              <a:p>
                <a:pPr>
                  <a:defRPr b="0" i="0" strike="noStrike" sz="1300" u="none">
                    <a:solidFill>
                      <a:srgbClr val="68737F"/>
                    </a:solidFill>
                    <a:latin typeface="Calibri"/>
                  </a:defRPr>
                </a:pPr>
              </a:p>
            </c:txPr>
            <c:showLegendKey val="0"/>
            <c:showVal val="1"/>
            <c:showCatName val="0"/>
            <c:showSerName val="0"/>
            <c:showPercent val="0"/>
            <c:showBubbleSize val="0"/>
            <c:showLeaderLines val="0"/>
          </c:dLbls>
          <c:dPt>
            <c:idx val="0"/>
            <c:invertIfNegative val="0"/>
            <c:bubble3D val="0"/>
            <c:spPr>
              <a:solidFill>
                <a:srgbClr val="003366"/>
              </a:solidFill>
              <a:effectLst/>
            </c:spPr>
          </c:dPt>
          <c:dPt>
            <c:idx val="1"/>
            <c:invertIfNegative val="0"/>
            <c:bubble3D val="0"/>
            <c:spPr>
              <a:solidFill>
                <a:srgbClr val="003366"/>
              </a:solidFill>
              <a:effectLst/>
            </c:spPr>
          </c:dPt>
          <c:dPt>
            <c:idx val="2"/>
            <c:invertIfNegative val="0"/>
            <c:bubble3D val="0"/>
            <c:spPr>
              <a:solidFill>
                <a:srgbClr val="003366"/>
              </a:solidFill>
              <a:effectLst/>
            </c:spPr>
          </c:dPt>
          <c:dPt>
            <c:idx val="3"/>
            <c:invertIfNegative val="0"/>
            <c:bubble3D val="0"/>
            <c:spPr>
              <a:solidFill>
                <a:srgbClr val="003366"/>
              </a:solidFill>
              <a:effectLst/>
            </c:spPr>
          </c:dPt>
          <c:dPt>
            <c:idx val="4"/>
            <c:invertIfNegative val="0"/>
            <c:bubble3D val="0"/>
            <c:spPr>
              <a:solidFill>
                <a:srgbClr val="003366"/>
              </a:solidFill>
              <a:effectLst/>
            </c:spPr>
          </c:dPt>
          <c:dPt>
            <c:idx val="5"/>
            <c:invertIfNegative val="0"/>
            <c:bubble3D val="0"/>
            <c:spPr>
              <a:solidFill>
                <a:srgbClr val="FF6600"/>
              </a:solidFill>
              <a:effectLst/>
            </c:spPr>
          </c:dPt>
          <c:cat>
            <c:multiLvlStrRef>
              <c:f>Sheet1!$A$2:$A$7</c:f>
              <c:multiLvlStrCache>
                <c:ptCount val="6"/>
                <c:lvl>
                  <c:pt idx="0">
                    <c:v>Research</c:v>
                  </c:pt>
                  <c:pt idx="1">
                    <c:v>Advising and support</c:v>
                  </c:pt>
                  <c:pt idx="2">
                    <c:v>Teaching and learning</c:v>
                  </c:pt>
                  <c:pt idx="3">
                    <c:v>Administrative efficiency</c:v>
                  </c:pt>
                  <c:pt idx="4">
                    <c:v>IT operations</c:v>
                  </c:pt>
                  <c:pt idx="5">
                    <c:v>Employee productivity</c:v>
                  </c:pt>
                </c:lvl>
              </c:multiLvlStrCache>
            </c:multiLvlStrRef>
          </c:cat>
          <c:val>
            <c:numRef>
              <c:f>Sheet1!$B$2:$B$7</c:f>
              <c:numCache>
                <c:formatCode>General</c:formatCode>
                <c:ptCount val="6"/>
                <c:pt idx="0">
                  <c:v>9</c:v>
                </c:pt>
                <c:pt idx="1">
                  <c:v>13</c:v>
                </c:pt>
                <c:pt idx="2">
                  <c:v>23</c:v>
                </c:pt>
                <c:pt idx="3">
                  <c:v>29</c:v>
                </c:pt>
                <c:pt idx="4">
                  <c:v>30</c:v>
                </c:pt>
                <c:pt idx="5">
                  <c:v>55</c:v>
                </c:pt>
              </c:numCache>
            </c:numRef>
          </c:val>
        </c:ser>
        <c:dLbls>
          <c:numFmt formatCode="0&quot;%&quot;" sourceLinked="0"/>
          <c:txPr>
            <a:bodyPr/>
            <a:lstStyle/>
            <a:p>
              <a:pPr>
                <a:defRPr b="0" i="0" strike="noStrike" sz="1300" u="none">
                  <a:solidFill>
                    <a:srgbClr val="68737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03366"/>
                </a:solidFill>
                <a:latin typeface="Calibri"/>
              </a:defRPr>
            </a:pPr>
            <a:endParaRPr lang="en-US"/>
          </a:p>
        </c:txPr>
        <c:crossAx val="2094734552"/>
        <c:crosses val="autoZero"/>
        <c:auto val="1"/>
        <c:lblAlgn val="ctr"/>
        <c:noMultiLvlLbl val="1"/>
      </c:catAx>
      <c:valAx>
        <c:axId val="2094734552"/>
        <c:scaling>
          <c:orientation val="minMax"/>
          <c:max val="6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room does not need convincing that AI is useful. They need a boundary they can move fast inside and something real to build. Skip fundamentals — point them at the Foundations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argument for the whole tier. If you get one slide in front of a vice president, make it this one. Employee productivity outranks teaching and learning more than two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"do not build." It is that things built quickly and privately are almost never built securely — and nobody who built them knew that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Signed by the builder and their supervisor. It is the admission ticket to the build sessions — and it is also a governance artifact MCC does not currently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the CIO or a designee is in the room. If you can get them to say "bring these to me early," the whole tier is de-risked.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in the debrief, classify each file against MCC's real data line and see which ones would have been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participants open it on their own laptops — one file, no install, no account, no network. Fifteen minutes and let the room get noisy. Do not demo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missions three and four are designed to be failed. Say so before people start, or the cautious half of the room plays it safe and learns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the person who corrects the overclaim buys enormous credibility with a skeptical room. Do not skip this because it is unflattering to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B4BCC5"/>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1A2E"/>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4E5F72"/>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5A82A8"/>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74520"/>
            <a:ext cx="10362895" cy="310896"/>
          </a:xfrm>
          <a:prstGeom prst="rect">
            <a:avLst/>
          </a:prstGeom>
          <a:noFill/>
          <a:ln/>
        </p:spPr>
        <p:txBody>
          <a:bodyPr wrap="square" lIns="0" tIns="0" rIns="0" bIns="0" rtlCol="0" anchor="ctr">
            <a:normAutofit/>
          </a:bodyPr>
          <a:lstStyle/>
          <a:p>
            <a:pPr indent="0" marL="0">
              <a:buNone/>
            </a:pPr>
            <a:r>
              <a:rPr lang="en-US" sz="1250" b="1" spc="300" kern="0" dirty="0">
                <a:solidFill>
                  <a:srgbClr val="FF6600"/>
                </a:solidFill>
                <a:latin typeface="Calibri" pitchFamily="34" charset="0"/>
                <a:ea typeface="Calibri" pitchFamily="34" charset="-122"/>
                <a:cs typeface="Calibri" pitchFamily="34" charset="-120"/>
              </a:rPr>
              <a:t>MCLENNAN COMMUNITY COLLEGE</a:t>
            </a:r>
            <a:endParaRPr lang="en-US" sz="1250" dirty="0"/>
          </a:p>
        </p:txBody>
      </p:sp>
      <p:sp>
        <p:nvSpPr>
          <p:cNvPr id="3" name="Text 1"/>
          <p:cNvSpPr/>
          <p:nvPr/>
        </p:nvSpPr>
        <p:spPr>
          <a:xfrm>
            <a:off x="914400" y="2331720"/>
            <a:ext cx="10362895" cy="1051560"/>
          </a:xfrm>
          <a:prstGeom prst="rect">
            <a:avLst/>
          </a:prstGeom>
          <a:noFill/>
          <a:ln/>
        </p:spPr>
        <p:txBody>
          <a:bodyPr wrap="square" lIns="0" tIns="0" rIns="0" bIns="0" rtlCol="0" anchor="ctr">
            <a:normAutofit/>
          </a:bodyPr>
          <a:lstStyle/>
          <a:p>
            <a:pPr indent="0" marL="0">
              <a:lnSpc>
                <a:spcPts val="6800"/>
              </a:lnSpc>
              <a:buNone/>
            </a:pPr>
            <a:r>
              <a:rPr lang="en-US" sz="6200" b="1" dirty="0">
                <a:solidFill>
                  <a:srgbClr val="FFFFFF"/>
                </a:solidFill>
                <a:latin typeface="Poppins" pitchFamily="34" charset="0"/>
                <a:ea typeface="Poppins" pitchFamily="34" charset="-122"/>
                <a:cs typeface="Poppins" pitchFamily="34" charset="-120"/>
              </a:rPr>
              <a:t>Build</a:t>
            </a:r>
            <a:endParaRPr lang="en-US" sz="6200" dirty="0"/>
          </a:p>
        </p:txBody>
      </p:sp>
      <p:sp>
        <p:nvSpPr>
          <p:cNvPr id="4" name="Text 2"/>
          <p:cNvSpPr/>
          <p:nvPr/>
        </p:nvSpPr>
        <p:spPr>
          <a:xfrm>
            <a:off x="914400" y="3310128"/>
            <a:ext cx="10362895" cy="1051560"/>
          </a:xfrm>
          <a:prstGeom prst="rect">
            <a:avLst/>
          </a:prstGeom>
          <a:noFill/>
          <a:ln/>
        </p:spPr>
        <p:txBody>
          <a:bodyPr wrap="square" lIns="0" tIns="0" rIns="0" bIns="0" rtlCol="0" anchor="ctr">
            <a:normAutofit/>
          </a:bodyPr>
          <a:lstStyle/>
          <a:p>
            <a:pPr indent="0" marL="0">
              <a:lnSpc>
                <a:spcPts val="6800"/>
              </a:lnSpc>
              <a:buNone/>
            </a:pPr>
            <a:r>
              <a:rPr lang="en-US" sz="6200" b="1" dirty="0">
                <a:solidFill>
                  <a:srgbClr val="5C6E82"/>
                </a:solidFill>
                <a:latin typeface="Poppins" pitchFamily="34" charset="0"/>
                <a:ea typeface="Poppins" pitchFamily="34" charset="-122"/>
                <a:cs typeface="Poppins" pitchFamily="34" charset="-120"/>
              </a:rPr>
              <a:t>Something</a:t>
            </a:r>
            <a:endParaRPr lang="en-US" sz="6200" dirty="0"/>
          </a:p>
        </p:txBody>
      </p:sp>
      <p:sp>
        <p:nvSpPr>
          <p:cNvPr id="5" name="Text 3"/>
          <p:cNvSpPr/>
          <p:nvPr/>
        </p:nvSpPr>
        <p:spPr>
          <a:xfrm>
            <a:off x="914400" y="4709160"/>
            <a:ext cx="10362895" cy="365760"/>
          </a:xfrm>
          <a:prstGeom prst="rect">
            <a:avLst/>
          </a:prstGeom>
          <a:noFill/>
          <a:ln/>
        </p:spPr>
        <p:txBody>
          <a:bodyPr wrap="square" lIns="0" tIns="0" rIns="0" bIns="0" rtlCol="0" anchor="ctr">
            <a:normAutofit/>
          </a:bodyPr>
          <a:lstStyle/>
          <a:p>
            <a:pPr indent="0" marL="0">
              <a:buNone/>
            </a:pPr>
            <a:r>
              <a:rPr lang="en-US" sz="1900" dirty="0">
                <a:solidFill>
                  <a:srgbClr val="A7B7C9"/>
                </a:solidFill>
                <a:latin typeface="Calibri" pitchFamily="34" charset="0"/>
                <a:ea typeface="Calibri" pitchFamily="34" charset="-122"/>
                <a:cs typeface="Calibri" pitchFamily="34" charset="-120"/>
              </a:rPr>
              <a:t>The MCC AI Sandbox  ·  Tier 3</a:t>
            </a:r>
            <a:endParaRPr lang="en-US" sz="1900" dirty="0"/>
          </a:p>
        </p:txBody>
      </p:sp>
      <p:sp>
        <p:nvSpPr>
          <p:cNvPr id="6" name="Text 4"/>
          <p:cNvSpPr/>
          <p:nvPr/>
        </p:nvSpPr>
        <p:spPr>
          <a:xfrm>
            <a:off x="914400" y="5138928"/>
            <a:ext cx="10362895" cy="365760"/>
          </a:xfrm>
          <a:prstGeom prst="rect">
            <a:avLst/>
          </a:prstGeom>
          <a:noFill/>
          <a:ln/>
        </p:spPr>
        <p:txBody>
          <a:bodyPr wrap="square" lIns="0" tIns="0" rIns="0" bIns="0" rtlCol="0" anchor="ctr">
            <a:normAutofit/>
          </a:bodyPr>
          <a:lstStyle/>
          <a:p>
            <a:pPr indent="0" marL="0">
              <a:buNone/>
            </a:pPr>
            <a:r>
              <a:rPr lang="en-US" sz="1500" dirty="0">
                <a:solidFill>
                  <a:srgbClr val="5C6E82"/>
                </a:solidFill>
                <a:latin typeface="Calibri" pitchFamily="34" charset="0"/>
                <a:ea typeface="Calibri" pitchFamily="34" charset="-122"/>
                <a:cs typeface="Calibri" pitchFamily="34" charset="-120"/>
              </a:rPr>
              <a:t>Ted Gonzalez, JD/MBA</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14400" y="1965960"/>
            <a:ext cx="9814255" cy="1678432"/>
          </a:xfrm>
          <a:prstGeom prst="rect">
            <a:avLst/>
          </a:prstGeom>
          <a:noFill/>
          <a:ln/>
        </p:spPr>
        <p:txBody>
          <a:bodyPr wrap="square" lIns="0" tIns="0" rIns="0" bIns="0" rtlCol="0" anchor="t">
            <a:normAutofit/>
          </a:bodyPr>
          <a:lstStyle/>
          <a:p>
            <a:pPr indent="0" marL="0">
              <a:lnSpc>
                <a:spcPts val="6032"/>
              </a:lnSpc>
              <a:buNone/>
            </a:pPr>
            <a:r>
              <a:rPr lang="en-US" sz="5200" b="1" dirty="0">
                <a:solidFill>
                  <a:srgbClr val="FFFFFF"/>
                </a:solidFill>
                <a:latin typeface="Poppins" pitchFamily="34" charset="0"/>
                <a:ea typeface="Poppins" pitchFamily="34" charset="-122"/>
                <a:cs typeface="Poppins" pitchFamily="34" charset="-120"/>
              </a:rPr>
              <a:t>You are not the</a:t>
            </a:r>
            <a:endParaRPr lang="en-US" sz="5200" dirty="0"/>
          </a:p>
          <a:p>
            <a:pPr indent="0" marL="0">
              <a:lnSpc>
                <a:spcPts val="6032"/>
              </a:lnSpc>
              <a:buNone/>
            </a:pPr>
            <a:r>
              <a:rPr lang="en-US" sz="5200" b="1" dirty="0">
                <a:solidFill>
                  <a:srgbClr val="FFFFFF"/>
                </a:solidFill>
                <a:latin typeface="Poppins" pitchFamily="34" charset="0"/>
                <a:ea typeface="Poppins" pitchFamily="34" charset="-122"/>
                <a:cs typeface="Poppins" pitchFamily="34" charset="-120"/>
              </a:rPr>
              <a:t>beginner audience.</a:t>
            </a:r>
            <a:endParaRPr lang="en-US" sz="5200" dirty="0"/>
          </a:p>
        </p:txBody>
      </p:sp>
      <p:sp>
        <p:nvSpPr>
          <p:cNvPr id="3" name="Text 1"/>
          <p:cNvSpPr/>
          <p:nvPr/>
        </p:nvSpPr>
        <p:spPr>
          <a:xfrm>
            <a:off x="914400" y="3955288"/>
            <a:ext cx="8716975" cy="2034032"/>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The gap is not capability. It is a sanctioned place to work and a boundary you can trust.</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WHO IS IN THIS ROOM</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What is actually missing.</a:t>
            </a:r>
            <a:endParaRPr lang="en-US" sz="4000" dirty="0"/>
          </a:p>
        </p:txBody>
      </p:sp>
      <p:sp>
        <p:nvSpPr>
          <p:cNvPr id="4" name="Text 2"/>
          <p:cNvSpPr/>
          <p:nvPr/>
        </p:nvSpPr>
        <p:spPr>
          <a:xfrm>
            <a:off x="914400"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HAVE</a:t>
            </a:r>
            <a:endParaRPr lang="en-US" sz="1050" dirty="0"/>
          </a:p>
        </p:txBody>
      </p:sp>
      <p:sp>
        <p:nvSpPr>
          <p:cNvPr id="5" name="Text 3"/>
          <p:cNvSpPr/>
          <p:nvPr/>
        </p:nvSpPr>
        <p:spPr>
          <a:xfrm>
            <a:off x="914400" y="3008376"/>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Fluency</a:t>
            </a:r>
            <a:endParaRPr lang="en-US" sz="2100" dirty="0"/>
          </a:p>
        </p:txBody>
      </p:sp>
      <p:sp>
        <p:nvSpPr>
          <p:cNvPr id="6" name="Text 4"/>
          <p:cNvSpPr/>
          <p:nvPr/>
        </p:nvSpPr>
        <p:spPr>
          <a:xfrm>
            <a:off x="914400" y="3618738"/>
            <a:ext cx="3119018" cy="223342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You know what these tools are good at. Most of you have a workflow you built yourself.</a:t>
            </a:r>
            <a:endParaRPr lang="en-US" sz="1500" dirty="0"/>
          </a:p>
        </p:txBody>
      </p:sp>
      <p:sp>
        <p:nvSpPr>
          <p:cNvPr id="7" name="Text 5"/>
          <p:cNvSpPr/>
          <p:nvPr/>
        </p:nvSpPr>
        <p:spPr>
          <a:xfrm>
            <a:off x="4536338"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8F5E08"/>
                </a:solidFill>
                <a:latin typeface="Calibri" pitchFamily="34" charset="0"/>
                <a:ea typeface="Calibri" pitchFamily="34" charset="-122"/>
                <a:cs typeface="Calibri" pitchFamily="34" charset="-120"/>
              </a:rPr>
              <a:t>NEED</a:t>
            </a:r>
            <a:endParaRPr lang="en-US" sz="1050" dirty="0"/>
          </a:p>
        </p:txBody>
      </p:sp>
      <p:sp>
        <p:nvSpPr>
          <p:cNvPr id="8" name="Text 6"/>
          <p:cNvSpPr/>
          <p:nvPr/>
        </p:nvSpPr>
        <p:spPr>
          <a:xfrm>
            <a:off x="4536338" y="3008376"/>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place to work</a:t>
            </a:r>
            <a:endParaRPr lang="en-US" sz="2100" dirty="0"/>
          </a:p>
        </p:txBody>
      </p:sp>
      <p:sp>
        <p:nvSpPr>
          <p:cNvPr id="9" name="Text 7"/>
          <p:cNvSpPr/>
          <p:nvPr/>
        </p:nvSpPr>
        <p:spPr>
          <a:xfrm>
            <a:off x="4536338" y="3618738"/>
            <a:ext cx="3119018" cy="223342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Somewhere to experiment that is not production. Realistic data that is not real.</a:t>
            </a:r>
            <a:endParaRPr lang="en-US" sz="1500" dirty="0"/>
          </a:p>
        </p:txBody>
      </p:sp>
      <p:sp>
        <p:nvSpPr>
          <p:cNvPr id="10" name="Text 8"/>
          <p:cNvSpPr/>
          <p:nvPr/>
        </p:nvSpPr>
        <p:spPr>
          <a:xfrm>
            <a:off x="8158277"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GET</a:t>
            </a:r>
            <a:endParaRPr lang="en-US" sz="1050" dirty="0"/>
          </a:p>
        </p:txBody>
      </p:sp>
      <p:sp>
        <p:nvSpPr>
          <p:cNvPr id="11" name="Text 9"/>
          <p:cNvSpPr/>
          <p:nvPr/>
        </p:nvSpPr>
        <p:spPr>
          <a:xfrm>
            <a:off x="8158277" y="3008376"/>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Permission</a:t>
            </a:r>
            <a:endParaRPr lang="en-US" sz="2100" dirty="0"/>
          </a:p>
        </p:txBody>
      </p:sp>
      <p:sp>
        <p:nvSpPr>
          <p:cNvPr id="12" name="Text 10"/>
          <p:cNvSpPr/>
          <p:nvPr/>
        </p:nvSpPr>
        <p:spPr>
          <a:xfrm>
            <a:off x="8158277" y="3618738"/>
            <a:ext cx="3119018" cy="223342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Governance you can clear in ten minutes, a fictional college to break, and four sessions of build time.</a:t>
            </a:r>
            <a:endParaRPr lang="en-US" sz="1500" dirty="0"/>
          </a:p>
        </p:txBody>
      </p:sp>
      <p:sp>
        <p:nvSpPr>
          <p:cNvPr id="13" name="Text 11"/>
          <p:cNvSpPr/>
          <p:nvPr/>
        </p:nvSpPr>
        <p:spPr>
          <a:xfrm>
            <a:off x="914400" y="5943600"/>
            <a:ext cx="8991295" cy="292608"/>
          </a:xfrm>
          <a:prstGeom prst="rect">
            <a:avLst/>
          </a:prstGeom>
          <a:noFill/>
          <a:ln/>
        </p:spPr>
        <p:txBody>
          <a:bodyPr wrap="square" lIns="0" tIns="0" rIns="0" bIns="0" rtlCol="0" anchor="ctr">
            <a:normAutofit/>
          </a:bodyPr>
          <a:lstStyle/>
          <a:p>
            <a:pPr indent="0" marL="0">
              <a:buNone/>
            </a:pPr>
            <a:r>
              <a:rPr lang="en-US" sz="1050" dirty="0">
                <a:solidFill>
                  <a:srgbClr val="7A8794"/>
                </a:solidFill>
                <a:latin typeface="Calibri" pitchFamily="34" charset="0"/>
                <a:ea typeface="Calibri" pitchFamily="34" charset="-122"/>
                <a:cs typeface="Calibri" pitchFamily="34" charset="-120"/>
              </a:rPr>
              <a:t>Nationally, 56% of higher-ed employees already use non-institutional AI tools for work — EDUCAUSE, January 2026</a:t>
            </a:r>
            <a:endParaRPr lang="en-US" sz="10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CASE FOR THIS TIER</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Campus tech leaders know</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where the value is.</a:t>
            </a:r>
            <a:endParaRPr lang="en-US" sz="4000" dirty="0"/>
          </a:p>
        </p:txBody>
      </p:sp>
      <p:graphicFrame>
        <p:nvGraphicFramePr>
          <p:cNvPr id="4" name="Chart 0" descr=""/>
          <p:cNvGraphicFramePr/>
          <p:nvPr/>
        </p:nvGraphicFramePr>
        <p:xfrm>
          <a:off x="822960" y="2606040"/>
          <a:ext cx="10454335" cy="2880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914400" y="5943600"/>
            <a:ext cx="8991295" cy="292608"/>
          </a:xfrm>
          <a:prstGeom prst="rect">
            <a:avLst/>
          </a:prstGeom>
          <a:noFill/>
          <a:ln/>
        </p:spPr>
        <p:txBody>
          <a:bodyPr wrap="square" lIns="0" tIns="0" rIns="0" bIns="0" rtlCol="0" anchor="ctr">
            <a:normAutofit/>
          </a:bodyPr>
          <a:lstStyle/>
          <a:p>
            <a:pPr indent="0" marL="0">
              <a:buNone/>
            </a:pPr>
            <a:r>
              <a:rPr lang="en-US" sz="1050" dirty="0">
                <a:solidFill>
                  <a:srgbClr val="7A8794"/>
                </a:solidFill>
                <a:latin typeface="Calibri" pitchFamily="34" charset="0"/>
                <a:ea typeface="Calibri" pitchFamily="34" charset="-122"/>
                <a:cs typeface="Calibri" pitchFamily="34" charset="-120"/>
              </a:rPr>
              <a:t>Inside Higher Ed / Hanover 2026 Campus CTO-CIO Survey · n = 130, ±8 points</a:t>
            </a:r>
            <a:endParaRPr lang="en-US" sz="10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1965960"/>
            <a:ext cx="9814255" cy="1678432"/>
          </a:xfrm>
          <a:prstGeom prst="rect">
            <a:avLst/>
          </a:prstGeom>
          <a:noFill/>
          <a:ln/>
        </p:spPr>
        <p:txBody>
          <a:bodyPr wrap="square" lIns="0" tIns="0" rIns="0" bIns="0" rtlCol="0" anchor="t">
            <a:normAutofit/>
          </a:bodyPr>
          <a:lstStyle/>
          <a:p>
            <a:pPr indent="0" marL="0">
              <a:lnSpc>
                <a:spcPts val="6032"/>
              </a:lnSpc>
              <a:buNone/>
            </a:pPr>
            <a:r>
              <a:rPr lang="en-US" sz="5200" b="1" dirty="0">
                <a:solidFill>
                  <a:srgbClr val="FFFFFF"/>
                </a:solidFill>
                <a:latin typeface="Poppins" pitchFamily="34" charset="0"/>
                <a:ea typeface="Poppins" pitchFamily="34" charset="-122"/>
                <a:cs typeface="Poppins" pitchFamily="34" charset="-120"/>
              </a:rPr>
              <a:t>Almost nobody</a:t>
            </a:r>
            <a:endParaRPr lang="en-US" sz="5200" dirty="0"/>
          </a:p>
          <a:p>
            <a:pPr indent="0" marL="0">
              <a:lnSpc>
                <a:spcPts val="6032"/>
              </a:lnSpc>
              <a:buNone/>
            </a:pPr>
            <a:r>
              <a:rPr lang="en-US" sz="5200" b="1" dirty="0">
                <a:solidFill>
                  <a:srgbClr val="FFFFFF"/>
                </a:solidFill>
                <a:latin typeface="Poppins" pitchFamily="34" charset="0"/>
                <a:ea typeface="Poppins" pitchFamily="34" charset="-122"/>
                <a:cs typeface="Poppins" pitchFamily="34" charset="-120"/>
              </a:rPr>
              <a:t>is doing this.</a:t>
            </a:r>
            <a:endParaRPr lang="en-US" sz="5200" dirty="0"/>
          </a:p>
        </p:txBody>
      </p:sp>
      <p:sp>
        <p:nvSpPr>
          <p:cNvPr id="3" name="Text 1"/>
          <p:cNvSpPr/>
          <p:nvPr/>
        </p:nvSpPr>
        <p:spPr>
          <a:xfrm>
            <a:off x="914400" y="3955288"/>
            <a:ext cx="8716975" cy="2034032"/>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Not one named U.S. community college runs a sanctioned employee build-and-sandbox program. If MCC does, MCC is early.</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OPPORTUNITY</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Where the field actually is.</a:t>
            </a:r>
            <a:endParaRPr lang="en-US" sz="4000" dirty="0"/>
          </a:p>
        </p:txBody>
      </p:sp>
      <p:sp>
        <p:nvSpPr>
          <p:cNvPr id="4" name="Text 2"/>
          <p:cNvSpPr/>
          <p:nvPr/>
        </p:nvSpPr>
        <p:spPr>
          <a:xfrm>
            <a:off x="914400"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ZERO</a:t>
            </a:r>
            <a:endParaRPr lang="en-US" sz="1050" dirty="0"/>
          </a:p>
        </p:txBody>
      </p:sp>
      <p:sp>
        <p:nvSpPr>
          <p:cNvPr id="5" name="Text 3"/>
          <p:cNvSpPr/>
          <p:nvPr/>
        </p:nvSpPr>
        <p:spPr>
          <a:xfrm>
            <a:off x="914400"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Colleges doing it</a:t>
            </a:r>
            <a:endParaRPr lang="en-US" sz="2100" dirty="0"/>
          </a:p>
        </p:txBody>
      </p:sp>
      <p:sp>
        <p:nvSpPr>
          <p:cNvPr id="6" name="Text 4"/>
          <p:cNvSpPr/>
          <p:nvPr/>
        </p:nvSpPr>
        <p:spPr>
          <a:xfrm>
            <a:off x="914400"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No named U.S. community college with a staff build program.</a:t>
            </a:r>
            <a:endParaRPr lang="en-US" sz="1500" dirty="0"/>
          </a:p>
        </p:txBody>
      </p:sp>
      <p:sp>
        <p:nvSpPr>
          <p:cNvPr id="7" name="Text 5"/>
          <p:cNvSpPr/>
          <p:nvPr/>
        </p:nvSpPr>
        <p:spPr>
          <a:xfrm>
            <a:off x="4536338"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8F5E08"/>
                </a:solidFill>
                <a:latin typeface="Calibri" pitchFamily="34" charset="0"/>
                <a:ea typeface="Calibri" pitchFamily="34" charset="-122"/>
                <a:cs typeface="Calibri" pitchFamily="34" charset="-120"/>
              </a:rPr>
              <a:t>SOME</a:t>
            </a:r>
            <a:endParaRPr lang="en-US" sz="1050" dirty="0"/>
          </a:p>
        </p:txBody>
      </p:sp>
      <p:sp>
        <p:nvSpPr>
          <p:cNvPr id="8" name="Text 6"/>
          <p:cNvSpPr/>
          <p:nvPr/>
        </p:nvSpPr>
        <p:spPr>
          <a:xfrm>
            <a:off x="4536338"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Arguing for it</a:t>
            </a:r>
            <a:endParaRPr lang="en-US" sz="2100" dirty="0"/>
          </a:p>
        </p:txBody>
      </p:sp>
      <p:sp>
        <p:nvSpPr>
          <p:cNvPr id="9" name="Text 7"/>
          <p:cNvSpPr/>
          <p:nvPr/>
        </p:nvSpPr>
        <p:spPr>
          <a:xfrm>
            <a:off x="4536338"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Times Higher Education, May 2026: most institutional AI literacy programs "stop at the same point: teaching staff to use tools."</a:t>
            </a:r>
            <a:endParaRPr lang="en-US" sz="1500" dirty="0"/>
          </a:p>
        </p:txBody>
      </p:sp>
      <p:sp>
        <p:nvSpPr>
          <p:cNvPr id="10" name="Text 8"/>
          <p:cNvSpPr/>
          <p:nvPr/>
        </p:nvSpPr>
        <p:spPr>
          <a:xfrm>
            <a:off x="8158277"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REAL</a:t>
            </a:r>
            <a:endParaRPr lang="en-US" sz="1050" dirty="0"/>
          </a:p>
        </p:txBody>
      </p:sp>
      <p:sp>
        <p:nvSpPr>
          <p:cNvPr id="11" name="Text 9"/>
          <p:cNvSpPr/>
          <p:nvPr/>
        </p:nvSpPr>
        <p:spPr>
          <a:xfrm>
            <a:off x="8158277"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Companies already there</a:t>
            </a:r>
            <a:endParaRPr lang="en-US" sz="2100" dirty="0"/>
          </a:p>
        </p:txBody>
      </p:sp>
      <p:sp>
        <p:nvSpPr>
          <p:cNvPr id="12" name="Text 10"/>
          <p:cNvSpPr/>
          <p:nvPr/>
        </p:nvSpPr>
        <p:spPr>
          <a:xfrm>
            <a:off x="8158277"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Checkr has HR, finance and legal staff building their own workflow apps — with tool stipends and engineers on call.</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ONE</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Governance first</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Not paperwork at the end. The thing that makes the speed legitimate.</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HONEST NUMBERS</a:t>
            </a:r>
            <a:endParaRPr lang="en-US" sz="1150" dirty="0"/>
          </a:p>
        </p:txBody>
      </p:sp>
      <p:sp>
        <p:nvSpPr>
          <p:cNvPr id="3" name="Text 1"/>
          <p:cNvSpPr/>
          <p:nvPr/>
        </p:nvSpPr>
        <p:spPr>
          <a:xfrm>
            <a:off x="914400" y="1783080"/>
            <a:ext cx="10362895" cy="2103120"/>
          </a:xfrm>
          <a:prstGeom prst="rect">
            <a:avLst/>
          </a:prstGeom>
          <a:noFill/>
          <a:ln/>
        </p:spPr>
        <p:txBody>
          <a:bodyPr wrap="square" lIns="0" tIns="0" rIns="0" bIns="0" rtlCol="0" anchor="ctr">
            <a:normAutofit/>
          </a:bodyPr>
          <a:lstStyle/>
          <a:p>
            <a:pPr indent="0" marL="0">
              <a:lnSpc>
                <a:spcPts val="13200"/>
              </a:lnSpc>
              <a:buNone/>
            </a:pPr>
            <a:r>
              <a:rPr lang="en-US" sz="12800" b="1" dirty="0">
                <a:solidFill>
                  <a:srgbClr val="FFFFFF"/>
                </a:solidFill>
                <a:latin typeface="Poppins" pitchFamily="34" charset="0"/>
                <a:ea typeface="Poppins" pitchFamily="34" charset="-122"/>
                <a:cs typeface="Poppins" pitchFamily="34" charset="-120"/>
              </a:rPr>
              <a:t>0</a:t>
            </a:r>
            <a:endParaRPr lang="en-US" sz="12800" dirty="0"/>
          </a:p>
        </p:txBody>
      </p:sp>
      <p:sp>
        <p:nvSpPr>
          <p:cNvPr id="4" name="Text 2"/>
          <p:cNvSpPr/>
          <p:nvPr/>
        </p:nvSpPr>
        <p:spPr>
          <a:xfrm>
            <a:off x="914400" y="4069080"/>
            <a:ext cx="8351215" cy="1371600"/>
          </a:xfrm>
          <a:prstGeom prst="rect">
            <a:avLst/>
          </a:prstGeom>
          <a:noFill/>
          <a:ln/>
        </p:spPr>
        <p:txBody>
          <a:bodyPr wrap="square" lIns="0" tIns="0" rIns="0" bIns="0" rtlCol="0" anchor="t">
            <a:normAutofit/>
          </a:bodyPr>
          <a:lstStyle/>
          <a:p>
            <a:pPr indent="0" marL="0">
              <a:lnSpc>
                <a:spcPts val="3300"/>
              </a:lnSpc>
              <a:buNone/>
            </a:pPr>
            <a:r>
              <a:rPr lang="en-US" sz="2400" dirty="0">
                <a:solidFill>
                  <a:srgbClr val="A7B7C9"/>
                </a:solidFill>
                <a:latin typeface="Calibri" pitchFamily="34" charset="0"/>
                <a:ea typeface="Calibri" pitchFamily="34" charset="-122"/>
                <a:cs typeface="Calibri" pitchFamily="34" charset="-120"/>
              </a:rPr>
              <a:t>of 5,600 production vibe-coded applications scanned had basic security headers, CSRF protection, or properly scoped access.</a:t>
            </a:r>
            <a:endParaRPr lang="en-US" sz="2400" dirty="0"/>
          </a:p>
        </p:txBody>
      </p:sp>
      <p:sp>
        <p:nvSpPr>
          <p:cNvPr id="5" name="Text 3"/>
          <p:cNvSpPr/>
          <p:nvPr/>
        </p:nvSpPr>
        <p:spPr>
          <a:xfrm>
            <a:off x="914400" y="5806440"/>
            <a:ext cx="10362895" cy="320040"/>
          </a:xfrm>
          <a:prstGeom prst="rect">
            <a:avLst/>
          </a:prstGeom>
          <a:noFill/>
          <a:ln/>
        </p:spPr>
        <p:txBody>
          <a:bodyPr wrap="square" lIns="0" tIns="0" rIns="0" bIns="0" rtlCol="0" anchor="ctr">
            <a:normAutofit/>
          </a:bodyPr>
          <a:lstStyle/>
          <a:p>
            <a:pPr indent="0" marL="0">
              <a:buNone/>
            </a:pPr>
            <a:r>
              <a:rPr lang="en-US" sz="1150" dirty="0">
                <a:solidFill>
                  <a:srgbClr val="5C6E82"/>
                </a:solidFill>
                <a:latin typeface="Calibri" pitchFamily="34" charset="0"/>
                <a:ea typeface="Calibri" pitchFamily="34" charset="-122"/>
                <a:cs typeface="Calibri" pitchFamily="34" charset="-120"/>
              </a:rPr>
              <a:t>Escape.tech scan, relayed by a Cloud Security Alliance research note, June 2026 — a security vendor scanning a sample of its own choosing. Treat the direction as sound, not the number.</a:t>
            </a:r>
            <a:endParaRPr lang="en-US" sz="11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AND WHEN IT GOES WRONG</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Shadow AI has a price.</a:t>
            </a:r>
            <a:endParaRPr lang="en-US" sz="4000" dirty="0"/>
          </a:p>
        </p:txBody>
      </p:sp>
      <p:sp>
        <p:nvSpPr>
          <p:cNvPr id="4" name="Text 2"/>
          <p:cNvSpPr/>
          <p:nvPr/>
        </p:nvSpPr>
        <p:spPr>
          <a:xfrm>
            <a:off x="914400" y="274320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3366"/>
                </a:solidFill>
                <a:latin typeface="Calibri" pitchFamily="34" charset="0"/>
                <a:ea typeface="Calibri" pitchFamily="34" charset="-122"/>
                <a:cs typeface="Calibri" pitchFamily="34" charset="-120"/>
              </a:rPr>
              <a:t>63%</a:t>
            </a:r>
            <a:endParaRPr lang="en-US" sz="1050" dirty="0"/>
          </a:p>
        </p:txBody>
      </p:sp>
      <p:sp>
        <p:nvSpPr>
          <p:cNvPr id="5" name="Text 3"/>
          <p:cNvSpPr/>
          <p:nvPr/>
        </p:nvSpPr>
        <p:spPr>
          <a:xfrm>
            <a:off x="914400" y="3145536"/>
            <a:ext cx="3119018" cy="425196"/>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003366"/>
                </a:solidFill>
                <a:latin typeface="Poppins" pitchFamily="34" charset="0"/>
                <a:ea typeface="Poppins" pitchFamily="34" charset="-122"/>
                <a:cs typeface="Poppins" pitchFamily="34" charset="-120"/>
              </a:rPr>
              <a:t>No policy at all</a:t>
            </a:r>
            <a:endParaRPr lang="en-US" sz="2200" dirty="0"/>
          </a:p>
        </p:txBody>
      </p:sp>
      <p:sp>
        <p:nvSpPr>
          <p:cNvPr id="6" name="Text 4"/>
          <p:cNvSpPr/>
          <p:nvPr/>
        </p:nvSpPr>
        <p:spPr>
          <a:xfrm>
            <a:off x="914400" y="3771900"/>
            <a:ext cx="3119018" cy="20802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Of organizations have no AI governance policy of any kind.</a:t>
            </a:r>
            <a:endParaRPr lang="en-US" sz="1500" dirty="0"/>
          </a:p>
        </p:txBody>
      </p:sp>
      <p:sp>
        <p:nvSpPr>
          <p:cNvPr id="7" name="Text 5"/>
          <p:cNvSpPr/>
          <p:nvPr/>
        </p:nvSpPr>
        <p:spPr>
          <a:xfrm>
            <a:off x="4536338" y="274320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20%</a:t>
            </a:r>
            <a:endParaRPr lang="en-US" sz="1050" dirty="0"/>
          </a:p>
        </p:txBody>
      </p:sp>
      <p:sp>
        <p:nvSpPr>
          <p:cNvPr id="8" name="Text 6"/>
          <p:cNvSpPr/>
          <p:nvPr/>
        </p:nvSpPr>
        <p:spPr>
          <a:xfrm>
            <a:off x="4536338" y="3145536"/>
            <a:ext cx="3119018" cy="425196"/>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003366"/>
                </a:solidFill>
                <a:latin typeface="Poppins" pitchFamily="34" charset="0"/>
                <a:ea typeface="Poppins" pitchFamily="34" charset="-122"/>
                <a:cs typeface="Poppins" pitchFamily="34" charset="-120"/>
              </a:rPr>
              <a:t>Already breached</a:t>
            </a:r>
            <a:endParaRPr lang="en-US" sz="2200" dirty="0"/>
          </a:p>
        </p:txBody>
      </p:sp>
      <p:sp>
        <p:nvSpPr>
          <p:cNvPr id="9" name="Text 7"/>
          <p:cNvSpPr/>
          <p:nvPr/>
        </p:nvSpPr>
        <p:spPr>
          <a:xfrm>
            <a:off x="4536338" y="3771900"/>
            <a:ext cx="3119018" cy="20802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Had a shadow-AI-related breach by 2025.</a:t>
            </a:r>
            <a:endParaRPr lang="en-US" sz="1500" dirty="0"/>
          </a:p>
        </p:txBody>
      </p:sp>
      <p:sp>
        <p:nvSpPr>
          <p:cNvPr id="10" name="Text 8"/>
          <p:cNvSpPr/>
          <p:nvPr/>
        </p:nvSpPr>
        <p:spPr>
          <a:xfrm>
            <a:off x="8158277" y="274320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$670K</a:t>
            </a:r>
            <a:endParaRPr lang="en-US" sz="1050" dirty="0"/>
          </a:p>
        </p:txBody>
      </p:sp>
      <p:sp>
        <p:nvSpPr>
          <p:cNvPr id="11" name="Text 9"/>
          <p:cNvSpPr/>
          <p:nvPr/>
        </p:nvSpPr>
        <p:spPr>
          <a:xfrm>
            <a:off x="8158277" y="3145536"/>
            <a:ext cx="3119018" cy="425196"/>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003366"/>
                </a:solidFill>
                <a:latin typeface="Poppins" pitchFamily="34" charset="0"/>
                <a:ea typeface="Poppins" pitchFamily="34" charset="-122"/>
                <a:cs typeface="Poppins" pitchFamily="34" charset="-120"/>
              </a:rPr>
              <a:t>The premium</a:t>
            </a:r>
            <a:endParaRPr lang="en-US" sz="2200" dirty="0"/>
          </a:p>
        </p:txBody>
      </p:sp>
      <p:sp>
        <p:nvSpPr>
          <p:cNvPr id="12" name="Text 10"/>
          <p:cNvSpPr/>
          <p:nvPr/>
        </p:nvSpPr>
        <p:spPr>
          <a:xfrm>
            <a:off x="8158277" y="3771900"/>
            <a:ext cx="3119018" cy="20802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More per breach than at organizations with little or no shadow AI.</a:t>
            </a:r>
            <a:endParaRPr lang="en-US" sz="1500" dirty="0"/>
          </a:p>
        </p:txBody>
      </p:sp>
      <p:sp>
        <p:nvSpPr>
          <p:cNvPr id="13" name="Text 11"/>
          <p:cNvSpPr/>
          <p:nvPr/>
        </p:nvSpPr>
        <p:spPr>
          <a:xfrm>
            <a:off x="914400" y="5943600"/>
            <a:ext cx="8991295" cy="292608"/>
          </a:xfrm>
          <a:prstGeom prst="rect">
            <a:avLst/>
          </a:prstGeom>
          <a:noFill/>
          <a:ln/>
        </p:spPr>
        <p:txBody>
          <a:bodyPr wrap="square" lIns="0" tIns="0" rIns="0" bIns="0" rtlCol="0" anchor="ctr">
            <a:normAutofit/>
          </a:bodyPr>
          <a:lstStyle/>
          <a:p>
            <a:pPr indent="0" marL="0">
              <a:buNone/>
            </a:pPr>
            <a:r>
              <a:rPr lang="en-US" sz="1050" dirty="0">
                <a:solidFill>
                  <a:srgbClr val="7A8794"/>
                </a:solidFill>
                <a:latin typeface="Calibri" pitchFamily="34" charset="0"/>
                <a:ea typeface="Calibri" pitchFamily="34" charset="-122"/>
                <a:cs typeface="Calibri" pitchFamily="34" charset="-120"/>
              </a:rPr>
              <a:t>IBM, Cost of a Data Breach 2025</a:t>
            </a:r>
            <a:endParaRPr lang="en-US" sz="10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14400" y="1965960"/>
            <a:ext cx="9814255" cy="16195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The sandbox is what</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lets you move fast.</a:t>
            </a:r>
            <a:endParaRPr lang="en-US" sz="5000" dirty="0"/>
          </a:p>
        </p:txBody>
      </p:sp>
      <p:sp>
        <p:nvSpPr>
          <p:cNvPr id="3" name="Text 1"/>
          <p:cNvSpPr/>
          <p:nvPr/>
        </p:nvSpPr>
        <p:spPr>
          <a:xfrm>
            <a:off x="914400" y="3896360"/>
            <a:ext cx="8716975" cy="209296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The boundary is the permission — not the obstacle. Anyone who has worked in a regulated environment already knows this.</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FRAME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What a boundary changes.</a:t>
            </a:r>
            <a:endParaRPr lang="en-US" sz="4000" dirty="0"/>
          </a:p>
        </p:txBody>
      </p:sp>
      <p:sp>
        <p:nvSpPr>
          <p:cNvPr id="4" name="Text 2"/>
          <p:cNvSpPr/>
          <p:nvPr/>
        </p:nvSpPr>
        <p:spPr>
          <a:xfrm>
            <a:off x="914400" y="2514600"/>
            <a:ext cx="4929988" cy="274320"/>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WITHOUT ONE</a:t>
            </a:r>
            <a:endParaRPr lang="en-US" sz="1050" dirty="0"/>
          </a:p>
        </p:txBody>
      </p:sp>
      <p:sp>
        <p:nvSpPr>
          <p:cNvPr id="5" name="Text 3"/>
          <p:cNvSpPr/>
          <p:nvPr/>
        </p:nvSpPr>
        <p:spPr>
          <a:xfrm>
            <a:off x="914400" y="2916936"/>
            <a:ext cx="4929988" cy="784352"/>
          </a:xfrm>
          <a:prstGeom prst="rect">
            <a:avLst/>
          </a:prstGeom>
          <a:noFill/>
          <a:ln/>
        </p:spPr>
        <p:txBody>
          <a:bodyPr wrap="square" lIns="0" tIns="0" rIns="0" bIns="0" rtlCol="0" anchor="t">
            <a:normAutofit/>
          </a:bodyPr>
          <a:lstStyle/>
          <a:p>
            <a:pPr indent="0" marL="0">
              <a:lnSpc>
                <a:spcPts val="2800"/>
              </a:lnSpc>
              <a:buNone/>
            </a:pPr>
            <a:r>
              <a:rPr lang="en-US" sz="2200" b="1" dirty="0">
                <a:solidFill>
                  <a:srgbClr val="003366"/>
                </a:solidFill>
                <a:latin typeface="Poppins" pitchFamily="34" charset="0"/>
                <a:ea typeface="Poppins" pitchFamily="34" charset="-122"/>
                <a:cs typeface="Poppins" pitchFamily="34" charset="-120"/>
              </a:rPr>
              <a:t>Every experiment is a judgment call made alone</a:t>
            </a:r>
            <a:endParaRPr lang="en-US" sz="2200" dirty="0"/>
          </a:p>
        </p:txBody>
      </p:sp>
      <p:sp>
        <p:nvSpPr>
          <p:cNvPr id="6" name="Text 4"/>
          <p:cNvSpPr/>
          <p:nvPr/>
        </p:nvSpPr>
        <p:spPr>
          <a:xfrm>
            <a:off x="914400" y="3884168"/>
            <a:ext cx="4747108" cy="164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68737F"/>
                </a:solidFill>
                <a:latin typeface="Calibri" pitchFamily="34" charset="0"/>
                <a:ea typeface="Calibri" pitchFamily="34" charset="-122"/>
                <a:cs typeface="Calibri" pitchFamily="34" charset="-120"/>
              </a:rPr>
              <a:t>At speed, by someone who does not want to be told no. So it never gets mentioned. That is how shadow IT is manufactured.</a:t>
            </a:r>
            <a:endParaRPr lang="en-US" sz="1600" dirty="0"/>
          </a:p>
        </p:txBody>
      </p:sp>
      <p:sp>
        <p:nvSpPr>
          <p:cNvPr id="7" name="Text 5"/>
          <p:cNvSpPr/>
          <p:nvPr/>
        </p:nvSpPr>
        <p:spPr>
          <a:xfrm>
            <a:off x="6347308" y="2514600"/>
            <a:ext cx="4929988" cy="274320"/>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WITH ONE</a:t>
            </a:r>
            <a:endParaRPr lang="en-US" sz="1050" dirty="0"/>
          </a:p>
        </p:txBody>
      </p:sp>
      <p:sp>
        <p:nvSpPr>
          <p:cNvPr id="8" name="Text 6"/>
          <p:cNvSpPr/>
          <p:nvPr/>
        </p:nvSpPr>
        <p:spPr>
          <a:xfrm>
            <a:off x="6347308" y="2916936"/>
            <a:ext cx="4929988" cy="784352"/>
          </a:xfrm>
          <a:prstGeom prst="rect">
            <a:avLst/>
          </a:prstGeom>
          <a:noFill/>
          <a:ln/>
        </p:spPr>
        <p:txBody>
          <a:bodyPr wrap="square" lIns="0" tIns="0" rIns="0" bIns="0" rtlCol="0" anchor="t">
            <a:normAutofit/>
          </a:bodyPr>
          <a:lstStyle/>
          <a:p>
            <a:pPr indent="0" marL="0">
              <a:lnSpc>
                <a:spcPts val="2800"/>
              </a:lnSpc>
              <a:buNone/>
            </a:pPr>
            <a:r>
              <a:rPr lang="en-US" sz="2200" b="1" dirty="0">
                <a:solidFill>
                  <a:srgbClr val="003366"/>
                </a:solidFill>
                <a:latin typeface="Poppins" pitchFamily="34" charset="0"/>
                <a:ea typeface="Poppins" pitchFamily="34" charset="-122"/>
                <a:cs typeface="Poppins" pitchFamily="34" charset="-120"/>
              </a:rPr>
              <a:t>You know in ten minutes whether you can proceed</a:t>
            </a:r>
            <a:endParaRPr lang="en-US" sz="2200" dirty="0"/>
          </a:p>
        </p:txBody>
      </p:sp>
      <p:sp>
        <p:nvSpPr>
          <p:cNvPr id="9" name="Text 7"/>
          <p:cNvSpPr/>
          <p:nvPr/>
        </p:nvSpPr>
        <p:spPr>
          <a:xfrm>
            <a:off x="6347308" y="3884168"/>
            <a:ext cx="4747108" cy="164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68737F"/>
                </a:solidFill>
                <a:latin typeface="Calibri" pitchFamily="34" charset="0"/>
                <a:ea typeface="Calibri" pitchFamily="34" charset="-122"/>
                <a:cs typeface="Calibri" pitchFamily="34" charset="-120"/>
              </a:rPr>
              <a:t>Most of the time the answer is yes. The rest goes to IT early, when the idea is still cheap to change.</a:t>
            </a:r>
            <a:endParaRPr lang="en-US" sz="16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ONE PAGE. TEN MINUTES. REQUIRED BEFORE YOU BUILD.</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The Tool Charter.</a:t>
            </a:r>
            <a:endParaRPr lang="en-US" sz="4000" dirty="0"/>
          </a:p>
        </p:txBody>
      </p:sp>
      <p:sp>
        <p:nvSpPr>
          <p:cNvPr id="4" name="Text 2"/>
          <p:cNvSpPr/>
          <p:nvPr/>
        </p:nvSpPr>
        <p:spPr>
          <a:xfrm>
            <a:off x="914400" y="2203704"/>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176272"/>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What does it do?</a:t>
            </a:r>
            <a:endParaRPr lang="en-US" sz="1900" dirty="0"/>
          </a:p>
        </p:txBody>
      </p:sp>
      <p:sp>
        <p:nvSpPr>
          <p:cNvPr id="6" name="Text 4"/>
          <p:cNvSpPr/>
          <p:nvPr/>
        </p:nvSpPr>
        <p:spPr>
          <a:xfrm>
            <a:off x="1737360" y="2511552"/>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One sentence, no jargon. If you cannot, it is not scoped yet.</a:t>
            </a:r>
            <a:endParaRPr lang="en-US" sz="1500" dirty="0"/>
          </a:p>
        </p:txBody>
      </p:sp>
      <p:sp>
        <p:nvSpPr>
          <p:cNvPr id="7" name="Text 5"/>
          <p:cNvSpPr/>
          <p:nvPr/>
        </p:nvSpPr>
        <p:spPr>
          <a:xfrm>
            <a:off x="914400" y="3006471"/>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2979039"/>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What data does it touch, and what class is it?</a:t>
            </a:r>
            <a:endParaRPr lang="en-US" sz="1900" dirty="0"/>
          </a:p>
        </p:txBody>
      </p:sp>
      <p:sp>
        <p:nvSpPr>
          <p:cNvPr id="9" name="Text 7"/>
          <p:cNvSpPr/>
          <p:nvPr/>
        </p:nvSpPr>
        <p:spPr>
          <a:xfrm>
            <a:off x="1737360" y="3314319"/>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If anything is red — stop. IT and General Counsel review before you build.</a:t>
            </a:r>
            <a:endParaRPr lang="en-US" sz="1500" dirty="0"/>
          </a:p>
        </p:txBody>
      </p:sp>
      <p:sp>
        <p:nvSpPr>
          <p:cNvPr id="10" name="Text 8"/>
          <p:cNvSpPr/>
          <p:nvPr/>
        </p:nvSpPr>
        <p:spPr>
          <a:xfrm>
            <a:off x="914400" y="3809238"/>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3781806"/>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Who else will use it?</a:t>
            </a:r>
            <a:endParaRPr lang="en-US" sz="1900" dirty="0"/>
          </a:p>
        </p:txBody>
      </p:sp>
      <p:sp>
        <p:nvSpPr>
          <p:cNvPr id="12" name="Text 10"/>
          <p:cNvSpPr/>
          <p:nvPr/>
        </p:nvSpPr>
        <p:spPr>
          <a:xfrm>
            <a:off x="1737360" y="4117086"/>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Just me / my team / my division / students. Each step raises the bar.</a:t>
            </a:r>
            <a:endParaRPr lang="en-US" sz="1500" dirty="0"/>
          </a:p>
        </p:txBody>
      </p:sp>
      <p:sp>
        <p:nvSpPr>
          <p:cNvPr id="13" name="Text 11"/>
          <p:cNvSpPr/>
          <p:nvPr/>
        </p:nvSpPr>
        <p:spPr>
          <a:xfrm>
            <a:off x="914400" y="4612005"/>
            <a:ext cx="713232" cy="384048"/>
          </a:xfrm>
          <a:prstGeom prst="rect">
            <a:avLst/>
          </a:prstGeom>
          <a:noFill/>
          <a:ln/>
        </p:spPr>
        <p:txBody>
          <a:bodyPr wrap="square" lIns="0" tIns="0" rIns="0" bIns="0" rtlCol="0" anchor="ctr">
            <a:normAutofit/>
          </a:bodyPr>
          <a:lstStyle/>
          <a:p>
            <a:pPr indent="0" marL="0">
              <a:buNone/>
            </a:pPr>
            <a:r>
              <a:rPr lang="en-US" sz="2000" b="1" dirty="0">
                <a:solidFill>
                  <a:srgbClr val="003366"/>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4584573"/>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Who owns it when you leave MCC?</a:t>
            </a:r>
            <a:endParaRPr lang="en-US" sz="1900" dirty="0"/>
          </a:p>
        </p:txBody>
      </p:sp>
      <p:sp>
        <p:nvSpPr>
          <p:cNvPr id="15" name="Text 13"/>
          <p:cNvSpPr/>
          <p:nvPr/>
        </p:nvSpPr>
        <p:spPr>
          <a:xfrm>
            <a:off x="1737360" y="4919853"/>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 named person. If nobody signs for it, it does not get built.</a:t>
            </a:r>
            <a:endParaRPr lang="en-US" sz="1500" dirty="0"/>
          </a:p>
        </p:txBody>
      </p:sp>
      <p:sp>
        <p:nvSpPr>
          <p:cNvPr id="16" name="Text 14"/>
          <p:cNvSpPr/>
          <p:nvPr/>
        </p:nvSpPr>
        <p:spPr>
          <a:xfrm>
            <a:off x="914400" y="5414772"/>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05</a:t>
            </a:r>
            <a:endParaRPr lang="en-US" sz="2000" dirty="0"/>
          </a:p>
        </p:txBody>
      </p:sp>
      <p:sp>
        <p:nvSpPr>
          <p:cNvPr id="17" name="Text 15"/>
          <p:cNvSpPr/>
          <p:nvPr/>
        </p:nvSpPr>
        <p:spPr>
          <a:xfrm>
            <a:off x="1737360" y="53873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What happens when it is wrong?</a:t>
            </a:r>
            <a:endParaRPr lang="en-US" sz="1900" dirty="0"/>
          </a:p>
        </p:txBody>
      </p:sp>
      <p:sp>
        <p:nvSpPr>
          <p:cNvPr id="18" name="Text 16"/>
          <p:cNvSpPr/>
          <p:nvPr/>
        </p:nvSpPr>
        <p:spPr>
          <a:xfrm>
            <a:off x="1737360" y="572262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failure mode, who notices, and the manual fallback.</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TRIAGE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Four possible answers.</a:t>
            </a:r>
            <a:endParaRPr lang="en-US" sz="4000" dirty="0"/>
          </a:p>
        </p:txBody>
      </p:sp>
      <p:sp>
        <p:nvSpPr>
          <p:cNvPr id="4" name="Text 2"/>
          <p:cNvSpPr/>
          <p:nvPr/>
        </p:nvSpPr>
        <p:spPr>
          <a:xfrm>
            <a:off x="914400" y="288036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BUILD</a:t>
            </a:r>
            <a:endParaRPr lang="en-US" sz="1050" dirty="0"/>
          </a:p>
        </p:txBody>
      </p:sp>
      <p:sp>
        <p:nvSpPr>
          <p:cNvPr id="5" name="Text 3"/>
          <p:cNvSpPr/>
          <p:nvPr/>
        </p:nvSpPr>
        <p:spPr>
          <a:xfrm>
            <a:off x="914400" y="328269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Go</a:t>
            </a:r>
            <a:endParaRPr lang="en-US" sz="1900" dirty="0"/>
          </a:p>
        </p:txBody>
      </p:sp>
      <p:sp>
        <p:nvSpPr>
          <p:cNvPr id="6" name="Text 4"/>
          <p:cNvSpPr/>
          <p:nvPr/>
        </p:nvSpPr>
        <p:spPr>
          <a:xfrm>
            <a:off x="914400" y="4165092"/>
            <a:ext cx="2213534" cy="168706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Green or yellow data, your own team, clear owner. This is most ideas — go, and stop asking.</a:t>
            </a:r>
            <a:endParaRPr lang="en-US" sz="1500" dirty="0"/>
          </a:p>
        </p:txBody>
      </p:sp>
      <p:sp>
        <p:nvSpPr>
          <p:cNvPr id="7" name="Text 5"/>
          <p:cNvSpPr/>
          <p:nvPr/>
        </p:nvSpPr>
        <p:spPr>
          <a:xfrm>
            <a:off x="3630854" y="288036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F9DD56"/>
                </a:solidFill>
                <a:latin typeface="Calibri" pitchFamily="34" charset="0"/>
                <a:ea typeface="Calibri" pitchFamily="34" charset="-122"/>
                <a:cs typeface="Calibri" pitchFamily="34" charset="-120"/>
              </a:rPr>
              <a:t>CONDITIONS</a:t>
            </a:r>
            <a:endParaRPr lang="en-US" sz="1050" dirty="0"/>
          </a:p>
        </p:txBody>
      </p:sp>
      <p:sp>
        <p:nvSpPr>
          <p:cNvPr id="8" name="Text 6"/>
          <p:cNvSpPr/>
          <p:nvPr/>
        </p:nvSpPr>
        <p:spPr>
          <a:xfrm>
            <a:off x="3630854" y="328269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Go, with limits</a:t>
            </a:r>
            <a:endParaRPr lang="en-US" sz="1900" dirty="0"/>
          </a:p>
        </p:txBody>
      </p:sp>
      <p:sp>
        <p:nvSpPr>
          <p:cNvPr id="9" name="Text 7"/>
          <p:cNvSpPr/>
          <p:nvPr/>
        </p:nvSpPr>
        <p:spPr>
          <a:xfrm>
            <a:off x="3630854" y="4165092"/>
            <a:ext cx="2213534" cy="168706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Fine to prototype, but not on real data, or not beyond your team. Named conditions, not vague caution.</a:t>
            </a:r>
            <a:endParaRPr lang="en-US" sz="1500" dirty="0"/>
          </a:p>
        </p:txBody>
      </p:sp>
      <p:sp>
        <p:nvSpPr>
          <p:cNvPr id="10" name="Text 8"/>
          <p:cNvSpPr/>
          <p:nvPr/>
        </p:nvSpPr>
        <p:spPr>
          <a:xfrm>
            <a:off x="6347308" y="288036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008DA7"/>
                </a:solidFill>
                <a:latin typeface="Calibri" pitchFamily="34" charset="0"/>
                <a:ea typeface="Calibri" pitchFamily="34" charset="-122"/>
                <a:cs typeface="Calibri" pitchFamily="34" charset="-120"/>
              </a:rPr>
              <a:t>REVIEW</a:t>
            </a:r>
            <a:endParaRPr lang="en-US" sz="1050" dirty="0"/>
          </a:p>
        </p:txBody>
      </p:sp>
      <p:sp>
        <p:nvSpPr>
          <p:cNvPr id="11" name="Text 9"/>
          <p:cNvSpPr/>
          <p:nvPr/>
        </p:nvSpPr>
        <p:spPr>
          <a:xfrm>
            <a:off x="6347308" y="328269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IT and GC first</a:t>
            </a:r>
            <a:endParaRPr lang="en-US" sz="1900" dirty="0"/>
          </a:p>
        </p:txBody>
      </p:sp>
      <p:sp>
        <p:nvSpPr>
          <p:cNvPr id="12" name="Text 10"/>
          <p:cNvSpPr/>
          <p:nvPr/>
        </p:nvSpPr>
        <p:spPr>
          <a:xfrm>
            <a:off x="6347308" y="4165092"/>
            <a:ext cx="2213534" cy="168706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Touches red data, writes to a system of record, or needs a login. Bring it early.</a:t>
            </a:r>
            <a:endParaRPr lang="en-US" sz="1500" dirty="0"/>
          </a:p>
        </p:txBody>
      </p:sp>
      <p:sp>
        <p:nvSpPr>
          <p:cNvPr id="13" name="Text 11"/>
          <p:cNvSpPr/>
          <p:nvPr/>
        </p:nvSpPr>
        <p:spPr>
          <a:xfrm>
            <a:off x="9063761" y="288036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DO NOT</a:t>
            </a:r>
            <a:endParaRPr lang="en-US" sz="1050" dirty="0"/>
          </a:p>
        </p:txBody>
      </p:sp>
      <p:sp>
        <p:nvSpPr>
          <p:cNvPr id="14" name="Text 12"/>
          <p:cNvSpPr/>
          <p:nvPr/>
        </p:nvSpPr>
        <p:spPr>
          <a:xfrm>
            <a:off x="9063761" y="328269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Not this one</a:t>
            </a:r>
            <a:endParaRPr lang="en-US" sz="1900" dirty="0"/>
          </a:p>
        </p:txBody>
      </p:sp>
      <p:sp>
        <p:nvSpPr>
          <p:cNvPr id="15" name="Text 13"/>
          <p:cNvSpPr/>
          <p:nvPr/>
        </p:nvSpPr>
        <p:spPr>
          <a:xfrm>
            <a:off x="9063761" y="4165092"/>
            <a:ext cx="2213534" cy="168706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Some ideas should not be built by any of us. Hearing that is a successful outcome.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TWO</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The sandbox</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A fictional college, a data pack that looks real, and a simulator where nothing can break.</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1600200"/>
            <a:ext cx="9814255" cy="2179320"/>
          </a:xfrm>
          <a:prstGeom prst="rect">
            <a:avLst/>
          </a:prstGeom>
          <a:noFill/>
          <a:ln/>
        </p:spPr>
        <p:txBody>
          <a:bodyPr wrap="square" lIns="0" tIns="0" rIns="0" bIns="0" rtlCol="0" anchor="t">
            <a:normAutofit/>
          </a:bodyPr>
          <a:lstStyle/>
          <a:p>
            <a:pPr indent="0" marL="0">
              <a:lnSpc>
                <a:spcPts val="5336"/>
              </a:lnSpc>
              <a:buNone/>
            </a:pPr>
            <a:r>
              <a:rPr lang="en-US" sz="4600" b="1" dirty="0">
                <a:solidFill>
                  <a:srgbClr val="FFFFFF"/>
                </a:solidFill>
                <a:latin typeface="Poppins" pitchFamily="34" charset="0"/>
                <a:ea typeface="Poppins" pitchFamily="34" charset="-122"/>
                <a:cs typeface="Poppins" pitchFamily="34" charset="-120"/>
              </a:rPr>
              <a:t>Sabine Crossing</a:t>
            </a:r>
            <a:endParaRPr lang="en-US" sz="4600" dirty="0"/>
          </a:p>
          <a:p>
            <a:pPr indent="0" marL="0">
              <a:lnSpc>
                <a:spcPts val="5336"/>
              </a:lnSpc>
              <a:buNone/>
            </a:pPr>
            <a:r>
              <a:rPr lang="en-US" sz="4600" b="1" dirty="0">
                <a:solidFill>
                  <a:srgbClr val="FFFFFF"/>
                </a:solidFill>
                <a:latin typeface="Poppins" pitchFamily="34" charset="0"/>
                <a:ea typeface="Poppins" pitchFamily="34" charset="-122"/>
                <a:cs typeface="Poppins" pitchFamily="34" charset="-120"/>
              </a:rPr>
              <a:t>Community College</a:t>
            </a:r>
            <a:endParaRPr lang="en-US" sz="4600" dirty="0"/>
          </a:p>
          <a:p>
            <a:pPr indent="0" marL="0">
              <a:lnSpc>
                <a:spcPts val="5336"/>
              </a:lnSpc>
              <a:buNone/>
            </a:pPr>
            <a:r>
              <a:rPr lang="en-US" sz="4600" b="1" dirty="0">
                <a:solidFill>
                  <a:srgbClr val="FFFFFF"/>
                </a:solidFill>
                <a:latin typeface="Poppins" pitchFamily="34" charset="0"/>
                <a:ea typeface="Poppins" pitchFamily="34" charset="-122"/>
                <a:cs typeface="Poppins" pitchFamily="34" charset="-120"/>
              </a:rPr>
              <a:t>does not exist.</a:t>
            </a:r>
            <a:endParaRPr lang="en-US" sz="4600" dirty="0"/>
          </a:p>
        </p:txBody>
      </p:sp>
      <p:sp>
        <p:nvSpPr>
          <p:cNvPr id="3" name="Text 1"/>
          <p:cNvSpPr/>
          <p:nvPr/>
        </p:nvSpPr>
        <p:spPr>
          <a:xfrm>
            <a:off x="914400" y="4090416"/>
            <a:ext cx="8716975" cy="1898904"/>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Every roster, advising note, aid record, budget line and policy in the pack is fabricated.</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PRETEND INSTITUTION</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Why invent a whole college?</a:t>
            </a:r>
            <a:endParaRPr lang="en-US" sz="4000" dirty="0"/>
          </a:p>
        </p:txBody>
      </p:sp>
      <p:sp>
        <p:nvSpPr>
          <p:cNvPr id="4" name="Text 2"/>
          <p:cNvSpPr/>
          <p:nvPr/>
        </p:nvSpPr>
        <p:spPr>
          <a:xfrm>
            <a:off x="914400"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3366"/>
                </a:solidFill>
                <a:latin typeface="Calibri" pitchFamily="34" charset="0"/>
                <a:ea typeface="Calibri" pitchFamily="34" charset="-122"/>
                <a:cs typeface="Calibri" pitchFamily="34" charset="-120"/>
              </a:rPr>
              <a:t>WHY</a:t>
            </a:r>
            <a:endParaRPr lang="en-US" sz="1050" dirty="0"/>
          </a:p>
        </p:txBody>
      </p:sp>
      <p:sp>
        <p:nvSpPr>
          <p:cNvPr id="5" name="Text 3"/>
          <p:cNvSpPr/>
          <p:nvPr/>
        </p:nvSpPr>
        <p:spPr>
          <a:xfrm>
            <a:off x="914400"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The alternative is worse</a:t>
            </a:r>
            <a:endParaRPr lang="en-US" sz="2100" dirty="0"/>
          </a:p>
        </p:txBody>
      </p:sp>
      <p:sp>
        <p:nvSpPr>
          <p:cNvPr id="6" name="Text 4"/>
          <p:cNvSpPr/>
          <p:nvPr/>
        </p:nvSpPr>
        <p:spPr>
          <a:xfrm>
            <a:off x="914400"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Practising on toy examples teaches nothing. Practising on real records is the thing we are trying to prevent.</a:t>
            </a:r>
            <a:endParaRPr lang="en-US" sz="1500" dirty="0"/>
          </a:p>
        </p:txBody>
      </p:sp>
      <p:sp>
        <p:nvSpPr>
          <p:cNvPr id="7" name="Text 5"/>
          <p:cNvSpPr/>
          <p:nvPr/>
        </p:nvSpPr>
        <p:spPr>
          <a:xfrm>
            <a:off x="4536338"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HOW</a:t>
            </a:r>
            <a:endParaRPr lang="en-US" sz="1050" dirty="0"/>
          </a:p>
        </p:txBody>
      </p:sp>
      <p:sp>
        <p:nvSpPr>
          <p:cNvPr id="8" name="Text 6"/>
          <p:cNvSpPr/>
          <p:nvPr/>
        </p:nvSpPr>
        <p:spPr>
          <a:xfrm>
            <a:off x="4536338"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It looks real</a:t>
            </a:r>
            <a:endParaRPr lang="en-US" sz="2100" dirty="0"/>
          </a:p>
        </p:txBody>
      </p:sp>
      <p:sp>
        <p:nvSpPr>
          <p:cNvPr id="9" name="Text 7"/>
          <p:cNvSpPr/>
          <p:nvPr/>
        </p:nvSpPr>
        <p:spPr>
          <a:xfrm>
            <a:off x="4536338"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Messy formats. Inconsistent program codes. An angry parent email. An aid file with an appeal in the student's own words.</a:t>
            </a:r>
            <a:endParaRPr lang="en-US" sz="1500" dirty="0"/>
          </a:p>
        </p:txBody>
      </p:sp>
      <p:sp>
        <p:nvSpPr>
          <p:cNvPr id="10" name="Text 8"/>
          <p:cNvSpPr/>
          <p:nvPr/>
        </p:nvSpPr>
        <p:spPr>
          <a:xfrm>
            <a:off x="8158277"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SO</a:t>
            </a:r>
            <a:endParaRPr lang="en-US" sz="1050" dirty="0"/>
          </a:p>
        </p:txBody>
      </p:sp>
      <p:sp>
        <p:nvSpPr>
          <p:cNvPr id="11" name="Text 9"/>
          <p:cNvSpPr/>
          <p:nvPr/>
        </p:nvSpPr>
        <p:spPr>
          <a:xfrm>
            <a:off x="8158277"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You can be reckless</a:t>
            </a:r>
            <a:endParaRPr lang="en-US" sz="2100" dirty="0"/>
          </a:p>
        </p:txBody>
      </p:sp>
      <p:sp>
        <p:nvSpPr>
          <p:cNvPr id="12" name="Text 10"/>
          <p:cNvSpPr/>
          <p:nvPr/>
        </p:nvSpPr>
        <p:spPr>
          <a:xfrm>
            <a:off x="8158277"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Paste anything anywhere. Use a personal account. Break it. There is nothing behind it to protect.</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WORKING MATERIAL</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What is in the pack.</a:t>
            </a:r>
            <a:endParaRPr lang="en-US" sz="4000" dirty="0"/>
          </a:p>
        </p:txBody>
      </p:sp>
      <p:sp>
        <p:nvSpPr>
          <p:cNvPr id="4" name="Text 2"/>
          <p:cNvSpPr/>
          <p:nvPr/>
        </p:nvSpPr>
        <p:spPr>
          <a:xfrm>
            <a:off x="914400" y="235915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3317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roster that is a mess</a:t>
            </a:r>
            <a:endParaRPr lang="en-US" sz="1900" dirty="0"/>
          </a:p>
        </p:txBody>
      </p:sp>
      <p:sp>
        <p:nvSpPr>
          <p:cNvPr id="6" name="Text 4"/>
          <p:cNvSpPr/>
          <p:nvPr/>
        </p:nvSpPr>
        <p:spPr>
          <a:xfrm>
            <a:off x="1737360" y="26670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123 students, five spellings per program, GPAs above 4.0 it will average.</a:t>
            </a:r>
            <a:endParaRPr lang="en-US" sz="1500" dirty="0"/>
          </a:p>
        </p:txBody>
      </p:sp>
      <p:sp>
        <p:nvSpPr>
          <p:cNvPr id="7" name="Text 5"/>
          <p:cNvSpPr/>
          <p:nvPr/>
        </p:nvSpPr>
        <p:spPr>
          <a:xfrm>
            <a:off x="914400" y="3362452"/>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3350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budget with planted errors</a:t>
            </a:r>
            <a:endParaRPr lang="en-US" sz="1900" dirty="0"/>
          </a:p>
        </p:txBody>
      </p:sp>
      <p:sp>
        <p:nvSpPr>
          <p:cNvPr id="9" name="Text 7"/>
          <p:cNvSpPr/>
          <p:nvPr/>
        </p:nvSpPr>
        <p:spPr>
          <a:xfrm>
            <a:off x="1737360" y="36703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Two planted errors. One divides by the wrong figure; one total stops short.</a:t>
            </a:r>
            <a:endParaRPr lang="en-US" sz="1500" dirty="0"/>
          </a:p>
        </p:txBody>
      </p:sp>
      <p:sp>
        <p:nvSpPr>
          <p:cNvPr id="10" name="Text 8"/>
          <p:cNvSpPr/>
          <p:nvPr/>
        </p:nvSpPr>
        <p:spPr>
          <a:xfrm>
            <a:off x="914400" y="4365752"/>
            <a:ext cx="713232" cy="384048"/>
          </a:xfrm>
          <a:prstGeom prst="rect">
            <a:avLst/>
          </a:prstGeom>
          <a:noFill/>
          <a:ln/>
        </p:spPr>
        <p:txBody>
          <a:bodyPr wrap="square" lIns="0" tIns="0" rIns="0" bIns="0" rtlCol="0" anchor="ctr">
            <a:normAutofit/>
          </a:bodyPr>
          <a:lstStyle/>
          <a:p>
            <a:pPr indent="0" marL="0">
              <a:buNone/>
            </a:pPr>
            <a:r>
              <a:rPr lang="en-US" sz="2000" b="1" dirty="0">
                <a:solidFill>
                  <a:srgbClr val="003366"/>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3383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student handbook</a:t>
            </a:r>
            <a:endParaRPr lang="en-US" sz="1900" dirty="0"/>
          </a:p>
        </p:txBody>
      </p:sp>
      <p:sp>
        <p:nvSpPr>
          <p:cNvPr id="12" name="Text 10"/>
          <p:cNvSpPr/>
          <p:nvPr/>
        </p:nvSpPr>
        <p:spPr>
          <a:xfrm>
            <a:off x="1737360" y="46736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Nine sections — plus one listing what it deliberately does not cover.</a:t>
            </a:r>
            <a:endParaRPr lang="en-US" sz="1500" dirty="0"/>
          </a:p>
        </p:txBody>
      </p:sp>
      <p:sp>
        <p:nvSpPr>
          <p:cNvPr id="13" name="Text 11"/>
          <p:cNvSpPr/>
          <p:nvPr/>
        </p:nvSpPr>
        <p:spPr>
          <a:xfrm>
            <a:off x="914400" y="5369052"/>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3416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scenario pack</a:t>
            </a:r>
            <a:endParaRPr lang="en-US" sz="1900" dirty="0"/>
          </a:p>
        </p:txBody>
      </p:sp>
      <p:sp>
        <p:nvSpPr>
          <p:cNvPr id="15" name="Text 13"/>
          <p:cNvSpPr/>
          <p:nvPr/>
        </p:nvSpPr>
        <p:spPr>
          <a:xfrm>
            <a:off x="1737360" y="56769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An angry parent email. Advising notes. An aid file. Eighteen sorting cards.</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1965960"/>
            <a:ext cx="9814255" cy="1560576"/>
          </a:xfrm>
          <a:prstGeom prst="rect">
            <a:avLst/>
          </a:prstGeom>
          <a:noFill/>
          <a:ln/>
        </p:spPr>
        <p:txBody>
          <a:bodyPr wrap="square" lIns="0" tIns="0" rIns="0" bIns="0" rtlCol="0" anchor="t">
            <a:normAutofit/>
          </a:bodyPr>
          <a:lstStyle/>
          <a:p>
            <a:pPr indent="0" marL="0">
              <a:lnSpc>
                <a:spcPts val="5568"/>
              </a:lnSpc>
              <a:buNone/>
            </a:pPr>
            <a:r>
              <a:rPr lang="en-US" sz="4800" b="1" dirty="0">
                <a:solidFill>
                  <a:srgbClr val="FFFFFF"/>
                </a:solidFill>
                <a:latin typeface="Poppins" pitchFamily="34" charset="0"/>
                <a:ea typeface="Poppins" pitchFamily="34" charset="-122"/>
                <a:cs typeface="Poppins" pitchFamily="34" charset="-120"/>
              </a:rPr>
              <a:t>Practice the motions.</a:t>
            </a:r>
            <a:endParaRPr lang="en-US" sz="4800" dirty="0"/>
          </a:p>
          <a:p>
            <a:pPr indent="0" marL="0">
              <a:lnSpc>
                <a:spcPts val="5568"/>
              </a:lnSpc>
              <a:buNone/>
            </a:pPr>
            <a:r>
              <a:rPr lang="en-US" sz="4800" b="1" dirty="0">
                <a:solidFill>
                  <a:srgbClr val="FFFFFF"/>
                </a:solidFill>
                <a:latin typeface="Poppins" pitchFamily="34" charset="0"/>
                <a:ea typeface="Poppins" pitchFamily="34" charset="-122"/>
                <a:cs typeface="Poppins" pitchFamily="34" charset="-120"/>
              </a:rPr>
              <a:t>Not the consequences.</a:t>
            </a:r>
            <a:endParaRPr lang="en-US" sz="4800" dirty="0"/>
          </a:p>
        </p:txBody>
      </p:sp>
      <p:sp>
        <p:nvSpPr>
          <p:cNvPr id="3" name="Text 1"/>
          <p:cNvSpPr/>
          <p:nvPr/>
        </p:nvSpPr>
        <p:spPr>
          <a:xfrm>
            <a:off x="914400" y="3837432"/>
            <a:ext cx="8716975" cy="2151888"/>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A browser page that pretends to be a real working environment. Nothing connects to anything. Nothing can be damaged.</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SIMULATOR</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Six missions.</a:t>
            </a:r>
            <a:endParaRPr lang="en-US" sz="4000" dirty="0"/>
          </a:p>
        </p:txBody>
      </p:sp>
      <p:sp>
        <p:nvSpPr>
          <p:cNvPr id="4" name="Text 2"/>
          <p:cNvSpPr/>
          <p:nvPr/>
        </p:nvSpPr>
        <p:spPr>
          <a:xfrm>
            <a:off x="914400" y="26060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01</a:t>
            </a:r>
            <a:endParaRPr lang="en-US" sz="3400" dirty="0"/>
          </a:p>
        </p:txBody>
      </p:sp>
      <p:sp>
        <p:nvSpPr>
          <p:cNvPr id="5" name="Text 3"/>
          <p:cNvSpPr/>
          <p:nvPr/>
        </p:nvSpPr>
        <p:spPr>
          <a:xfrm>
            <a:off x="914400" y="3319272"/>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Ask, then doubt</a:t>
            </a:r>
            <a:endParaRPr lang="en-US" sz="2100" dirty="0"/>
          </a:p>
        </p:txBody>
      </p:sp>
      <p:sp>
        <p:nvSpPr>
          <p:cNvPr id="6" name="Text 4"/>
          <p:cNvSpPr/>
          <p:nvPr/>
        </p:nvSpPr>
        <p:spPr>
          <a:xfrm>
            <a:off x="4536338" y="26060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02</a:t>
            </a:r>
            <a:endParaRPr lang="en-US" sz="3400" dirty="0"/>
          </a:p>
        </p:txBody>
      </p:sp>
      <p:sp>
        <p:nvSpPr>
          <p:cNvPr id="7" name="Text 5"/>
          <p:cNvSpPr/>
          <p:nvPr/>
        </p:nvSpPr>
        <p:spPr>
          <a:xfrm>
            <a:off x="4536338" y="3319272"/>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Read before you click</a:t>
            </a:r>
            <a:endParaRPr lang="en-US" sz="2100" dirty="0"/>
          </a:p>
        </p:txBody>
      </p:sp>
      <p:sp>
        <p:nvSpPr>
          <p:cNvPr id="8" name="Text 6"/>
          <p:cNvSpPr/>
          <p:nvPr/>
        </p:nvSpPr>
        <p:spPr>
          <a:xfrm>
            <a:off x="8158277" y="26060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03</a:t>
            </a:r>
            <a:endParaRPr lang="en-US" sz="3400" dirty="0"/>
          </a:p>
        </p:txBody>
      </p:sp>
      <p:sp>
        <p:nvSpPr>
          <p:cNvPr id="9" name="Text 7"/>
          <p:cNvSpPr/>
          <p:nvPr/>
        </p:nvSpPr>
        <p:spPr>
          <a:xfrm>
            <a:off x="8158277" y="3319272"/>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Decline something</a:t>
            </a:r>
            <a:endParaRPr lang="en-US" sz="2100" dirty="0"/>
          </a:p>
        </p:txBody>
      </p:sp>
      <p:sp>
        <p:nvSpPr>
          <p:cNvPr id="10" name="Text 8"/>
          <p:cNvSpPr/>
          <p:nvPr/>
        </p:nvSpPr>
        <p:spPr>
          <a:xfrm>
            <a:off x="914400" y="44348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04</a:t>
            </a:r>
            <a:endParaRPr lang="en-US" sz="3400" dirty="0"/>
          </a:p>
        </p:txBody>
      </p:sp>
      <p:sp>
        <p:nvSpPr>
          <p:cNvPr id="11" name="Text 9"/>
          <p:cNvSpPr/>
          <p:nvPr/>
        </p:nvSpPr>
        <p:spPr>
          <a:xfrm>
            <a:off x="914400" y="5148072"/>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The paste you almost made</a:t>
            </a:r>
            <a:endParaRPr lang="en-US" sz="2100" dirty="0"/>
          </a:p>
        </p:txBody>
      </p:sp>
      <p:sp>
        <p:nvSpPr>
          <p:cNvPr id="12" name="Text 10"/>
          <p:cNvSpPr/>
          <p:nvPr/>
        </p:nvSpPr>
        <p:spPr>
          <a:xfrm>
            <a:off x="4536338" y="44348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00697A"/>
                </a:solidFill>
                <a:latin typeface="Poppins" pitchFamily="34" charset="0"/>
                <a:ea typeface="Poppins" pitchFamily="34" charset="-122"/>
                <a:cs typeface="Poppins" pitchFamily="34" charset="-120"/>
              </a:rPr>
              <a:t>05</a:t>
            </a:r>
            <a:endParaRPr lang="en-US" sz="3400" dirty="0"/>
          </a:p>
        </p:txBody>
      </p:sp>
      <p:sp>
        <p:nvSpPr>
          <p:cNvPr id="13" name="Text 11"/>
          <p:cNvSpPr/>
          <p:nvPr/>
        </p:nvSpPr>
        <p:spPr>
          <a:xfrm>
            <a:off x="4536338" y="5148072"/>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Move around</a:t>
            </a:r>
            <a:endParaRPr lang="en-US" sz="2100" dirty="0"/>
          </a:p>
        </p:txBody>
      </p:sp>
      <p:sp>
        <p:nvSpPr>
          <p:cNvPr id="14" name="Text 12"/>
          <p:cNvSpPr/>
          <p:nvPr/>
        </p:nvSpPr>
        <p:spPr>
          <a:xfrm>
            <a:off x="8158277" y="44348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00697A"/>
                </a:solidFill>
                <a:latin typeface="Poppins" pitchFamily="34" charset="0"/>
                <a:ea typeface="Poppins" pitchFamily="34" charset="-122"/>
                <a:cs typeface="Poppins" pitchFamily="34" charset="-120"/>
              </a:rPr>
              <a:t>06</a:t>
            </a:r>
            <a:endParaRPr lang="en-US" sz="3400" dirty="0"/>
          </a:p>
        </p:txBody>
      </p:sp>
      <p:sp>
        <p:nvSpPr>
          <p:cNvPr id="15" name="Text 13"/>
          <p:cNvSpPr/>
          <p:nvPr/>
        </p:nvSpPr>
        <p:spPr>
          <a:xfrm>
            <a:off x="8158277" y="5148072"/>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Ship it</a:t>
            </a:r>
            <a:endParaRPr lang="en-US" sz="21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MISSION THREE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Decline something.</a:t>
            </a:r>
            <a:endParaRPr lang="en-US" sz="4000" dirty="0"/>
          </a:p>
        </p:txBody>
      </p:sp>
      <p:sp>
        <p:nvSpPr>
          <p:cNvPr id="4" name="Text 2"/>
          <p:cNvSpPr/>
          <p:nvPr/>
        </p:nvSpPr>
        <p:spPr>
          <a:xfrm>
            <a:off x="914400" y="2395728"/>
            <a:ext cx="8899855" cy="1234440"/>
          </a:xfrm>
          <a:prstGeom prst="rect">
            <a:avLst/>
          </a:prstGeom>
          <a:noFill/>
          <a:ln/>
        </p:spPr>
        <p:txBody>
          <a:bodyPr wrap="square" lIns="0" tIns="0" rIns="0" bIns="0" rtlCol="0" anchor="t">
            <a:normAutofit/>
          </a:bodyPr>
          <a:lstStyle/>
          <a:p>
            <a:pPr indent="0" marL="0">
              <a:lnSpc>
                <a:spcPts val="2982"/>
              </a:lnSpc>
              <a:buNone/>
            </a:pPr>
            <a:r>
              <a:rPr lang="en-US" sz="2100" dirty="0">
                <a:solidFill>
                  <a:srgbClr val="68737F"/>
                </a:solidFill>
                <a:latin typeface="Calibri" pitchFamily="34" charset="0"/>
                <a:ea typeface="Calibri" pitchFamily="34" charset="-122"/>
                <a:cs typeface="Calibri" pitchFamily="34" charset="-120"/>
              </a:rPr>
              <a:t>A connector called StudentSync Pro asks for full read and write on the student information system, every advising note including private ones, and all financial aid records — from a vendor with no agreement on file, with permission to train on the data and keep it after you disconnect.</a:t>
            </a:r>
            <a:endParaRPr lang="en-US" sz="2100" dirty="0"/>
          </a:p>
        </p:txBody>
      </p:sp>
      <p:sp>
        <p:nvSpPr>
          <p:cNvPr id="5" name="Text 3"/>
          <p:cNvSpPr/>
          <p:nvPr/>
        </p:nvSpPr>
        <p:spPr>
          <a:xfrm>
            <a:off x="914400" y="4160520"/>
            <a:ext cx="9082735" cy="640080"/>
          </a:xfrm>
          <a:prstGeom prst="rect">
            <a:avLst/>
          </a:prstGeom>
          <a:noFill/>
          <a:ln/>
        </p:spPr>
        <p:txBody>
          <a:bodyPr wrap="square" lIns="0" tIns="0" rIns="0" bIns="0" rtlCol="0" anchor="t">
            <a:normAutofit/>
          </a:bodyPr>
          <a:lstStyle/>
          <a:p>
            <a:pPr indent="0" marL="0">
              <a:lnSpc>
                <a:spcPts val="3000"/>
              </a:lnSpc>
              <a:buNone/>
            </a:pPr>
            <a:r>
              <a:rPr lang="en-US" sz="2200" b="1" dirty="0">
                <a:solidFill>
                  <a:srgbClr val="003366"/>
                </a:solidFill>
                <a:latin typeface="Poppins" pitchFamily="34" charset="0"/>
                <a:ea typeface="Poppins" pitchFamily="34" charset="-122"/>
                <a:cs typeface="Poppins" pitchFamily="34" charset="-120"/>
              </a:rPr>
              <a:t>Most people authorise it. That is not a character flaw — it is how these screens are designed.</a:t>
            </a:r>
            <a:endParaRPr lang="en-US" sz="2200" dirty="0"/>
          </a:p>
        </p:txBody>
      </p:sp>
      <p:sp>
        <p:nvSpPr>
          <p:cNvPr id="6" name="Text 4"/>
          <p:cNvSpPr/>
          <p:nvPr/>
        </p:nvSpPr>
        <p:spPr>
          <a:xfrm>
            <a:off x="914400" y="5029200"/>
            <a:ext cx="9082735" cy="777240"/>
          </a:xfrm>
          <a:prstGeom prst="rect">
            <a:avLst/>
          </a:prstGeom>
          <a:noFill/>
          <a:ln/>
        </p:spPr>
        <p:txBody>
          <a:bodyPr wrap="square" lIns="0" tIns="0" rIns="0" bIns="0" rtlCol="0" anchor="t">
            <a:normAutofit/>
          </a:bodyPr>
          <a:lstStyle/>
          <a:p>
            <a:pPr indent="0" marL="0">
              <a:lnSpc>
                <a:spcPts val="2500"/>
              </a:lnSpc>
              <a:buNone/>
            </a:pPr>
            <a:r>
              <a:rPr lang="en-US" sz="1700" dirty="0">
                <a:solidFill>
                  <a:srgbClr val="B34A00"/>
                </a:solidFill>
                <a:latin typeface="Calibri" pitchFamily="34" charset="0"/>
                <a:ea typeface="Calibri" pitchFamily="34" charset="-122"/>
                <a:cs typeface="Calibri" pitchFamily="34" charset="-120"/>
              </a:rPr>
              <a:t>The tell is not the permission list. It is the mismatch: a tool that produces "student success insights" has no business writing to financial aid.</a:t>
            </a:r>
            <a:endParaRPr lang="en-US" sz="17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MISSION FOUR</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The paste you almost made.</a:t>
            </a:r>
            <a:endParaRPr lang="en-US" sz="4000" dirty="0"/>
          </a:p>
        </p:txBody>
      </p:sp>
      <p:sp>
        <p:nvSpPr>
          <p:cNvPr id="4" name="Text 2"/>
          <p:cNvSpPr/>
          <p:nvPr/>
        </p:nvSpPr>
        <p:spPr>
          <a:xfrm>
            <a:off x="914400" y="2395728"/>
            <a:ext cx="8899855" cy="1234440"/>
          </a:xfrm>
          <a:prstGeom prst="rect">
            <a:avLst/>
          </a:prstGeom>
          <a:noFill/>
          <a:ln/>
        </p:spPr>
        <p:txBody>
          <a:bodyPr wrap="square" lIns="0" tIns="0" rIns="0" bIns="0" rtlCol="0" anchor="t">
            <a:normAutofit/>
          </a:bodyPr>
          <a:lstStyle/>
          <a:p>
            <a:pPr indent="0" marL="0">
              <a:lnSpc>
                <a:spcPts val="2982"/>
              </a:lnSpc>
              <a:buNone/>
            </a:pPr>
            <a:r>
              <a:rPr lang="en-US" sz="2100" dirty="0">
                <a:solidFill>
                  <a:srgbClr val="A7B7C9"/>
                </a:solidFill>
                <a:latin typeface="Calibri" pitchFamily="34" charset="0"/>
                <a:ea typeface="Calibri" pitchFamily="34" charset="-122"/>
                <a:cs typeface="Calibri" pitchFamily="34" charset="-120"/>
              </a:rPr>
              <a:t>You are asked to draft a financial aid appeal decision. The fastest possible path is to paste the student's record. The sandbox lets you reach for it, then stops you and explains exactly what would have gone wrong.</a:t>
            </a:r>
            <a:endParaRPr lang="en-US" sz="2100" dirty="0"/>
          </a:p>
        </p:txBody>
      </p:sp>
      <p:sp>
        <p:nvSpPr>
          <p:cNvPr id="5" name="Text 3"/>
          <p:cNvSpPr/>
          <p:nvPr/>
        </p:nvSpPr>
        <p:spPr>
          <a:xfrm>
            <a:off x="914400" y="4114800"/>
            <a:ext cx="9082735" cy="640080"/>
          </a:xfrm>
          <a:prstGeom prst="rect">
            <a:avLst/>
          </a:prstGeom>
          <a:noFill/>
          <a:ln/>
        </p:spPr>
        <p:txBody>
          <a:bodyPr wrap="square" lIns="0" tIns="0" rIns="0" bIns="0" rtlCol="0" anchor="t">
            <a:normAutofit/>
          </a:bodyPr>
          <a:lstStyle/>
          <a:p>
            <a:pPr indent="0" marL="0">
              <a:lnSpc>
                <a:spcPts val="3000"/>
              </a:lnSpc>
              <a:buNone/>
            </a:pPr>
            <a:r>
              <a:rPr lang="en-US" sz="2200" b="1" dirty="0">
                <a:solidFill>
                  <a:srgbClr val="FFFFFF"/>
                </a:solidFill>
                <a:latin typeface="Poppins" pitchFamily="34" charset="0"/>
                <a:ea typeface="Poppins" pitchFamily="34" charset="-122"/>
                <a:cs typeface="Poppins" pitchFamily="34" charset="-120"/>
              </a:rPr>
              <a:t>The impulse is real, and it arrives at 4:40 p.m. when you have one more letter to write.</a:t>
            </a:r>
            <a:endParaRPr lang="en-US" sz="2200" dirty="0"/>
          </a:p>
        </p:txBody>
      </p:sp>
      <p:sp>
        <p:nvSpPr>
          <p:cNvPr id="6" name="Text 4"/>
          <p:cNvSpPr/>
          <p:nvPr/>
        </p:nvSpPr>
        <p:spPr>
          <a:xfrm>
            <a:off x="914400" y="4956048"/>
            <a:ext cx="9082735" cy="822960"/>
          </a:xfrm>
          <a:prstGeom prst="rect">
            <a:avLst/>
          </a:prstGeom>
          <a:noFill/>
          <a:ln/>
        </p:spPr>
        <p:txBody>
          <a:bodyPr wrap="square" lIns="0" tIns="0" rIns="0" bIns="0" rtlCol="0" anchor="t">
            <a:normAutofit/>
          </a:bodyPr>
          <a:lstStyle/>
          <a:p>
            <a:pPr indent="0" marL="0">
              <a:lnSpc>
                <a:spcPts val="2500"/>
              </a:lnSpc>
              <a:buNone/>
            </a:pPr>
            <a:r>
              <a:rPr lang="en-US" sz="1700" dirty="0">
                <a:solidFill>
                  <a:srgbClr val="FF6600"/>
                </a:solidFill>
                <a:latin typeface="Calibri" pitchFamily="34" charset="0"/>
                <a:ea typeface="Calibri" pitchFamily="34" charset="-122"/>
                <a:cs typeface="Calibri" pitchFamily="34" charset="-120"/>
              </a:rPr>
              <a:t>The countermeasure is not willpower. It is a two-second pause and one question: does this task need the record, or just the policy? Nearly always, just the policy.</a:t>
            </a:r>
            <a:endParaRPr lang="en-US" sz="17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THREE</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Now build</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something</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Scoped assistants, spreadsheets, and a plain-English on-ramp to code.</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FIRST REAL BUILD</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Scoped assistants.</a:t>
            </a:r>
            <a:endParaRPr lang="en-US" sz="4000" dirty="0"/>
          </a:p>
        </p:txBody>
      </p:sp>
      <p:sp>
        <p:nvSpPr>
          <p:cNvPr id="4" name="Text 2"/>
          <p:cNvSpPr/>
          <p:nvPr/>
        </p:nvSpPr>
        <p:spPr>
          <a:xfrm>
            <a:off x="914400" y="2395728"/>
            <a:ext cx="8899855" cy="1234440"/>
          </a:xfrm>
          <a:prstGeom prst="rect">
            <a:avLst/>
          </a:prstGeom>
          <a:noFill/>
          <a:ln/>
        </p:spPr>
        <p:txBody>
          <a:bodyPr wrap="square" lIns="0" tIns="0" rIns="0" bIns="0" rtlCol="0" anchor="t">
            <a:normAutofit/>
          </a:bodyPr>
          <a:lstStyle/>
          <a:p>
            <a:pPr indent="0" marL="0">
              <a:lnSpc>
                <a:spcPts val="2982"/>
              </a:lnSpc>
              <a:buNone/>
            </a:pPr>
            <a:r>
              <a:rPr lang="en-US" sz="2100" dirty="0">
                <a:solidFill>
                  <a:srgbClr val="68737F"/>
                </a:solidFill>
                <a:latin typeface="Calibri" pitchFamily="34" charset="0"/>
                <a:ea typeface="Calibri" pitchFamily="34" charset="-122"/>
                <a:cs typeface="Calibri" pitchFamily="34" charset="-120"/>
              </a:rPr>
              <a:t>A reusable configuration with fixed instructions and a fixed set of source documents. It does one thing, consistently — and you do not need to write code to make one.</a:t>
            </a:r>
            <a:endParaRPr lang="en-US" sz="2100" dirty="0"/>
          </a:p>
        </p:txBody>
      </p:sp>
      <p:sp>
        <p:nvSpPr>
          <p:cNvPr id="5" name="Text 3"/>
          <p:cNvSpPr/>
          <p:nvPr/>
        </p:nvSpPr>
        <p:spPr>
          <a:xfrm>
            <a:off x="914400" y="379476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01</a:t>
            </a:r>
            <a:endParaRPr lang="en-US" sz="3400" dirty="0"/>
          </a:p>
        </p:txBody>
      </p:sp>
      <p:sp>
        <p:nvSpPr>
          <p:cNvPr id="6" name="Text 4"/>
          <p:cNvSpPr/>
          <p:nvPr/>
        </p:nvSpPr>
        <p:spPr>
          <a:xfrm>
            <a:off x="914400" y="4507992"/>
            <a:ext cx="3119018" cy="361188"/>
          </a:xfrm>
          <a:prstGeom prst="rect">
            <a:avLst/>
          </a:prstGeom>
          <a:noFill/>
          <a:ln/>
        </p:spPr>
        <p:txBody>
          <a:bodyPr wrap="square" lIns="0" tIns="0" rIns="0" bIns="0" rtlCol="0" anchor="t">
            <a:normAutofit/>
          </a:bodyPr>
          <a:lstStyle/>
          <a:p>
            <a:pPr indent="0" marL="0">
              <a:lnSpc>
                <a:spcPts val="2268"/>
              </a:lnSpc>
              <a:buNone/>
            </a:pPr>
            <a:r>
              <a:rPr lang="en-US" sz="1800" b="1" dirty="0">
                <a:solidFill>
                  <a:srgbClr val="003366"/>
                </a:solidFill>
                <a:latin typeface="Poppins" pitchFamily="34" charset="0"/>
                <a:ea typeface="Poppins" pitchFamily="34" charset="-122"/>
                <a:cs typeface="Poppins" pitchFamily="34" charset="-120"/>
              </a:rPr>
              <a:t>Instructions</a:t>
            </a:r>
            <a:endParaRPr lang="en-US" sz="1800" dirty="0"/>
          </a:p>
        </p:txBody>
      </p:sp>
      <p:sp>
        <p:nvSpPr>
          <p:cNvPr id="7" name="Text 5"/>
          <p:cNvSpPr/>
          <p:nvPr/>
        </p:nvSpPr>
        <p:spPr>
          <a:xfrm>
            <a:off x="914400" y="5070348"/>
            <a:ext cx="3119018" cy="91897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Who it is for, what voice, and what to refuse.</a:t>
            </a:r>
            <a:endParaRPr lang="en-US" sz="1500" dirty="0"/>
          </a:p>
        </p:txBody>
      </p:sp>
      <p:sp>
        <p:nvSpPr>
          <p:cNvPr id="8" name="Text 6"/>
          <p:cNvSpPr/>
          <p:nvPr/>
        </p:nvSpPr>
        <p:spPr>
          <a:xfrm>
            <a:off x="4536338" y="379476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00697A"/>
                </a:solidFill>
                <a:latin typeface="Poppins" pitchFamily="34" charset="0"/>
                <a:ea typeface="Poppins" pitchFamily="34" charset="-122"/>
                <a:cs typeface="Poppins" pitchFamily="34" charset="-120"/>
              </a:rPr>
              <a:t>02</a:t>
            </a:r>
            <a:endParaRPr lang="en-US" sz="3400" dirty="0"/>
          </a:p>
        </p:txBody>
      </p:sp>
      <p:sp>
        <p:nvSpPr>
          <p:cNvPr id="9" name="Text 7"/>
          <p:cNvSpPr/>
          <p:nvPr/>
        </p:nvSpPr>
        <p:spPr>
          <a:xfrm>
            <a:off x="4536338" y="4507992"/>
            <a:ext cx="3119018" cy="361188"/>
          </a:xfrm>
          <a:prstGeom prst="rect">
            <a:avLst/>
          </a:prstGeom>
          <a:noFill/>
          <a:ln/>
        </p:spPr>
        <p:txBody>
          <a:bodyPr wrap="square" lIns="0" tIns="0" rIns="0" bIns="0" rtlCol="0" anchor="t">
            <a:normAutofit/>
          </a:bodyPr>
          <a:lstStyle/>
          <a:p>
            <a:pPr indent="0" marL="0">
              <a:lnSpc>
                <a:spcPts val="2268"/>
              </a:lnSpc>
              <a:buNone/>
            </a:pPr>
            <a:r>
              <a:rPr lang="en-US" sz="1800" b="1" dirty="0">
                <a:solidFill>
                  <a:srgbClr val="003366"/>
                </a:solidFill>
                <a:latin typeface="Poppins" pitchFamily="34" charset="0"/>
                <a:ea typeface="Poppins" pitchFamily="34" charset="-122"/>
                <a:cs typeface="Poppins" pitchFamily="34" charset="-120"/>
              </a:rPr>
              <a:t>Knowledge</a:t>
            </a:r>
            <a:endParaRPr lang="en-US" sz="1800" dirty="0"/>
          </a:p>
        </p:txBody>
      </p:sp>
      <p:sp>
        <p:nvSpPr>
          <p:cNvPr id="10" name="Text 8"/>
          <p:cNvSpPr/>
          <p:nvPr/>
        </p:nvSpPr>
        <p:spPr>
          <a:xfrm>
            <a:off x="4536338" y="5070348"/>
            <a:ext cx="3119018" cy="91897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The documents. Only the documents. That is the trick.</a:t>
            </a:r>
            <a:endParaRPr lang="en-US" sz="1500" dirty="0"/>
          </a:p>
        </p:txBody>
      </p:sp>
      <p:sp>
        <p:nvSpPr>
          <p:cNvPr id="11" name="Text 9"/>
          <p:cNvSpPr/>
          <p:nvPr/>
        </p:nvSpPr>
        <p:spPr>
          <a:xfrm>
            <a:off x="8158277" y="379476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03</a:t>
            </a:r>
            <a:endParaRPr lang="en-US" sz="3400" dirty="0"/>
          </a:p>
        </p:txBody>
      </p:sp>
      <p:sp>
        <p:nvSpPr>
          <p:cNvPr id="12" name="Text 10"/>
          <p:cNvSpPr/>
          <p:nvPr/>
        </p:nvSpPr>
        <p:spPr>
          <a:xfrm>
            <a:off x="8158277" y="4507992"/>
            <a:ext cx="3119018" cy="361188"/>
          </a:xfrm>
          <a:prstGeom prst="rect">
            <a:avLst/>
          </a:prstGeom>
          <a:noFill/>
          <a:ln/>
        </p:spPr>
        <p:txBody>
          <a:bodyPr wrap="square" lIns="0" tIns="0" rIns="0" bIns="0" rtlCol="0" anchor="t">
            <a:normAutofit/>
          </a:bodyPr>
          <a:lstStyle/>
          <a:p>
            <a:pPr indent="0" marL="0">
              <a:lnSpc>
                <a:spcPts val="2268"/>
              </a:lnSpc>
              <a:buNone/>
            </a:pPr>
            <a:r>
              <a:rPr lang="en-US" sz="1800" b="1" dirty="0">
                <a:solidFill>
                  <a:srgbClr val="003366"/>
                </a:solidFill>
                <a:latin typeface="Poppins" pitchFamily="34" charset="0"/>
                <a:ea typeface="Poppins" pitchFamily="34" charset="-122"/>
                <a:cs typeface="Poppins" pitchFamily="34" charset="-120"/>
              </a:rPr>
              <a:t>Boundaries</a:t>
            </a:r>
            <a:endParaRPr lang="en-US" sz="1800" dirty="0"/>
          </a:p>
        </p:txBody>
      </p:sp>
      <p:sp>
        <p:nvSpPr>
          <p:cNvPr id="13" name="Text 11"/>
          <p:cNvSpPr/>
          <p:nvPr/>
        </p:nvSpPr>
        <p:spPr>
          <a:xfrm>
            <a:off x="8158277" y="5070348"/>
            <a:ext cx="3119018" cy="91897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Refusing well matters more than answering well.</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LINE EVERY ASSISTANT NEEDS</a:t>
            </a:r>
            <a:endParaRPr lang="en-US" sz="1150" dirty="0"/>
          </a:p>
        </p:txBody>
      </p:sp>
      <p:sp>
        <p:nvSpPr>
          <p:cNvPr id="3" name="Text 1"/>
          <p:cNvSpPr/>
          <p:nvPr/>
        </p:nvSpPr>
        <p:spPr>
          <a:xfrm>
            <a:off x="914400" y="1600200"/>
            <a:ext cx="9814255" cy="2149856"/>
          </a:xfrm>
          <a:prstGeom prst="rect">
            <a:avLst/>
          </a:prstGeom>
          <a:noFill/>
          <a:ln/>
        </p:spPr>
        <p:txBody>
          <a:bodyPr wrap="square" lIns="0" tIns="0" rIns="0" bIns="0" rtlCol="0" anchor="t">
            <a:normAutofit/>
          </a:bodyPr>
          <a:lstStyle/>
          <a:p>
            <a:pPr indent="0" marL="0">
              <a:lnSpc>
                <a:spcPts val="3944"/>
              </a:lnSpc>
              <a:buNone/>
            </a:pPr>
            <a:r>
              <a:rPr lang="en-US" sz="3400" b="1" dirty="0">
                <a:solidFill>
                  <a:srgbClr val="FFFFFF"/>
                </a:solidFill>
                <a:latin typeface="Poppins" pitchFamily="34" charset="0"/>
                <a:ea typeface="Poppins" pitchFamily="34" charset="-122"/>
                <a:cs typeface="Poppins" pitchFamily="34" charset="-120"/>
              </a:rPr>
              <a:t>"If the answer is not in</a:t>
            </a:r>
            <a:endParaRPr lang="en-US" sz="3400" dirty="0"/>
          </a:p>
          <a:p>
            <a:pPr indent="0" marL="0">
              <a:lnSpc>
                <a:spcPts val="3944"/>
              </a:lnSpc>
              <a:buNone/>
            </a:pPr>
            <a:r>
              <a:rPr lang="en-US" sz="3400" b="1" dirty="0">
                <a:solidFill>
                  <a:srgbClr val="FFFFFF"/>
                </a:solidFill>
                <a:latin typeface="Poppins" pitchFamily="34" charset="0"/>
                <a:ea typeface="Poppins" pitchFamily="34" charset="-122"/>
                <a:cs typeface="Poppins" pitchFamily="34" charset="-120"/>
              </a:rPr>
              <a:t>the provided documents,</a:t>
            </a:r>
            <a:endParaRPr lang="en-US" sz="3400" dirty="0"/>
          </a:p>
          <a:p>
            <a:pPr indent="0" marL="0">
              <a:lnSpc>
                <a:spcPts val="3944"/>
              </a:lnSpc>
              <a:buNone/>
            </a:pPr>
            <a:r>
              <a:rPr lang="en-US" sz="3400" b="1" dirty="0">
                <a:solidFill>
                  <a:srgbClr val="FFFFFF"/>
                </a:solidFill>
                <a:latin typeface="Poppins" pitchFamily="34" charset="0"/>
                <a:ea typeface="Poppins" pitchFamily="34" charset="-122"/>
                <a:cs typeface="Poppins" pitchFamily="34" charset="-120"/>
              </a:rPr>
              <a:t>say so and direct the person</a:t>
            </a:r>
            <a:endParaRPr lang="en-US" sz="3400" dirty="0"/>
          </a:p>
          <a:p>
            <a:pPr indent="0" marL="0">
              <a:lnSpc>
                <a:spcPts val="3944"/>
              </a:lnSpc>
              <a:buNone/>
            </a:pPr>
            <a:r>
              <a:rPr lang="en-US" sz="3400" b="1" dirty="0">
                <a:solidFill>
                  <a:srgbClr val="FFFFFF"/>
                </a:solidFill>
                <a:latin typeface="Poppins" pitchFamily="34" charset="0"/>
                <a:ea typeface="Poppins" pitchFamily="34" charset="-122"/>
                <a:cs typeface="Poppins" pitchFamily="34" charset="-120"/>
              </a:rPr>
              <a:t>to a named human."</a:t>
            </a:r>
            <a:endParaRPr lang="en-US" sz="3400" dirty="0"/>
          </a:p>
        </p:txBody>
      </p:sp>
      <p:sp>
        <p:nvSpPr>
          <p:cNvPr id="4" name="Text 2"/>
          <p:cNvSpPr/>
          <p:nvPr/>
        </p:nvSpPr>
        <p:spPr>
          <a:xfrm>
            <a:off x="914400" y="5029200"/>
            <a:ext cx="10362895" cy="457200"/>
          </a:xfrm>
          <a:prstGeom prst="rect">
            <a:avLst/>
          </a:prstGeom>
          <a:noFill/>
          <a:ln/>
        </p:spPr>
        <p:txBody>
          <a:bodyPr wrap="square" lIns="0" tIns="0" rIns="0" bIns="0" rtlCol="0" anchor="ctr">
            <a:normAutofit/>
          </a:bodyPr>
          <a:lstStyle/>
          <a:p>
            <a:pPr indent="0" marL="0">
              <a:buNone/>
            </a:pPr>
            <a:r>
              <a:rPr lang="en-US" sz="1900" dirty="0">
                <a:solidFill>
                  <a:srgbClr val="B7CDE0"/>
                </a:solidFill>
                <a:latin typeface="Calibri" pitchFamily="34" charset="0"/>
                <a:ea typeface="Calibri" pitchFamily="34" charset="-122"/>
                <a:cs typeface="Calibri" pitchFamily="34" charset="-120"/>
              </a:rPr>
              <a:t>Then test that it actually holds. Do not assume it does.</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HIGHEST-VALUE TWENTY MINUTES</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Break your neighbor's tool.</a:t>
            </a:r>
            <a:endParaRPr lang="en-US" sz="4000" dirty="0"/>
          </a:p>
        </p:txBody>
      </p:sp>
      <p:sp>
        <p:nvSpPr>
          <p:cNvPr id="4" name="Text 2"/>
          <p:cNvSpPr/>
          <p:nvPr/>
        </p:nvSpPr>
        <p:spPr>
          <a:xfrm>
            <a:off x="914400" y="258775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5603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It works on the questions its builder imagined</a:t>
            </a:r>
            <a:endParaRPr lang="en-US" sz="1900" dirty="0"/>
          </a:p>
        </p:txBody>
      </p:sp>
      <p:sp>
        <p:nvSpPr>
          <p:cNvPr id="6" name="Text 4"/>
          <p:cNvSpPr/>
          <p:nvPr/>
        </p:nvSpPr>
        <p:spPr>
          <a:xfrm>
            <a:off x="1737360" y="28956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You cannot test what you did not think of. Nobody can.</a:t>
            </a:r>
            <a:endParaRPr lang="en-US" sz="1500" dirty="0"/>
          </a:p>
        </p:txBody>
      </p:sp>
      <p:sp>
        <p:nvSpPr>
          <p:cNvPr id="7" name="Text 5"/>
          <p:cNvSpPr/>
          <p:nvPr/>
        </p:nvSpPr>
        <p:spPr>
          <a:xfrm>
            <a:off x="914400" y="351485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4874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So hand it over and tell them to break it</a:t>
            </a:r>
            <a:endParaRPr lang="en-US" sz="1900" dirty="0"/>
          </a:p>
        </p:txBody>
      </p:sp>
      <p:sp>
        <p:nvSpPr>
          <p:cNvPr id="9" name="Text 7"/>
          <p:cNvSpPr/>
          <p:nvPr/>
        </p:nvSpPr>
        <p:spPr>
          <a:xfrm>
            <a:off x="1737360" y="38227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Ask outside its sources. Ask something its role should refuse.</a:t>
            </a:r>
            <a:endParaRPr lang="en-US" sz="1500" dirty="0"/>
          </a:p>
        </p:txBody>
      </p:sp>
      <p:sp>
        <p:nvSpPr>
          <p:cNvPr id="10" name="Text 8"/>
          <p:cNvSpPr/>
          <p:nvPr/>
        </p:nvSpPr>
        <p:spPr>
          <a:xfrm>
            <a:off x="914400" y="444195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4145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Nobody's survives</a:t>
            </a:r>
            <a:endParaRPr lang="en-US" sz="1900" dirty="0"/>
          </a:p>
        </p:txBody>
      </p:sp>
      <p:sp>
        <p:nvSpPr>
          <p:cNvPr id="12" name="Text 10"/>
          <p:cNvSpPr/>
          <p:nvPr/>
        </p:nvSpPr>
        <p:spPr>
          <a:xfrm>
            <a:off x="1737360" y="47498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gap between a prototype and a tool people can actually use.</a:t>
            </a:r>
            <a:endParaRPr lang="en-US" sz="1500" dirty="0"/>
          </a:p>
        </p:txBody>
      </p:sp>
      <p:sp>
        <p:nvSpPr>
          <p:cNvPr id="13" name="Text 11"/>
          <p:cNvSpPr/>
          <p:nvPr/>
        </p:nvSpPr>
        <p:spPr>
          <a:xfrm>
            <a:off x="914400" y="5369052"/>
            <a:ext cx="713232" cy="384048"/>
          </a:xfrm>
          <a:prstGeom prst="rect">
            <a:avLst/>
          </a:prstGeom>
          <a:noFill/>
          <a:ln/>
        </p:spPr>
        <p:txBody>
          <a:bodyPr wrap="square" lIns="0" tIns="0" rIns="0" bIns="0" rtlCol="0" anchor="ctr">
            <a:normAutofit/>
          </a:bodyPr>
          <a:lstStyle/>
          <a:p>
            <a:pPr indent="0" marL="0">
              <a:buNone/>
            </a:pPr>
            <a:r>
              <a:rPr lang="en-US" sz="2000" b="1" dirty="0">
                <a:solidFill>
                  <a:srgbClr val="1A7F4B"/>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3416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Fix the instruction, not the tool</a:t>
            </a:r>
            <a:endParaRPr lang="en-US" sz="1900" dirty="0"/>
          </a:p>
        </p:txBody>
      </p:sp>
      <p:sp>
        <p:nvSpPr>
          <p:cNvPr id="15" name="Text 13"/>
          <p:cNvSpPr/>
          <p:nvPr/>
        </p:nvSpPr>
        <p:spPr>
          <a:xfrm>
            <a:off x="1737360" y="56769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Most breakages are a missing sentence, not a missing feature.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WHERE MOST HOURS ACTUALLY LIVE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Spreadsheets, and the one rule.</a:t>
            </a:r>
            <a:endParaRPr lang="en-US" sz="4000" dirty="0"/>
          </a:p>
        </p:txBody>
      </p:sp>
      <p:sp>
        <p:nvSpPr>
          <p:cNvPr id="4" name="Text 2"/>
          <p:cNvSpPr/>
          <p:nvPr/>
        </p:nvSpPr>
        <p:spPr>
          <a:xfrm>
            <a:off x="914400"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RELIABLE</a:t>
            </a:r>
            <a:endParaRPr lang="en-US" sz="1050" dirty="0"/>
          </a:p>
        </p:txBody>
      </p:sp>
      <p:sp>
        <p:nvSpPr>
          <p:cNvPr id="5" name="Text 3"/>
          <p:cNvSpPr/>
          <p:nvPr/>
        </p:nvSpPr>
        <p:spPr>
          <a:xfrm>
            <a:off x="914400" y="3008376"/>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Explaining</a:t>
            </a:r>
            <a:endParaRPr lang="en-US" sz="2100" dirty="0"/>
          </a:p>
        </p:txBody>
      </p:sp>
      <p:sp>
        <p:nvSpPr>
          <p:cNvPr id="6" name="Text 4"/>
          <p:cNvSpPr/>
          <p:nvPr/>
        </p:nvSpPr>
        <p:spPr>
          <a:xfrm>
            <a:off x="914400" y="3618738"/>
            <a:ext cx="3119018" cy="223342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 formula you inherited and nobody understands. Drafting a data dictionary. Cleaning inconsistent entries.</a:t>
            </a:r>
            <a:endParaRPr lang="en-US" sz="1500" dirty="0"/>
          </a:p>
        </p:txBody>
      </p:sp>
      <p:sp>
        <p:nvSpPr>
          <p:cNvPr id="7" name="Text 5"/>
          <p:cNvSpPr/>
          <p:nvPr/>
        </p:nvSpPr>
        <p:spPr>
          <a:xfrm>
            <a:off x="4536338"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8F5E08"/>
                </a:solidFill>
                <a:latin typeface="Calibri" pitchFamily="34" charset="0"/>
                <a:ea typeface="Calibri" pitchFamily="34" charset="-122"/>
                <a:cs typeface="Calibri" pitchFamily="34" charset="-120"/>
              </a:rPr>
              <a:t>WITH CHECKING</a:t>
            </a:r>
            <a:endParaRPr lang="en-US" sz="1050" dirty="0"/>
          </a:p>
        </p:txBody>
      </p:sp>
      <p:sp>
        <p:nvSpPr>
          <p:cNvPr id="8" name="Text 6"/>
          <p:cNvSpPr/>
          <p:nvPr/>
        </p:nvSpPr>
        <p:spPr>
          <a:xfrm>
            <a:off x="4536338" y="3008376"/>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Writing</a:t>
            </a:r>
            <a:endParaRPr lang="en-US" sz="2100" dirty="0"/>
          </a:p>
        </p:txBody>
      </p:sp>
      <p:sp>
        <p:nvSpPr>
          <p:cNvPr id="9" name="Text 7"/>
          <p:cNvSpPr/>
          <p:nvPr/>
        </p:nvSpPr>
        <p:spPr>
          <a:xfrm>
            <a:off x="4536338" y="3618738"/>
            <a:ext cx="3119018" cy="223342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 formula from a plain-English description. Restructuring a table. Suggesting a pivot approach.</a:t>
            </a:r>
            <a:endParaRPr lang="en-US" sz="1500" dirty="0"/>
          </a:p>
        </p:txBody>
      </p:sp>
      <p:sp>
        <p:nvSpPr>
          <p:cNvPr id="10" name="Text 8"/>
          <p:cNvSpPr/>
          <p:nvPr/>
        </p:nvSpPr>
        <p:spPr>
          <a:xfrm>
            <a:off x="8158277"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DO NOT TRUST</a:t>
            </a:r>
            <a:endParaRPr lang="en-US" sz="1050" dirty="0"/>
          </a:p>
        </p:txBody>
      </p:sp>
      <p:sp>
        <p:nvSpPr>
          <p:cNvPr id="11" name="Text 9"/>
          <p:cNvSpPr/>
          <p:nvPr/>
        </p:nvSpPr>
        <p:spPr>
          <a:xfrm>
            <a:off x="8158277" y="3008376"/>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Computing</a:t>
            </a:r>
            <a:endParaRPr lang="en-US" sz="2100" dirty="0"/>
          </a:p>
        </p:txBody>
      </p:sp>
      <p:sp>
        <p:nvSpPr>
          <p:cNvPr id="12" name="Text 10"/>
          <p:cNvSpPr/>
          <p:nvPr/>
        </p:nvSpPr>
        <p:spPr>
          <a:xfrm>
            <a:off x="8158277" y="3618738"/>
            <a:ext cx="3119018" cy="223342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Any number you have not spot-checked. The budget file has two planted errors and both look plausible.</a:t>
            </a:r>
            <a:endParaRPr lang="en-US" sz="1500" dirty="0"/>
          </a:p>
        </p:txBody>
      </p:sp>
      <p:sp>
        <p:nvSpPr>
          <p:cNvPr id="13" name="Text 11"/>
          <p:cNvSpPr/>
          <p:nvPr/>
        </p:nvSpPr>
        <p:spPr>
          <a:xfrm>
            <a:off x="914400" y="5440680"/>
            <a:ext cx="10362895" cy="502920"/>
          </a:xfrm>
          <a:prstGeom prst="rect">
            <a:avLst/>
          </a:prstGeom>
          <a:noFill/>
          <a:ln/>
        </p:spPr>
        <p:txBody>
          <a:bodyPr wrap="square" lIns="0" tIns="0" rIns="0" bIns="0" rtlCol="0" anchor="ctr">
            <a:normAutofit/>
          </a:bodyPr>
          <a:lstStyle/>
          <a:p>
            <a:pPr indent="0" marL="0">
              <a:buNone/>
            </a:pPr>
            <a:r>
              <a:rPr lang="en-US" sz="2200" b="1" dirty="0">
                <a:solidFill>
                  <a:srgbClr val="003366"/>
                </a:solidFill>
                <a:latin typeface="Poppins" pitchFamily="34" charset="0"/>
                <a:ea typeface="Poppins" pitchFamily="34" charset="-122"/>
                <a:cs typeface="Poppins" pitchFamily="34" charset="-120"/>
              </a:rPr>
              <a:t>Test every AI-generated formula on rows where you already know the answer.</a:t>
            </a:r>
            <a:endParaRPr lang="en-US" sz="22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ON-RAMP</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Vibe coding: what is true,</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and what is not.</a:t>
            </a:r>
            <a:endParaRPr lang="en-US" sz="4000" dirty="0"/>
          </a:p>
        </p:txBody>
      </p:sp>
      <p:sp>
        <p:nvSpPr>
          <p:cNvPr id="4" name="Text 2"/>
          <p:cNvSpPr/>
          <p:nvPr/>
        </p:nvSpPr>
        <p:spPr>
          <a:xfrm>
            <a:off x="914400" y="30632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TRUE</a:t>
            </a:r>
            <a:endParaRPr lang="en-US" sz="1050" dirty="0"/>
          </a:p>
        </p:txBody>
      </p:sp>
      <p:sp>
        <p:nvSpPr>
          <p:cNvPr id="5" name="Text 3"/>
          <p:cNvSpPr/>
          <p:nvPr/>
        </p:nvSpPr>
        <p:spPr>
          <a:xfrm>
            <a:off x="914400" y="3465576"/>
            <a:ext cx="3119018"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Non-technical staff really do build</a:t>
            </a:r>
            <a:endParaRPr lang="en-US" sz="1900" dirty="0"/>
          </a:p>
        </p:txBody>
      </p:sp>
      <p:sp>
        <p:nvSpPr>
          <p:cNvPr id="6" name="Text 4"/>
          <p:cNvSpPr/>
          <p:nvPr/>
        </p:nvSpPr>
        <p:spPr>
          <a:xfrm>
            <a:off x="914400" y="4347972"/>
            <a:ext cx="3119018" cy="150418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Checkr has HR, finance and legal people building workflow apps, supported by tool stipends and engineers on call.</a:t>
            </a:r>
            <a:endParaRPr lang="en-US" sz="1500" dirty="0"/>
          </a:p>
        </p:txBody>
      </p:sp>
      <p:sp>
        <p:nvSpPr>
          <p:cNvPr id="7" name="Text 5"/>
          <p:cNvSpPr/>
          <p:nvPr/>
        </p:nvSpPr>
        <p:spPr>
          <a:xfrm>
            <a:off x="4536338" y="30632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ALSO TRUE</a:t>
            </a:r>
            <a:endParaRPr lang="en-US" sz="1050" dirty="0"/>
          </a:p>
        </p:txBody>
      </p:sp>
      <p:sp>
        <p:nvSpPr>
          <p:cNvPr id="8" name="Text 6"/>
          <p:cNvSpPr/>
          <p:nvPr/>
        </p:nvSpPr>
        <p:spPr>
          <a:xfrm>
            <a:off x="4536338" y="3465576"/>
            <a:ext cx="3119018"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A third have replaced software</a:t>
            </a:r>
            <a:endParaRPr lang="en-US" sz="1900" dirty="0"/>
          </a:p>
        </p:txBody>
      </p:sp>
      <p:sp>
        <p:nvSpPr>
          <p:cNvPr id="9" name="Text 7"/>
          <p:cNvSpPr/>
          <p:nvPr/>
        </p:nvSpPr>
        <p:spPr>
          <a:xfrm>
            <a:off x="4536338" y="4347972"/>
            <a:ext cx="3119018" cy="150418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Of enterprises surveyed, 35% say they have replaced at least one SaaS product with something they built.</a:t>
            </a:r>
            <a:endParaRPr lang="en-US" sz="1500" dirty="0"/>
          </a:p>
        </p:txBody>
      </p:sp>
      <p:sp>
        <p:nvSpPr>
          <p:cNvPr id="10" name="Text 8"/>
          <p:cNvSpPr/>
          <p:nvPr/>
        </p:nvSpPr>
        <p:spPr>
          <a:xfrm>
            <a:off x="8158277" y="30632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NOT TRUE</a:t>
            </a:r>
            <a:endParaRPr lang="en-US" sz="1050" dirty="0"/>
          </a:p>
        </p:txBody>
      </p:sp>
      <p:sp>
        <p:nvSpPr>
          <p:cNvPr id="11" name="Text 9"/>
          <p:cNvSpPr/>
          <p:nvPr/>
        </p:nvSpPr>
        <p:spPr>
          <a:xfrm>
            <a:off x="8158277" y="3465576"/>
            <a:ext cx="3119018"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The manufacturing claim</a:t>
            </a:r>
            <a:endParaRPr lang="en-US" sz="1900" dirty="0"/>
          </a:p>
        </p:txBody>
      </p:sp>
      <p:sp>
        <p:nvSpPr>
          <p:cNvPr id="12" name="Text 10"/>
          <p:cNvSpPr/>
          <p:nvPr/>
        </p:nvSpPr>
        <p:spPr>
          <a:xfrm>
            <a:off x="8158277" y="4347972"/>
            <a:ext cx="3119018" cy="150418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That firms require one to two hours a day of vibe coding. No source. The only prominent figure runs the other way.</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POSTED ON THE WALL</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Rules for the build lab.</a:t>
            </a:r>
            <a:endParaRPr lang="en-US" sz="4000" dirty="0"/>
          </a:p>
        </p:txBody>
      </p:sp>
      <p:sp>
        <p:nvSpPr>
          <p:cNvPr id="4" name="Text 2"/>
          <p:cNvSpPr/>
          <p:nvPr/>
        </p:nvSpPr>
        <p:spPr>
          <a:xfrm>
            <a:off x="914400" y="258775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5603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No red data. Not in the prototype, not "just for testing."</a:t>
            </a:r>
            <a:endParaRPr lang="en-US" sz="1900" dirty="0"/>
          </a:p>
        </p:txBody>
      </p:sp>
      <p:sp>
        <p:nvSpPr>
          <p:cNvPr id="6" name="Text 4"/>
          <p:cNvSpPr/>
          <p:nvPr/>
        </p:nvSpPr>
        <p:spPr>
          <a:xfrm>
            <a:off x="1737360" y="28956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Use the Sabine Crossing pack. It exists so this rule costs you nothing.</a:t>
            </a:r>
            <a:endParaRPr lang="en-US" sz="1500" dirty="0"/>
          </a:p>
        </p:txBody>
      </p:sp>
      <p:sp>
        <p:nvSpPr>
          <p:cNvPr id="7" name="Text 5"/>
          <p:cNvSpPr/>
          <p:nvPr/>
        </p:nvSpPr>
        <p:spPr>
          <a:xfrm>
            <a:off x="914400" y="342595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3985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If it needs a login, it needs IT before anyone else uses it.</a:t>
            </a:r>
            <a:endParaRPr lang="en-US" sz="1900" dirty="0"/>
          </a:p>
        </p:txBody>
      </p:sp>
      <p:sp>
        <p:nvSpPr>
          <p:cNvPr id="9" name="Text 7"/>
          <p:cNvSpPr/>
          <p:nvPr/>
        </p:nvSpPr>
        <p:spPr>
          <a:xfrm>
            <a:off x="1737360" y="37338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Not before you build it. Before someone other than you touches it.</a:t>
            </a:r>
            <a:endParaRPr lang="en-US" sz="1500" dirty="0"/>
          </a:p>
        </p:txBody>
      </p:sp>
      <p:sp>
        <p:nvSpPr>
          <p:cNvPr id="10" name="Text 8"/>
          <p:cNvSpPr/>
          <p:nvPr/>
        </p:nvSpPr>
        <p:spPr>
          <a:xfrm>
            <a:off x="914400" y="4264152"/>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2367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prototype is not production. Say the words out loud.</a:t>
            </a:r>
            <a:endParaRPr lang="en-US" sz="1900" dirty="0"/>
          </a:p>
        </p:txBody>
      </p:sp>
      <p:sp>
        <p:nvSpPr>
          <p:cNvPr id="12" name="Text 10"/>
          <p:cNvSpPr/>
          <p:nvPr/>
        </p:nvSpPr>
        <p:spPr>
          <a:xfrm>
            <a:off x="1737360" y="457200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most expensive mistake in this room is a demo that quietly becomes a dependency.</a:t>
            </a:r>
            <a:endParaRPr lang="en-US" sz="1500" dirty="0"/>
          </a:p>
        </p:txBody>
      </p:sp>
      <p:sp>
        <p:nvSpPr>
          <p:cNvPr id="13" name="Text 11"/>
          <p:cNvSpPr/>
          <p:nvPr/>
        </p:nvSpPr>
        <p:spPr>
          <a:xfrm>
            <a:off x="914400" y="5369052"/>
            <a:ext cx="713232" cy="384048"/>
          </a:xfrm>
          <a:prstGeom prst="rect">
            <a:avLst/>
          </a:prstGeom>
          <a:noFill/>
          <a:ln/>
        </p:spPr>
        <p:txBody>
          <a:bodyPr wrap="square" lIns="0" tIns="0" rIns="0" bIns="0" rtlCol="0" anchor="ctr">
            <a:normAutofit/>
          </a:bodyPr>
          <a:lstStyle/>
          <a:p>
            <a:pPr indent="0" marL="0">
              <a:buNone/>
            </a:pPr>
            <a:r>
              <a:rPr lang="en-US" sz="2000" b="1" dirty="0">
                <a:solidFill>
                  <a:srgbClr val="003366"/>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3416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If you cannot explain it in one sentence, it is not scoped.</a:t>
            </a:r>
            <a:endParaRPr lang="en-US" sz="1900" dirty="0"/>
          </a:p>
        </p:txBody>
      </p:sp>
      <p:sp>
        <p:nvSpPr>
          <p:cNvPr id="15" name="Text 13"/>
          <p:cNvSpPr/>
          <p:nvPr/>
        </p:nvSpPr>
        <p:spPr>
          <a:xfrm>
            <a:off x="1737360" y="567690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Go back to question one of the charter.</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PART EVERYONE SKIPS</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Before you call it done.</a:t>
            </a:r>
            <a:endParaRPr lang="en-US" sz="4000" dirty="0"/>
          </a:p>
        </p:txBody>
      </p:sp>
      <p:sp>
        <p:nvSpPr>
          <p:cNvPr id="4" name="Text 2"/>
          <p:cNvSpPr/>
          <p:nvPr/>
        </p:nvSpPr>
        <p:spPr>
          <a:xfrm>
            <a:off x="914400" y="2606040"/>
            <a:ext cx="2213534"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01</a:t>
            </a:r>
            <a:endParaRPr lang="en-US" sz="3400" dirty="0"/>
          </a:p>
        </p:txBody>
      </p:sp>
      <p:sp>
        <p:nvSpPr>
          <p:cNvPr id="5" name="Text 3"/>
          <p:cNvSpPr/>
          <p:nvPr/>
        </p:nvSpPr>
        <p:spPr>
          <a:xfrm>
            <a:off x="914400" y="3319272"/>
            <a:ext cx="2213534"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Documented</a:t>
            </a:r>
            <a:endParaRPr lang="en-US" sz="1900" dirty="0"/>
          </a:p>
        </p:txBody>
      </p:sp>
      <p:sp>
        <p:nvSpPr>
          <p:cNvPr id="6" name="Text 4"/>
          <p:cNvSpPr/>
          <p:nvPr/>
        </p:nvSpPr>
        <p:spPr>
          <a:xfrm>
            <a:off x="914400" y="3897630"/>
            <a:ext cx="2213534" cy="195453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What it does, what it assumes, what it does not handle. One page is plenty.</a:t>
            </a:r>
            <a:endParaRPr lang="en-US" sz="1500" dirty="0"/>
          </a:p>
        </p:txBody>
      </p:sp>
      <p:sp>
        <p:nvSpPr>
          <p:cNvPr id="7" name="Text 5"/>
          <p:cNvSpPr/>
          <p:nvPr/>
        </p:nvSpPr>
        <p:spPr>
          <a:xfrm>
            <a:off x="3630854" y="2606040"/>
            <a:ext cx="2213534"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02</a:t>
            </a:r>
            <a:endParaRPr lang="en-US" sz="3400" dirty="0"/>
          </a:p>
        </p:txBody>
      </p:sp>
      <p:sp>
        <p:nvSpPr>
          <p:cNvPr id="8" name="Text 6"/>
          <p:cNvSpPr/>
          <p:nvPr/>
        </p:nvSpPr>
        <p:spPr>
          <a:xfrm>
            <a:off x="3630854" y="3319272"/>
            <a:ext cx="2213534"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Owned</a:t>
            </a:r>
            <a:endParaRPr lang="en-US" sz="1900" dirty="0"/>
          </a:p>
        </p:txBody>
      </p:sp>
      <p:sp>
        <p:nvSpPr>
          <p:cNvPr id="9" name="Text 7"/>
          <p:cNvSpPr/>
          <p:nvPr/>
        </p:nvSpPr>
        <p:spPr>
          <a:xfrm>
            <a:off x="3630854" y="3897630"/>
            <a:ext cx="2213534" cy="195453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 named person who is not only you. If you left tomorrow, who answers for it?</a:t>
            </a:r>
            <a:endParaRPr lang="en-US" sz="1500" dirty="0"/>
          </a:p>
        </p:txBody>
      </p:sp>
      <p:sp>
        <p:nvSpPr>
          <p:cNvPr id="10" name="Text 8"/>
          <p:cNvSpPr/>
          <p:nvPr/>
        </p:nvSpPr>
        <p:spPr>
          <a:xfrm>
            <a:off x="6347308" y="2606040"/>
            <a:ext cx="2213534"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03</a:t>
            </a:r>
            <a:endParaRPr lang="en-US" sz="3400" dirty="0"/>
          </a:p>
        </p:txBody>
      </p:sp>
      <p:sp>
        <p:nvSpPr>
          <p:cNvPr id="11" name="Text 9"/>
          <p:cNvSpPr/>
          <p:nvPr/>
        </p:nvSpPr>
        <p:spPr>
          <a:xfrm>
            <a:off x="6347308" y="3319272"/>
            <a:ext cx="2213534"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Classified</a:t>
            </a:r>
            <a:endParaRPr lang="en-US" sz="1900" dirty="0"/>
          </a:p>
        </p:txBody>
      </p:sp>
      <p:sp>
        <p:nvSpPr>
          <p:cNvPr id="12" name="Text 10"/>
          <p:cNvSpPr/>
          <p:nvPr/>
        </p:nvSpPr>
        <p:spPr>
          <a:xfrm>
            <a:off x="6347308" y="3897630"/>
            <a:ext cx="2213534" cy="195453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Data class confirmed against the charter — including what it grew into while you built it.</a:t>
            </a:r>
            <a:endParaRPr lang="en-US" sz="1500" dirty="0"/>
          </a:p>
        </p:txBody>
      </p:sp>
      <p:sp>
        <p:nvSpPr>
          <p:cNvPr id="13" name="Text 11"/>
          <p:cNvSpPr/>
          <p:nvPr/>
        </p:nvSpPr>
        <p:spPr>
          <a:xfrm>
            <a:off x="9063761" y="2606040"/>
            <a:ext cx="2213534"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04</a:t>
            </a:r>
            <a:endParaRPr lang="en-US" sz="3400" dirty="0"/>
          </a:p>
        </p:txBody>
      </p:sp>
      <p:sp>
        <p:nvSpPr>
          <p:cNvPr id="14" name="Text 12"/>
          <p:cNvSpPr/>
          <p:nvPr/>
        </p:nvSpPr>
        <p:spPr>
          <a:xfrm>
            <a:off x="9063761" y="3319272"/>
            <a:ext cx="2213534"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Survivable</a:t>
            </a:r>
            <a:endParaRPr lang="en-US" sz="1900" dirty="0"/>
          </a:p>
        </p:txBody>
      </p:sp>
      <p:sp>
        <p:nvSpPr>
          <p:cNvPr id="15" name="Text 13"/>
          <p:cNvSpPr/>
          <p:nvPr/>
        </p:nvSpPr>
        <p:spPr>
          <a:xfrm>
            <a:off x="9063761" y="3897630"/>
            <a:ext cx="2213534" cy="195453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What breaks it, who notices, and what people do while it is down.</a:t>
            </a:r>
            <a:endParaRPr lang="en-US" sz="1500" dirty="0"/>
          </a:p>
        </p:txBody>
      </p:sp>
      <p:sp>
        <p:nvSpPr>
          <p:cNvPr id="16" name="Text 14"/>
          <p:cNvSpPr/>
          <p:nvPr/>
        </p:nvSpPr>
        <p:spPr>
          <a:xfrm>
            <a:off x="914400" y="5486400"/>
            <a:ext cx="9448495" cy="548640"/>
          </a:xfrm>
          <a:prstGeom prst="rect">
            <a:avLst/>
          </a:prstGeom>
          <a:noFill/>
          <a:ln/>
        </p:spPr>
        <p:txBody>
          <a:bodyPr wrap="square" lIns="0" tIns="0" rIns="0" bIns="0" rtlCol="0" anchor="ctr">
            <a:normAutofit/>
          </a:bodyPr>
          <a:lstStyle/>
          <a:p>
            <a:pPr indent="0" marL="0">
              <a:lnSpc>
                <a:spcPts val="2300"/>
              </a:lnSpc>
              <a:buNone/>
            </a:pPr>
            <a:r>
              <a:rPr lang="en-US" sz="1600" dirty="0">
                <a:solidFill>
                  <a:srgbClr val="7A8794"/>
                </a:solidFill>
                <a:latin typeface="Calibri" pitchFamily="34" charset="0"/>
                <a:ea typeface="Calibri" pitchFamily="34" charset="-122"/>
                <a:cs typeface="Calibri" pitchFamily="34" charset="-120"/>
              </a:rPr>
              <a:t>Programs like this have about a two-year half-life without sustainment. Design against that from day one.</a:t>
            </a:r>
            <a:endParaRPr lang="en-US" sz="16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AFTER THE LAST SESSION</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Where this goes next.</a:t>
            </a:r>
            <a:endParaRPr lang="en-US" sz="4000" dirty="0"/>
          </a:p>
        </p:txBody>
      </p:sp>
      <p:sp>
        <p:nvSpPr>
          <p:cNvPr id="4" name="Text 2"/>
          <p:cNvSpPr/>
          <p:nvPr/>
        </p:nvSpPr>
        <p:spPr>
          <a:xfrm>
            <a:off x="914400"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WHO</a:t>
            </a:r>
            <a:endParaRPr lang="en-US" sz="1050" dirty="0"/>
          </a:p>
        </p:txBody>
      </p:sp>
      <p:sp>
        <p:nvSpPr>
          <p:cNvPr id="5" name="Text 3"/>
          <p:cNvSpPr/>
          <p:nvPr/>
        </p:nvSpPr>
        <p:spPr>
          <a:xfrm>
            <a:off x="914400"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AI Ambassadors</a:t>
            </a:r>
            <a:endParaRPr lang="en-US" sz="2100" dirty="0"/>
          </a:p>
        </p:txBody>
      </p:sp>
      <p:sp>
        <p:nvSpPr>
          <p:cNvPr id="6" name="Text 4"/>
          <p:cNvSpPr/>
          <p:nvPr/>
        </p:nvSpPr>
        <p:spPr>
          <a:xfrm>
            <a:off x="914400"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One per major unit, from this cohort, in a published directory. Be the person people ask before they paste something in.</a:t>
            </a:r>
            <a:endParaRPr lang="en-US" sz="1500" dirty="0"/>
          </a:p>
        </p:txBody>
      </p:sp>
      <p:sp>
        <p:nvSpPr>
          <p:cNvPr id="7" name="Text 5"/>
          <p:cNvSpPr/>
          <p:nvPr/>
        </p:nvSpPr>
        <p:spPr>
          <a:xfrm>
            <a:off x="4536338"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WHEN</a:t>
            </a:r>
            <a:endParaRPr lang="en-US" sz="1050" dirty="0"/>
          </a:p>
        </p:txBody>
      </p:sp>
      <p:sp>
        <p:nvSpPr>
          <p:cNvPr id="8" name="Text 6"/>
          <p:cNvSpPr/>
          <p:nvPr/>
        </p:nvSpPr>
        <p:spPr>
          <a:xfrm>
            <a:off x="4536338"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monthly open lab</a:t>
            </a:r>
            <a:endParaRPr lang="en-US" sz="2100" dirty="0"/>
          </a:p>
        </p:txBody>
      </p:sp>
      <p:sp>
        <p:nvSpPr>
          <p:cNvPr id="9" name="Text 7"/>
          <p:cNvSpPr/>
          <p:nvPr/>
        </p:nvSpPr>
        <p:spPr>
          <a:xfrm>
            <a:off x="4536338"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No agenda, all tools on the table, ninety minutes, same Friday every month. Almost no prep cost.</a:t>
            </a:r>
            <a:endParaRPr lang="en-US" sz="1500" dirty="0"/>
          </a:p>
        </p:txBody>
      </p:sp>
      <p:sp>
        <p:nvSpPr>
          <p:cNvPr id="10" name="Text 8"/>
          <p:cNvSpPr/>
          <p:nvPr/>
        </p:nvSpPr>
        <p:spPr>
          <a:xfrm>
            <a:off x="8158277" y="260604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3366"/>
                </a:solidFill>
                <a:latin typeface="Calibri" pitchFamily="34" charset="0"/>
                <a:ea typeface="Calibri" pitchFamily="34" charset="-122"/>
                <a:cs typeface="Calibri" pitchFamily="34" charset="-120"/>
              </a:rPr>
              <a:t>WHY</a:t>
            </a:r>
            <a:endParaRPr lang="en-US" sz="1050" dirty="0"/>
          </a:p>
        </p:txBody>
      </p:sp>
      <p:sp>
        <p:nvSpPr>
          <p:cNvPr id="11" name="Text 9"/>
          <p:cNvSpPr/>
          <p:nvPr/>
        </p:nvSpPr>
        <p:spPr>
          <a:xfrm>
            <a:off x="8158277" y="300837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showcase each semester</a:t>
            </a:r>
            <a:endParaRPr lang="en-US" sz="2100" dirty="0"/>
          </a:p>
        </p:txBody>
      </p:sp>
      <p:sp>
        <p:nvSpPr>
          <p:cNvPr id="12" name="Text 10"/>
          <p:cNvSpPr/>
          <p:nvPr/>
        </p:nvSpPr>
        <p:spPr>
          <a:xfrm>
            <a:off x="8158277"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Demo what you built to anyone who shows up, leadership included. It doubles as the evidence file for continuation funding.</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14400" y="1828800"/>
            <a:ext cx="9814255" cy="23561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You are not waiting</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for the rules.</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You are writing them.</a:t>
            </a:r>
            <a:endParaRPr lang="en-US" sz="5000" dirty="0"/>
          </a:p>
        </p:txBody>
      </p:sp>
      <p:sp>
        <p:nvSpPr>
          <p:cNvPr id="3" name="Text 1"/>
          <p:cNvSpPr/>
          <p:nvPr/>
        </p:nvSpPr>
        <p:spPr>
          <a:xfrm>
            <a:off x="914400" y="4495800"/>
            <a:ext cx="8716975" cy="149352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MCC has no institutional AI policy. What this room produces — the data chart, the tools list, the charter, the request form — is the first draft of the one it needs.</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McLennan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Something — the MCC AI Sandbox</dc:title>
  <dc:subject>Staff and faculty professional development, Tier 3</dc:subject>
  <dc:creator>Ted Gonzalez, JD/MBA</dc:creator>
  <cp:lastModifiedBy>Ted Gonzalez, JD/MBA</cp:lastModifiedBy>
  <cp:revision>1</cp:revision>
  <dcterms:created xsi:type="dcterms:W3CDTF">2026-08-04T14:20:57Z</dcterms:created>
  <dcterms:modified xsi:type="dcterms:W3CDTF">2026-08-04T14:20:57Z</dcterms:modified>
</cp:coreProperties>
</file>