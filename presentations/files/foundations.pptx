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6"/>
    <p:sldId id="261" r:id="rId7"/>
    <p:sldId id="282" r:id="rId33"/>
    <p:sldId id="283" r:id="rId34"/>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open by defining large language models. Open with the poll on slide 3. Most of this room used AI this week; starting at "what is an LLM" loses the people you most need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in the first two minutes. It is the difference between a room that engages and a room that waits you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your own pre-work survey numbers here too — especially "have you put student information into an AI tool." Report it flatly. It always comes back higher than people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deeper. Nobody needs tokens or transformers. They need to predict failure, and "it produces plausible text" is enough.</a:t>
            </a:r>
          </a:p>
          <a:p>
            <a:r>
              <a:rPr lang="en-US" dirty="0"/>
              <a:t>Live demo: click See it in action (opens the site in your browser, ~4 min). It cites Owasso v. Falvo where the answer is Gonzaga v. Doe. Let the room find it before you reveal. Esc returns to the slide; switch back to PowerPoint when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columns aloud so the room hears they are identical. This is the slide that reorganises people's intuition — slow down.</a:t>
            </a:r>
          </a:p>
          <a:p>
            <a:r>
              <a:rPr lang="en-US" dirty="0"/>
              <a:t>Live demo: click See it in action (opens the site in your browser, about 5 minutes). Step 1: let the room vote before revealing. Step 3: ask again three or four times before checking one. The last step has Back to slide; switch back to PowerPoint when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room has tried the first three. Naming them without mockery is what makes this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sort their own pre-work answers into these three columns on the board. Their tasks, not your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should be able to recite these three by the end of the course. It is the only thing on the exit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where that line is in their own job — the message where drafting with AI is fine, and the one where it is not. Then be quiet. The discomfort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each live with a before and after. Do not put examples on slides — the room needs to watch the output change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parts are doing the work. They will name the frustration line, and they are right — audience emotional state changes the output more than almost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treat every prompt as a fresh vending-machine transaction. Learning to argue with the output is the biggest practical upgrade in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FERPA enforcement — no private right of action per Gonzaga v. Doe, and ED has never withdrawn funding. Overstating it costs you the room. GLBA is where the real exposure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GLBA is the Gramm-Leach-Bliley Act. It reaches MCC because the FTC treats institutions that administer Title IV aid as financial institutions. Point at the covers list and ask the financial aid staff which of these they handle every day. Then land the bottom line: FERPA worst case is a letter; GLBA reaches our ability to disburse aid.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Rebuild this on MCC's own Data Classification vocabulary before teaching it. Using tier names the institution already owns makes adoption dramatically easier.</a:t>
            </a:r>
          </a:p>
          <a:p>
            <a:r>
              <a:rPr lang="en-US" dirty="0"/>
              <a:t>Live game: click Sort it yourself (opens the site in your browser, about 6 minutes). Have the room call each one out loud before you tap. G, Y, R keys answer; right arrow moves on. Cards 2-3 and 6-7 are the lookalike pairs. The last screen has Back to slide; switch back to PowerPoint when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well-known assistant changed its consumer terms in 2025 so consumer chats can train the model unless the user declines — while its Team, Enterprise and Education tiers stayed exempt. Same company, same model, opposite data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Texas also has TRAIGA, effective January 2026 — but its government-entity provisions likely do not reach MCC, since institutions of higher education are excluded from the definition. Do not teach those as binding, and do not assert a training mandate General Counsel has not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6345936"/>
            <a:ext cx="6583680" cy="274320"/>
          </a:xfrm>
          <a:prstGeom prst="rect">
            <a:avLst/>
          </a:prstGeom>
          <a:noFill/>
          <a:ln/>
        </p:spPr>
        <p:txBody>
          <a:bodyPr wrap="square" lIns="0" tIns="0" rIns="0" bIns="0" rtlCol="0" anchor="ctr"/>
          <a:lstStyle/>
          <a:p>
            <a:pPr indent="0" marL="0">
              <a:buNone/>
            </a:pPr>
            <a:r>
              <a:rPr lang="en-US" sz="900" dirty="0">
                <a:solidFill>
                  <a:srgbClr val="B4BCC5"/>
                </a:solidFill>
                <a:latin typeface="Calibri" pitchFamily="34" charset="0"/>
                <a:ea typeface="Calibri" pitchFamily="34" charset="-122"/>
                <a:cs typeface="Calibri" pitchFamily="34" charset="-120"/>
              </a:rPr>
              <a:t>© 2026 Ted Gonzalez, JD/MBA. All rights reserved.</a:t>
            </a:r>
            <a:endParaRPr lang="en-US" sz="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A1A2E"/>
        </a:solidFill>
      </p:bgPr>
    </p:bg>
    <p:spTree>
      <p:nvGrpSpPr>
        <p:cNvPr id="1" name=""/>
        <p:cNvGrpSpPr/>
        <p:nvPr/>
      </p:nvGrpSpPr>
      <p:grpSpPr>
        <a:xfrm>
          <a:off x="0" y="0"/>
          <a:ext cx="0" cy="0"/>
          <a:chOff x="0" y="0"/>
          <a:chExt cx="0" cy="0"/>
        </a:xfrm>
      </p:grpSpPr>
      <p:sp>
        <p:nvSpPr>
          <p:cNvPr id="2" name="Text 0"/>
          <p:cNvSpPr/>
          <p:nvPr/>
        </p:nvSpPr>
        <p:spPr>
          <a:xfrm>
            <a:off x="914400" y="6345936"/>
            <a:ext cx="6583680" cy="274320"/>
          </a:xfrm>
          <a:prstGeom prst="rect">
            <a:avLst/>
          </a:prstGeom>
          <a:noFill/>
          <a:ln/>
        </p:spPr>
        <p:txBody>
          <a:bodyPr wrap="square" lIns="0" tIns="0" rIns="0" bIns="0" rtlCol="0" anchor="ctr"/>
          <a:lstStyle/>
          <a:p>
            <a:pPr indent="0" marL="0">
              <a:buNone/>
            </a:pPr>
            <a:r>
              <a:rPr lang="en-US" sz="900" dirty="0">
                <a:solidFill>
                  <a:srgbClr val="4E5F72"/>
                </a:solidFill>
                <a:latin typeface="Calibri" pitchFamily="34" charset="0"/>
                <a:ea typeface="Calibri" pitchFamily="34" charset="-122"/>
                <a:cs typeface="Calibri" pitchFamily="34" charset="-120"/>
              </a:rPr>
              <a:t>© 2026 Ted Gonzalez, JD/MBA. All rights reserved.</a:t>
            </a:r>
            <a:endParaRPr lang="en-US" sz="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UE">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914400" y="6345936"/>
            <a:ext cx="6583680" cy="274320"/>
          </a:xfrm>
          <a:prstGeom prst="rect">
            <a:avLst/>
          </a:prstGeom>
          <a:noFill/>
          <a:ln/>
        </p:spPr>
        <p:txBody>
          <a:bodyPr wrap="square" lIns="0" tIns="0" rIns="0" bIns="0" rtlCol="0" anchor="ctr"/>
          <a:lstStyle/>
          <a:p>
            <a:pPr indent="0" marL="0">
              <a:buNone/>
            </a:pPr>
            <a:r>
              <a:rPr lang="en-US" sz="900" dirty="0">
                <a:solidFill>
                  <a:srgbClr val="5A82A8"/>
                </a:solidFill>
                <a:latin typeface="Calibri" pitchFamily="34" charset="0"/>
                <a:ea typeface="Calibri" pitchFamily="34" charset="-122"/>
                <a:cs typeface="Calibri" pitchFamily="34" charset="-120"/>
              </a:rPr>
              <a:t>© 2026 Ted Gonzalez, JD/MBA. All rights reserved.</a:t>
            </a:r>
            <a:endParaRPr lang="en-US" sz="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tedg145.github.io/mcc-professional-development/next-word/#dem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tedg145.github.io/mcc-professional-development/two-dials/#dem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tedg145.github.io/mcc-professional-development/data-line/#dem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914400" y="1874520"/>
            <a:ext cx="10362895" cy="310896"/>
          </a:xfrm>
          <a:prstGeom prst="rect">
            <a:avLst/>
          </a:prstGeom>
          <a:noFill/>
          <a:ln/>
        </p:spPr>
        <p:txBody>
          <a:bodyPr wrap="square" lIns="0" tIns="0" rIns="0" bIns="0" rtlCol="0" anchor="ctr">
            <a:normAutofit/>
          </a:bodyPr>
          <a:lstStyle/>
          <a:p>
            <a:pPr indent="0" marL="0">
              <a:buNone/>
            </a:pPr>
            <a:r>
              <a:rPr lang="en-US" sz="1250" b="1" spc="300" kern="0" dirty="0">
                <a:solidFill>
                  <a:srgbClr val="FF6600"/>
                </a:solidFill>
                <a:latin typeface="Calibri" pitchFamily="34" charset="0"/>
                <a:ea typeface="Calibri" pitchFamily="34" charset="-122"/>
                <a:cs typeface="Calibri" pitchFamily="34" charset="-120"/>
              </a:rPr>
              <a:t>MCLENNAN COMMUNITY COLLEGE</a:t>
            </a:r>
            <a:endParaRPr lang="en-US" sz="1250" dirty="0"/>
          </a:p>
        </p:txBody>
      </p:sp>
      <p:sp>
        <p:nvSpPr>
          <p:cNvPr id="3" name="Text 1"/>
          <p:cNvSpPr/>
          <p:nvPr/>
        </p:nvSpPr>
        <p:spPr>
          <a:xfrm>
            <a:off x="914400" y="2331720"/>
            <a:ext cx="10362895" cy="1051560"/>
          </a:xfrm>
          <a:prstGeom prst="rect">
            <a:avLst/>
          </a:prstGeom>
          <a:noFill/>
          <a:ln/>
        </p:spPr>
        <p:txBody>
          <a:bodyPr wrap="square" lIns="0" tIns="0" rIns="0" bIns="0" rtlCol="0" anchor="ctr">
            <a:normAutofit/>
          </a:bodyPr>
          <a:lstStyle/>
          <a:p>
            <a:pPr indent="0" marL="0">
              <a:lnSpc>
                <a:spcPts val="6800"/>
              </a:lnSpc>
              <a:buNone/>
            </a:pPr>
            <a:r>
              <a:rPr lang="en-US" sz="6200" b="1" dirty="0">
                <a:solidFill>
                  <a:srgbClr val="FFFFFF"/>
                </a:solidFill>
                <a:latin typeface="Poppins" pitchFamily="34" charset="0"/>
                <a:ea typeface="Poppins" pitchFamily="34" charset="-122"/>
                <a:cs typeface="Poppins" pitchFamily="34" charset="-120"/>
              </a:rPr>
              <a:t>Leveraging AI</a:t>
            </a:r>
            <a:endParaRPr lang="en-US" sz="6200" dirty="0"/>
          </a:p>
        </p:txBody>
      </p:sp>
      <p:sp>
        <p:nvSpPr>
          <p:cNvPr id="4" name="Text 2"/>
          <p:cNvSpPr/>
          <p:nvPr/>
        </p:nvSpPr>
        <p:spPr>
          <a:xfrm>
            <a:off x="914400" y="3310128"/>
            <a:ext cx="10362895" cy="1051560"/>
          </a:xfrm>
          <a:prstGeom prst="rect">
            <a:avLst/>
          </a:prstGeom>
          <a:noFill/>
          <a:ln/>
        </p:spPr>
        <p:txBody>
          <a:bodyPr wrap="square" lIns="0" tIns="0" rIns="0" bIns="0" rtlCol="0" anchor="ctr">
            <a:normAutofit/>
          </a:bodyPr>
          <a:lstStyle/>
          <a:p>
            <a:pPr indent="0" marL="0">
              <a:lnSpc>
                <a:spcPts val="6800"/>
              </a:lnSpc>
              <a:buNone/>
            </a:pPr>
            <a:r>
              <a:rPr lang="en-US" sz="6200" b="1" dirty="0">
                <a:solidFill>
                  <a:srgbClr val="5C6E82"/>
                </a:solidFill>
                <a:latin typeface="Poppins" pitchFamily="34" charset="0"/>
                <a:ea typeface="Poppins" pitchFamily="34" charset="-122"/>
                <a:cs typeface="Poppins" pitchFamily="34" charset="-120"/>
              </a:rPr>
              <a:t>at MCC</a:t>
            </a:r>
            <a:endParaRPr lang="en-US" sz="6200" dirty="0"/>
          </a:p>
        </p:txBody>
      </p:sp>
      <p:sp>
        <p:nvSpPr>
          <p:cNvPr id="5" name="Text 3"/>
          <p:cNvSpPr/>
          <p:nvPr/>
        </p:nvSpPr>
        <p:spPr>
          <a:xfrm>
            <a:off x="914400" y="4709160"/>
            <a:ext cx="10362895" cy="365760"/>
          </a:xfrm>
          <a:prstGeom prst="rect">
            <a:avLst/>
          </a:prstGeom>
          <a:noFill/>
          <a:ln/>
        </p:spPr>
        <p:txBody>
          <a:bodyPr wrap="square" lIns="0" tIns="0" rIns="0" bIns="0" rtlCol="0" anchor="ctr">
            <a:normAutofit/>
          </a:bodyPr>
          <a:lstStyle/>
          <a:p>
            <a:pPr indent="0" marL="0">
              <a:buNone/>
            </a:pPr>
            <a:r>
              <a:rPr lang="en-US" sz="1900" dirty="0">
                <a:solidFill>
                  <a:srgbClr val="A7B7C9"/>
                </a:solidFill>
                <a:latin typeface="Calibri" pitchFamily="34" charset="0"/>
                <a:ea typeface="Calibri" pitchFamily="34" charset="-122"/>
                <a:cs typeface="Calibri" pitchFamily="34" charset="-120"/>
              </a:rPr>
              <a:t>Foundations  ·  Tier 1</a:t>
            </a:r>
            <a:endParaRPr lang="en-US" sz="1900" dirty="0"/>
          </a:p>
        </p:txBody>
      </p:sp>
      <p:sp>
        <p:nvSpPr>
          <p:cNvPr id="6" name="Text 4"/>
          <p:cNvSpPr/>
          <p:nvPr/>
        </p:nvSpPr>
        <p:spPr>
          <a:xfrm>
            <a:off x="914400" y="5138928"/>
            <a:ext cx="10362895" cy="365760"/>
          </a:xfrm>
          <a:prstGeom prst="rect">
            <a:avLst/>
          </a:prstGeom>
          <a:noFill/>
          <a:ln/>
        </p:spPr>
        <p:txBody>
          <a:bodyPr wrap="square" lIns="0" tIns="0" rIns="0" bIns="0" rtlCol="0" anchor="ctr">
            <a:normAutofit/>
          </a:bodyPr>
          <a:lstStyle/>
          <a:p>
            <a:pPr indent="0" marL="0">
              <a:buNone/>
            </a:pPr>
            <a:r>
              <a:rPr lang="en-US" sz="1500" dirty="0">
                <a:solidFill>
                  <a:srgbClr val="5C6E82"/>
                </a:solidFill>
                <a:latin typeface="Calibri" pitchFamily="34" charset="0"/>
                <a:ea typeface="Calibri" pitchFamily="34" charset="-122"/>
                <a:cs typeface="Calibri" pitchFamily="34" charset="-120"/>
              </a:rPr>
              <a:t>Ted Gonzalez, JD/MBA</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914400" y="1965960"/>
            <a:ext cx="9814255" cy="1678432"/>
          </a:xfrm>
          <a:prstGeom prst="rect">
            <a:avLst/>
          </a:prstGeom>
          <a:noFill/>
          <a:ln/>
        </p:spPr>
        <p:txBody>
          <a:bodyPr wrap="square" lIns="0" tIns="0" rIns="0" bIns="0" rtlCol="0" anchor="t">
            <a:normAutofit/>
          </a:bodyPr>
          <a:lstStyle/>
          <a:p>
            <a:pPr indent="0" marL="0">
              <a:lnSpc>
                <a:spcPts val="6032"/>
              </a:lnSpc>
              <a:buNone/>
            </a:pPr>
            <a:r>
              <a:rPr lang="en-US" sz="5200" b="1" dirty="0">
                <a:solidFill>
                  <a:srgbClr val="FFFFFF"/>
                </a:solidFill>
                <a:latin typeface="Poppins" pitchFamily="34" charset="0"/>
                <a:ea typeface="Poppins" pitchFamily="34" charset="-122"/>
                <a:cs typeface="Poppins" pitchFamily="34" charset="-120"/>
              </a:rPr>
              <a:t>Nobody here is</a:t>
            </a:r>
            <a:endParaRPr lang="en-US" sz="5200" dirty="0"/>
          </a:p>
          <a:p>
            <a:pPr indent="0" marL="0">
              <a:lnSpc>
                <a:spcPts val="6032"/>
              </a:lnSpc>
              <a:buNone/>
            </a:pPr>
            <a:r>
              <a:rPr lang="en-US" sz="5200" b="1" dirty="0">
                <a:solidFill>
                  <a:srgbClr val="FFFFFF"/>
                </a:solidFill>
                <a:latin typeface="Poppins" pitchFamily="34" charset="0"/>
                <a:ea typeface="Poppins" pitchFamily="34" charset="-122"/>
                <a:cs typeface="Poppins" pitchFamily="34" charset="-120"/>
              </a:rPr>
              <a:t>starting from zero.</a:t>
            </a:r>
            <a:endParaRPr lang="en-US" sz="5200" dirty="0"/>
          </a:p>
        </p:txBody>
      </p:sp>
      <p:sp>
        <p:nvSpPr>
          <p:cNvPr id="3" name="Text 1"/>
          <p:cNvSpPr/>
          <p:nvPr/>
        </p:nvSpPr>
        <p:spPr>
          <a:xfrm>
            <a:off x="914400" y="3955288"/>
            <a:ext cx="8716975" cy="2034032"/>
          </a:xfrm>
          <a:prstGeom prst="rect">
            <a:avLst/>
          </a:prstGeom>
          <a:noFill/>
          <a:ln/>
        </p:spPr>
        <p:txBody>
          <a:bodyPr wrap="square" lIns="0" tIns="0" rIns="0" bIns="0" rtlCol="0" anchor="t">
            <a:normAutofit/>
          </a:bodyPr>
          <a:lstStyle/>
          <a:p>
            <a:pPr indent="0" marL="0">
              <a:lnSpc>
                <a:spcPts val="3000"/>
              </a:lnSpc>
              <a:buNone/>
            </a:pPr>
            <a:r>
              <a:rPr lang="en-US" sz="2000" dirty="0">
                <a:solidFill>
                  <a:srgbClr val="A7B7C9"/>
                </a:solidFill>
                <a:latin typeface="Calibri" pitchFamily="34" charset="0"/>
                <a:ea typeface="Calibri" pitchFamily="34" charset="-122"/>
                <a:cs typeface="Calibri" pitchFamily="34" charset="-120"/>
              </a:rPr>
              <a:t>Some of you have used these tools daily for two years. Some have used them twice. Both are welcome, and neither is behind.</a:t>
            </a:r>
            <a:endParaRPr lang="en-US" sz="20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ROOM YOU ARE ACTUALLY IN</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Almost everyone here</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already uses AI for work.</a:t>
            </a:r>
            <a:endParaRPr lang="en-US" sz="4000" dirty="0"/>
          </a:p>
        </p:txBody>
      </p:sp>
      <p:sp>
        <p:nvSpPr>
          <p:cNvPr id="4" name="Text 2"/>
          <p:cNvSpPr/>
          <p:nvPr/>
        </p:nvSpPr>
        <p:spPr>
          <a:xfrm>
            <a:off x="914400"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003366"/>
                </a:solidFill>
                <a:latin typeface="Calibri" pitchFamily="34" charset="0"/>
                <a:ea typeface="Calibri" pitchFamily="34" charset="-122"/>
                <a:cs typeface="Calibri" pitchFamily="34" charset="-120"/>
              </a:rPr>
              <a:t>94%</a:t>
            </a:r>
            <a:endParaRPr lang="en-US" sz="1050" dirty="0"/>
          </a:p>
        </p:txBody>
      </p:sp>
      <p:sp>
        <p:nvSpPr>
          <p:cNvPr id="5" name="Text 3"/>
          <p:cNvSpPr/>
          <p:nvPr/>
        </p:nvSpPr>
        <p:spPr>
          <a:xfrm>
            <a:off x="914400"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have used it</a:t>
            </a:r>
            <a:endParaRPr lang="en-US" sz="1900" dirty="0"/>
          </a:p>
        </p:txBody>
      </p:sp>
      <p:sp>
        <p:nvSpPr>
          <p:cNvPr id="6" name="Text 4"/>
          <p:cNvSpPr/>
          <p:nvPr/>
        </p:nvSpPr>
        <p:spPr>
          <a:xfrm>
            <a:off x="914400"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For work, in the past six months.</a:t>
            </a:r>
            <a:endParaRPr lang="en-US" sz="1500" dirty="0"/>
          </a:p>
        </p:txBody>
      </p:sp>
      <p:sp>
        <p:nvSpPr>
          <p:cNvPr id="7" name="Text 5"/>
          <p:cNvSpPr/>
          <p:nvPr/>
        </p:nvSpPr>
        <p:spPr>
          <a:xfrm>
            <a:off x="3630854"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00697A"/>
                </a:solidFill>
                <a:latin typeface="Calibri" pitchFamily="34" charset="0"/>
                <a:ea typeface="Calibri" pitchFamily="34" charset="-122"/>
                <a:cs typeface="Calibri" pitchFamily="34" charset="-120"/>
              </a:rPr>
              <a:t>38%</a:t>
            </a:r>
            <a:endParaRPr lang="en-US" sz="1050" dirty="0"/>
          </a:p>
        </p:txBody>
      </p:sp>
      <p:sp>
        <p:nvSpPr>
          <p:cNvPr id="8" name="Text 6"/>
          <p:cNvSpPr/>
          <p:nvPr/>
        </p:nvSpPr>
        <p:spPr>
          <a:xfrm>
            <a:off x="3630854"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use it daily</a:t>
            </a:r>
            <a:endParaRPr lang="en-US" sz="1900" dirty="0"/>
          </a:p>
        </p:txBody>
      </p:sp>
      <p:sp>
        <p:nvSpPr>
          <p:cNvPr id="9" name="Text 7"/>
          <p:cNvSpPr/>
          <p:nvPr/>
        </p:nvSpPr>
        <p:spPr>
          <a:xfrm>
            <a:off x="3630854"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Of those users — every working day.</a:t>
            </a:r>
            <a:endParaRPr lang="en-US" sz="1500" dirty="0"/>
          </a:p>
        </p:txBody>
      </p:sp>
      <p:sp>
        <p:nvSpPr>
          <p:cNvPr id="10" name="Text 8"/>
          <p:cNvSpPr/>
          <p:nvPr/>
        </p:nvSpPr>
        <p:spPr>
          <a:xfrm>
            <a:off x="6347308"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B34A00"/>
                </a:solidFill>
                <a:latin typeface="Calibri" pitchFamily="34" charset="0"/>
                <a:ea typeface="Calibri" pitchFamily="34" charset="-122"/>
                <a:cs typeface="Calibri" pitchFamily="34" charset="-120"/>
              </a:rPr>
              <a:t>56%</a:t>
            </a:r>
            <a:endParaRPr lang="en-US" sz="1050" dirty="0"/>
          </a:p>
        </p:txBody>
      </p:sp>
      <p:sp>
        <p:nvSpPr>
          <p:cNvPr id="11" name="Text 9"/>
          <p:cNvSpPr/>
          <p:nvPr/>
        </p:nvSpPr>
        <p:spPr>
          <a:xfrm>
            <a:off x="6347308"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on personal accounts</a:t>
            </a:r>
            <a:endParaRPr lang="en-US" sz="1900" dirty="0"/>
          </a:p>
        </p:txBody>
      </p:sp>
      <p:sp>
        <p:nvSpPr>
          <p:cNvPr id="12" name="Text 10"/>
          <p:cNvSpPr/>
          <p:nvPr/>
        </p:nvSpPr>
        <p:spPr>
          <a:xfrm>
            <a:off x="6347308"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Non-institutional tools, unsanctioned.</a:t>
            </a:r>
            <a:endParaRPr lang="en-US" sz="1500" dirty="0"/>
          </a:p>
        </p:txBody>
      </p:sp>
      <p:sp>
        <p:nvSpPr>
          <p:cNvPr id="13" name="Text 11"/>
          <p:cNvSpPr/>
          <p:nvPr/>
        </p:nvSpPr>
        <p:spPr>
          <a:xfrm>
            <a:off x="9063761" y="306324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46%</a:t>
            </a:r>
            <a:endParaRPr lang="en-US" sz="1050" dirty="0"/>
          </a:p>
        </p:txBody>
      </p:sp>
      <p:sp>
        <p:nvSpPr>
          <p:cNvPr id="14" name="Text 12"/>
          <p:cNvSpPr/>
          <p:nvPr/>
        </p:nvSpPr>
        <p:spPr>
          <a:xfrm>
            <a:off x="9063761" y="3465576"/>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do not know the rules</a:t>
            </a:r>
            <a:endParaRPr lang="en-US" sz="1900" dirty="0"/>
          </a:p>
        </p:txBody>
      </p:sp>
      <p:sp>
        <p:nvSpPr>
          <p:cNvPr id="15" name="Text 13"/>
          <p:cNvSpPr/>
          <p:nvPr/>
        </p:nvSpPr>
        <p:spPr>
          <a:xfrm>
            <a:off x="9063761" y="4347972"/>
            <a:ext cx="2213534" cy="15041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Unaware of their institution's AI policy.</a:t>
            </a:r>
            <a:endParaRPr lang="en-US" sz="1500" dirty="0"/>
          </a:p>
        </p:txBody>
      </p:sp>
      <p:sp>
        <p:nvSpPr>
          <p:cNvPr id="16" name="Text 14"/>
          <p:cNvSpPr/>
          <p:nvPr/>
        </p:nvSpPr>
        <p:spPr>
          <a:xfrm>
            <a:off x="914400" y="5943600"/>
            <a:ext cx="8991295" cy="292608"/>
          </a:xfrm>
          <a:prstGeom prst="rect">
            <a:avLst/>
          </a:prstGeom>
          <a:noFill/>
          <a:ln/>
        </p:spPr>
        <p:txBody>
          <a:bodyPr wrap="square" lIns="0" tIns="0" rIns="0" bIns="0" rtlCol="0" anchor="ctr">
            <a:normAutofit/>
          </a:bodyPr>
          <a:lstStyle/>
          <a:p>
            <a:pPr indent="0" marL="0">
              <a:buNone/>
            </a:pPr>
            <a:r>
              <a:rPr lang="en-US" sz="1050" dirty="0">
                <a:solidFill>
                  <a:srgbClr val="7A8794"/>
                </a:solidFill>
                <a:latin typeface="Calibri" pitchFamily="34" charset="0"/>
                <a:ea typeface="Calibri" pitchFamily="34" charset="-122"/>
                <a:cs typeface="Calibri" pitchFamily="34" charset="-120"/>
              </a:rPr>
              <a:t>EDUCAUSE, "The Impact of AI on Work in Higher Education," January 2026 · n = 1,960</a:t>
            </a:r>
            <a:endParaRPr lang="en-US" sz="10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914400" y="1371600"/>
            <a:ext cx="10362895" cy="914400"/>
          </a:xfrm>
          <a:prstGeom prst="rect">
            <a:avLst/>
          </a:prstGeom>
          <a:noFill/>
          <a:ln/>
        </p:spPr>
        <p:txBody>
          <a:bodyPr wrap="square" lIns="0" tIns="0" rIns="0" bIns="0" rtlCol="0" anchor="ctr">
            <a:normAutofit/>
          </a:bodyPr>
          <a:lstStyle/>
          <a:p>
            <a:pPr indent="0" marL="0">
              <a:buNone/>
            </a:pPr>
            <a:r>
              <a:rPr lang="en-US" sz="2000" b="1" spc="300" kern="0" dirty="0">
                <a:solidFill>
                  <a:srgbClr val="FF6600"/>
                </a:solidFill>
                <a:latin typeface="Poppins" pitchFamily="34" charset="0"/>
                <a:ea typeface="Poppins" pitchFamily="34" charset="-122"/>
                <a:cs typeface="Poppins" pitchFamily="34" charset="-120"/>
              </a:rPr>
              <a:t>PART ONE</a:t>
            </a:r>
            <a:endParaRPr lang="en-US" sz="2000" dirty="0"/>
          </a:p>
        </p:txBody>
      </p:sp>
      <p:sp>
        <p:nvSpPr>
          <p:cNvPr id="3" name="Text 1"/>
          <p:cNvSpPr/>
          <p:nvPr/>
        </p:nvSpPr>
        <p:spPr>
          <a:xfrm>
            <a:off x="914400" y="2286000"/>
            <a:ext cx="9265615" cy="1554480"/>
          </a:xfrm>
          <a:prstGeom prst="rect">
            <a:avLst/>
          </a:prstGeom>
          <a:noFill/>
          <a:ln/>
        </p:spPr>
        <p:txBody>
          <a:bodyPr wrap="square" lIns="0" tIns="0" rIns="0" bIns="0" rtlCol="0" anchor="t">
            <a:normAutofit/>
          </a:bodyPr>
          <a:lstStyle/>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What this thing</a:t>
            </a:r>
            <a:endParaRPr lang="en-US" sz="5000" dirty="0"/>
          </a:p>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actually is</a:t>
            </a:r>
            <a:endParaRPr lang="en-US" sz="5000" dirty="0"/>
          </a:p>
        </p:txBody>
      </p:sp>
      <p:sp>
        <p:nvSpPr>
          <p:cNvPr id="4" name="Text 2"/>
          <p:cNvSpPr/>
          <p:nvPr/>
        </p:nvSpPr>
        <p:spPr>
          <a:xfrm>
            <a:off x="914400" y="4023360"/>
            <a:ext cx="7985455" cy="914400"/>
          </a:xfrm>
          <a:prstGeom prst="rect">
            <a:avLst/>
          </a:prstGeom>
          <a:noFill/>
          <a:ln/>
        </p:spPr>
        <p:txBody>
          <a:bodyPr wrap="square" lIns="0" tIns="0" rIns="0" bIns="0" rtlCol="0" anchor="t">
            <a:normAutofit/>
          </a:bodyPr>
          <a:lstStyle/>
          <a:p>
            <a:pPr indent="0" marL="0">
              <a:lnSpc>
                <a:spcPts val="2700"/>
              </a:lnSpc>
              <a:buNone/>
            </a:pPr>
            <a:r>
              <a:rPr lang="en-US" sz="1900" dirty="0">
                <a:solidFill>
                  <a:srgbClr val="B7CDE0"/>
                </a:solidFill>
                <a:latin typeface="Calibri" pitchFamily="34" charset="0"/>
                <a:ea typeface="Calibri" pitchFamily="34" charset="-122"/>
                <a:cs typeface="Calibri" pitchFamily="34" charset="-120"/>
              </a:rPr>
              <a:t>A working mental model — enough to predict when it will fail you.</a:t>
            </a:r>
            <a:endParaRPr lang="en-US" sz="1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MECHANISM</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It predicts the next word.</a:t>
            </a:r>
            <a:endParaRPr lang="en-US" sz="4000" dirty="0"/>
          </a:p>
        </p:txBody>
      </p:sp>
      <p:sp>
        <p:nvSpPr>
          <p:cNvPr id="4" name="Text 2"/>
          <p:cNvSpPr/>
          <p:nvPr/>
        </p:nvSpPr>
        <p:spPr>
          <a:xfrm>
            <a:off x="914400" y="2468880"/>
            <a:ext cx="8899855" cy="1234440"/>
          </a:xfrm>
          <a:prstGeom prst="rect">
            <a:avLst/>
          </a:prstGeom>
          <a:noFill/>
          <a:ln/>
        </p:spPr>
        <p:txBody>
          <a:bodyPr wrap="square" lIns="0" tIns="0" rIns="0" bIns="0" rtlCol="0" anchor="t">
            <a:normAutofit/>
          </a:bodyPr>
          <a:lstStyle/>
          <a:p>
            <a:pPr indent="0" marL="0">
              <a:lnSpc>
                <a:spcPts val="2982"/>
              </a:lnSpc>
              <a:buNone/>
            </a:pPr>
            <a:r>
              <a:rPr lang="en-US" sz="2100" dirty="0">
                <a:solidFill>
                  <a:srgbClr val="68737F"/>
                </a:solidFill>
                <a:latin typeface="Calibri" pitchFamily="34" charset="0"/>
                <a:ea typeface="Calibri" pitchFamily="34" charset="-122"/>
                <a:cs typeface="Calibri" pitchFamily="34" charset="-120"/>
              </a:rPr>
              <a:t>That is the whole mechanism. Not retrieval from a database. Not reasoning from known facts. Prediction of the most plausible continuation of your text.</a:t>
            </a:r>
            <a:endParaRPr lang="en-US" sz="2100" dirty="0"/>
          </a:p>
        </p:txBody>
      </p:sp>
      <p:sp>
        <p:nvSpPr>
          <p:cNvPr id="5" name="Text 3"/>
          <p:cNvSpPr/>
          <p:nvPr/>
        </p:nvSpPr>
        <p:spPr>
          <a:xfrm>
            <a:off x="914400" y="4160520"/>
            <a:ext cx="8899855" cy="1097280"/>
          </a:xfrm>
          <a:prstGeom prst="rect">
            <a:avLst/>
          </a:prstGeom>
          <a:noFill/>
          <a:ln/>
        </p:spPr>
        <p:txBody>
          <a:bodyPr wrap="square" lIns="0" tIns="0" rIns="0" bIns="0" rtlCol="0" anchor="t">
            <a:normAutofit/>
          </a:bodyPr>
          <a:lstStyle/>
          <a:p>
            <a:pPr indent="0" marL="0">
              <a:lnSpc>
                <a:spcPts val="3400"/>
              </a:lnSpc>
              <a:buNone/>
            </a:pPr>
            <a:r>
              <a:rPr lang="en-US" sz="2400" b="1" dirty="0">
                <a:solidFill>
                  <a:srgbClr val="003366"/>
                </a:solidFill>
                <a:latin typeface="Poppins" pitchFamily="34" charset="0"/>
                <a:ea typeface="Poppins" pitchFamily="34" charset="-122"/>
                <a:cs typeface="Poppins" pitchFamily="34" charset="-120"/>
              </a:rPr>
              <a:t>A wrong answer and a right answer are produced by exactly the same process — and they arrive looking exactly the same.</a:t>
            </a:r>
            <a:endParaRPr lang="en-US" sz="2400" dirty="0"/>
          </a:p>
        </p:txBody>
      </p:sp>
      <p:sp>
        <p:nvSpPr>
          <p:cNvPr id="30" name="See it in action button" descr="Opens the live demo in a browser">
            <a:hlinkClick r:id="rId3" tooltip="Open the live demo"/>
          </p:cNvPr>
          <p:cNvSpPr/>
          <p:nvPr/>
        </p:nvSpPr>
        <p:spPr>
          <a:xfrm>
            <a:off x="8580135" y="5394960"/>
            <a:ext cx="2697160" cy="548640"/>
          </a:xfrm>
          <a:prstGeom prst="roundRect">
            <a:avLst>
              <a:gd name="adj" fmla="val 50000"/>
            </a:avLst>
          </a:prstGeom>
          <a:solidFill>
            <a:srgbClr val="FF6600"/>
          </a:solidFill>
          <a:ln>
            <a:noFill/>
          </a:ln>
          <a:effectLst>
            <a:outerShdw blurRad="152400" dist="38100" dir="5400000" algn="t" rotWithShape="0">
              <a:srgbClr val="FF6600">
                <a:alpha val="35000"/>
              </a:srgbClr>
            </a:outerShdw>
          </a:effectLst>
        </p:spPr>
        <p:txBody>
          <a:bodyPr wrap="none" lIns="182880" tIns="0" rIns="182880" bIns="0" rtlCol="0" anchor="ctr">
            <a:noAutofit/>
          </a:bodyPr>
          <a:lstStyle/>
          <a:p>
            <a:pPr algn="ctr" indent="0" marL="0">
              <a:buNone/>
            </a:pPr>
            <a:r>
              <a:rPr lang="en-US" sz="1600" b="1" dirty="0">
                <a:solidFill>
                  <a:srgbClr val="FFFFFF"/>
                </a:solidFill>
                <a:latin typeface="Poppins" pitchFamily="34" charset="0"/>
                <a:ea typeface="Poppins" pitchFamily="34" charset="-122"/>
                <a:cs typeface="Poppins" pitchFamily="34" charset="-120"/>
              </a:rPr>
              <a:t>See it in action  →</a:t>
            </a:r>
          </a:p>
        </p:txBody>
      </p:sp>
      <p:sp>
        <p:nvSpPr>
          <p:cNvPr id="31" name="See it in action caption"/>
          <p:cNvSpPr txBox="1"/>
          <p:nvPr/>
        </p:nvSpPr>
        <p:spPr>
          <a:xfrm>
            <a:off x="7666335" y="5029200"/>
            <a:ext cx="3610960" cy="274320"/>
          </a:xfrm>
          <a:prstGeom prst="rect">
            <a:avLst/>
          </a:prstGeom>
          <a:noFill/>
        </p:spPr>
        <p:txBody>
          <a:bodyPr wrap="square" lIns="0" tIns="0" rIns="0" bIns="0" rtlCol="0" anchor="b">
            <a:noAutofit/>
          </a:bodyPr>
          <a:lstStyle/>
          <a:p>
            <a:pPr algn="r" indent="0" marL="0">
              <a:buNone/>
            </a:pPr>
            <a:r>
              <a:rPr lang="en-US" sz="1100" dirty="0">
                <a:solidFill>
                  <a:srgbClr val="8A939E"/>
                </a:solidFill>
                <a:latin typeface="Calibri" pitchFamily="34" charset="0"/>
              </a:rPr>
              <a:t>Watch it happen, one word at a time</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THE KEY IDEA</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1FB3CC"/>
                </a:solidFill>
                <a:latin typeface="Poppins" pitchFamily="34" charset="0"/>
                <a:ea typeface="Poppins" pitchFamily="34" charset="-122"/>
                <a:cs typeface="Poppins" pitchFamily="34" charset="-120"/>
              </a:rPr>
              <a:t>Sounding right</a:t>
            </a:r>
            <a:r>
              <a:rPr lang="en-US" sz="4000" b="1" dirty="0">
                <a:solidFill>
                  <a:srgbClr val="FFFFFF"/>
                </a:solidFill>
                <a:latin typeface="Poppins" pitchFamily="34" charset="0"/>
                <a:ea typeface="Poppins" pitchFamily="34" charset="-122"/>
                <a:cs typeface="Poppins" pitchFamily="34" charset="-120"/>
              </a:rPr>
              <a:t xml:space="preserve"> and </a:t>
            </a:r>
            <a:r>
              <a:rPr lang="en-US" sz="4000" b="1" dirty="0">
                <a:solidFill>
                  <a:srgbClr val="5BD49A"/>
                </a:solidFill>
                <a:latin typeface="Poppins" pitchFamily="34" charset="0"/>
                <a:ea typeface="Poppins" pitchFamily="34" charset="-122"/>
                <a:cs typeface="Poppins" pitchFamily="34" charset="-120"/>
              </a:rPr>
              <a:t>being right</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are two different things.</a:t>
            </a:r>
            <a:endParaRPr lang="en-US" sz="4000" dirty="0"/>
          </a:p>
        </p:txBody>
      </p:sp>
      <p:sp>
        <p:nvSpPr>
          <p:cNvPr id="4" name="Text 2"/>
          <p:cNvSpPr/>
          <p:nvPr/>
        </p:nvSpPr>
        <p:spPr>
          <a:xfrm>
            <a:off x="914400" y="2926080"/>
            <a:ext cx="10362895" cy="457200"/>
          </a:xfrm>
          <a:prstGeom prst="rect">
            <a:avLst/>
          </a:prstGeom>
          <a:noFill/>
          <a:ln/>
        </p:spPr>
        <p:txBody>
          <a:bodyPr wrap="square" lIns="0" tIns="0" rIns="0" bIns="0" rtlCol="0" anchor="ctr">
            <a:normAutofit/>
          </a:bodyPr>
          <a:lstStyle/>
          <a:p>
            <a:pPr indent="0" marL="0">
              <a:buNone/>
            </a:pPr>
            <a:r>
              <a:rPr lang="en-US" sz="2200" b="1" dirty="0">
                <a:solidFill>
                  <a:srgbClr val="FF6600"/>
                </a:solidFill>
                <a:latin typeface="Calibri" pitchFamily="34" charset="0"/>
                <a:ea typeface="Calibri" pitchFamily="34" charset="-122"/>
                <a:cs typeface="Calibri" pitchFamily="34" charset="-120"/>
              </a:rPr>
              <a:t>The AI always sounds right. Whether it is right, you have to check.</a:t>
            </a:r>
            <a:endParaRPr lang="en-US" sz="2400" dirty="0"/>
          </a:p>
        </p:txBody>
      </p:sp>
      <p:sp>
        <p:nvSpPr>
          <p:cNvPr id="5" name="Text 3"/>
          <p:cNvSpPr/>
          <p:nvPr/>
        </p:nvSpPr>
        <p:spPr>
          <a:xfrm>
            <a:off x="914400" y="3657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008DA7"/>
                </a:solidFill>
                <a:latin typeface="Calibri" pitchFamily="34" charset="0"/>
                <a:ea typeface="Calibri" pitchFamily="34" charset="-122"/>
                <a:cs typeface="Calibri" pitchFamily="34" charset="-120"/>
              </a:rPr>
              <a:t>HOW YOU DECIDE TO TRUST A PERSON</a:t>
            </a:r>
            <a:endParaRPr lang="en-US" sz="1050" dirty="0"/>
          </a:p>
        </p:txBody>
      </p:sp>
      <p:sp>
        <p:nvSpPr>
          <p:cNvPr id="6" name="Text 4"/>
          <p:cNvSpPr/>
          <p:nvPr/>
        </p:nvSpPr>
        <p:spPr>
          <a:xfrm>
            <a:off x="914400" y="4059936"/>
            <a:ext cx="4747108" cy="1517904"/>
          </a:xfrm>
          <a:prstGeom prst="rect">
            <a:avLst/>
          </a:prstGeom>
          <a:noFill/>
          <a:ln/>
        </p:spPr>
        <p:txBody>
          <a:bodyPr wrap="square" lIns="0" tIns="0" rIns="0" bIns="0" rtlCol="0" anchor="t">
            <a:normAutofit/>
          </a:bodyPr>
          <a:lstStyle/>
          <a:p>
            <a:pPr indent="0" marL="0">
              <a:lnSpc>
                <a:spcPts val="2400"/>
              </a:lnSpc>
              <a:buNone/>
            </a:pPr>
            <a:r>
              <a:rPr lang="en-US" sz="1600" dirty="0">
                <a:solidFill>
                  <a:srgbClr val="A7B7C9"/>
                </a:solidFill>
                <a:latin typeface="Calibri" pitchFamily="34" charset="0"/>
                <a:ea typeface="Calibri" pitchFamily="34" charset="-122"/>
                <a:cs typeface="Calibri" pitchFamily="34" charset="-120"/>
              </a:rPr>
              <a:t>Sounds sure of itself. Smooth, complete sentences. Specific names, dates and numbers. The right work words. Names a source. Answers right away.</a:t>
            </a:r>
            <a:endParaRPr lang="en-US" sz="1600" dirty="0"/>
          </a:p>
        </p:txBody>
      </p:sp>
      <p:sp>
        <p:nvSpPr>
          <p:cNvPr id="7" name="Text 5"/>
          <p:cNvSpPr/>
          <p:nvPr/>
        </p:nvSpPr>
        <p:spPr>
          <a:xfrm>
            <a:off x="6347308" y="3657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FF6600"/>
                </a:solidFill>
                <a:latin typeface="Calibri" pitchFamily="34" charset="0"/>
                <a:ea typeface="Calibri" pitchFamily="34" charset="-122"/>
                <a:cs typeface="Calibri" pitchFamily="34" charset="-120"/>
              </a:rPr>
              <a:t>WHAT THE AI IS BUILT TO PRODUCE</a:t>
            </a:r>
            <a:endParaRPr lang="en-US" sz="1050" dirty="0"/>
          </a:p>
        </p:txBody>
      </p:sp>
      <p:sp>
        <p:nvSpPr>
          <p:cNvPr id="8" name="Text 6"/>
          <p:cNvSpPr/>
          <p:nvPr/>
        </p:nvSpPr>
        <p:spPr>
          <a:xfrm>
            <a:off x="6347308" y="4059936"/>
            <a:ext cx="4747108" cy="1517904"/>
          </a:xfrm>
          <a:prstGeom prst="rect">
            <a:avLst/>
          </a:prstGeom>
          <a:noFill/>
          <a:ln/>
        </p:spPr>
        <p:txBody>
          <a:bodyPr wrap="square" lIns="0" tIns="0" rIns="0" bIns="0" rtlCol="0" anchor="t">
            <a:normAutofit/>
          </a:bodyPr>
          <a:lstStyle/>
          <a:p>
            <a:pPr indent="0" marL="0">
              <a:lnSpc>
                <a:spcPts val="2400"/>
              </a:lnSpc>
              <a:buNone/>
            </a:pPr>
            <a:r>
              <a:rPr lang="en-US" sz="1600" dirty="0">
                <a:solidFill>
                  <a:srgbClr val="A7B7C9"/>
                </a:solidFill>
                <a:latin typeface="Calibri" pitchFamily="34" charset="0"/>
                <a:ea typeface="Calibri" pitchFamily="34" charset="-122"/>
                <a:cs typeface="Calibri" pitchFamily="34" charset="-120"/>
              </a:rPr>
              <a:t>Sounds sure of itself. Smooth, complete sentences. Specific names, dates and numbers. The right work words. Names a source. Answers right away.</a:t>
            </a:r>
            <a:endParaRPr lang="en-US" sz="1600" dirty="0"/>
          </a:p>
        </p:txBody>
      </p:sp>
      <p:sp>
        <p:nvSpPr>
          <p:cNvPr id="40" name="Plain-language glossary"/>
          <p:cNvSpPr txBox="1"/>
          <p:nvPr/>
        </p:nvSpPr>
        <p:spPr>
          <a:xfrm>
            <a:off x="914400" y="2468880"/>
            <a:ext cx="10362895" cy="320040"/>
          </a:xfrm>
          <a:prstGeom prst="rect">
            <a:avLst/>
          </a:prstGeom>
          <a:noFill/>
        </p:spPr>
        <p:txBody>
          <a:bodyPr wrap="square" lIns="0" tIns="0" rIns="0" bIns="0" rtlCol="0" anchor="ctr">
            <a:noAutofit/>
          </a:bodyPr>
          <a:lstStyle/>
          <a:p>
            <a:pPr indent="0" marL="0">
              <a:buNone/>
            </a:pPr>
            <a:r>
              <a:rPr lang="en-US" sz="1400" b="1" dirty="0">
                <a:solidFill>
                  <a:srgbClr val="FFFFFF"/>
                </a:solidFill>
                <a:latin typeface="Calibri" pitchFamily="34" charset="0"/>
                <a:ea typeface="Calibri" pitchFamily="34" charset="-122"/>
                <a:cs typeface="Calibri" pitchFamily="34" charset="-120"/>
              </a:rPr>
              <a:t>Fluency</a:t>
            </a:r>
            <a:r>
              <a:rPr lang="en-US" sz="1400" dirty="0">
                <a:solidFill>
                  <a:srgbClr val="9FB0C3"/>
                </a:solidFill>
                <a:latin typeface="Calibri" pitchFamily="34" charset="0"/>
                <a:ea typeface="Calibri" pitchFamily="34" charset="-122"/>
                <a:cs typeface="Calibri" pitchFamily="34" charset="-120"/>
              </a:rPr>
              <a:t xml:space="preserve"> = how it sounds      </a:t>
            </a:r>
            <a:r>
              <a:rPr lang="en-US" sz="1400" b="1" dirty="0">
                <a:solidFill>
                  <a:srgbClr val="FFFFFF"/>
                </a:solidFill>
                <a:latin typeface="Calibri" pitchFamily="34" charset="0"/>
                <a:ea typeface="Calibri" pitchFamily="34" charset="-122"/>
                <a:cs typeface="Calibri" pitchFamily="34" charset="-120"/>
              </a:rPr>
              <a:t>Accuracy</a:t>
            </a:r>
            <a:r>
              <a:rPr lang="en-US" sz="1400" dirty="0">
                <a:solidFill>
                  <a:srgbClr val="9FB0C3"/>
                </a:solidFill>
                <a:latin typeface="Calibri" pitchFamily="34" charset="0"/>
                <a:ea typeface="Calibri" pitchFamily="34" charset="-122"/>
                <a:cs typeface="Calibri" pitchFamily="34" charset="-120"/>
              </a:rPr>
              <a:t xml:space="preserve"> = whether it's true</a:t>
            </a:r>
          </a:p>
        </p:txBody>
      </p:sp>
      <p:sp>
        <p:nvSpPr>
          <p:cNvPr id="41" name="See it in action button" descr="Opens the live demo in a browser">
            <a:hlinkClick r:id="rId3" tooltip="Open the live demo"/>
          </p:cNvPr>
          <p:cNvSpPr/>
          <p:nvPr/>
        </p:nvSpPr>
        <p:spPr>
          <a:xfrm>
            <a:off x="8580135" y="5669280"/>
            <a:ext cx="2697160" cy="502920"/>
          </a:xfrm>
          <a:prstGeom prst="roundRect">
            <a:avLst>
              <a:gd name="adj" fmla="val 50000"/>
            </a:avLst>
          </a:prstGeom>
          <a:solidFill>
            <a:srgbClr val="FF6600"/>
          </a:solidFill>
          <a:ln>
            <a:noFill/>
          </a:ln>
        </p:spPr>
        <p:txBody>
          <a:bodyPr wrap="none" lIns="182880" tIns="0" rIns="182880" bIns="0" rtlCol="0" anchor="ctr">
            <a:noAutofit/>
          </a:bodyPr>
          <a:lstStyle/>
          <a:p>
            <a:pPr algn="ctr" indent="0" marL="0">
              <a:buNone/>
            </a:pPr>
            <a:r>
              <a:rPr lang="en-US" sz="1600" b="1" dirty="0">
                <a:solidFill>
                  <a:srgbClr val="FFFFFF"/>
                </a:solidFill>
                <a:latin typeface="Poppins" pitchFamily="34" charset="0"/>
                <a:ea typeface="Poppins" pitchFamily="34" charset="-122"/>
                <a:cs typeface="Poppins" pitchFamily="34" charset="-120"/>
              </a:rPr>
              <a:t>See it in action  →</a:t>
            </a:r>
          </a:p>
        </p:txBody>
      </p:sp>
      <p:sp>
        <p:nvSpPr>
          <p:cNvPr id="42" name="See it in action caption"/>
          <p:cNvSpPr txBox="1"/>
          <p:nvPr/>
        </p:nvSpPr>
        <p:spPr>
          <a:xfrm>
            <a:off x="4937760" y="5669280"/>
            <a:ext cx="3459480" cy="502920"/>
          </a:xfrm>
          <a:prstGeom prst="rect">
            <a:avLst/>
          </a:prstGeom>
          <a:noFill/>
        </p:spPr>
        <p:txBody>
          <a:bodyPr wrap="square" lIns="0" tIns="0" rIns="0" bIns="0" rtlCol="0" anchor="ctr">
            <a:noAutofit/>
          </a:bodyPr>
          <a:lstStyle/>
          <a:p>
            <a:pPr algn="r" indent="0" marL="0">
              <a:buNone/>
            </a:pPr>
            <a:r>
              <a:rPr lang="en-US" sz="1100" dirty="0">
                <a:solidFill>
                  <a:srgbClr val="8A9BB0"/>
                </a:solidFill>
                <a:latin typeface="Calibri" pitchFamily="34" charset="0"/>
                <a:ea typeface="Calibri" pitchFamily="34" charset="-122"/>
                <a:cs typeface="Calibri" pitchFamily="34" charset="-120"/>
              </a:rPr>
              <a:t>Four quick steps · about 5 minutes</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914400" y="1737360"/>
            <a:ext cx="9814255" cy="2090928"/>
          </a:xfrm>
          <a:prstGeom prst="rect">
            <a:avLst/>
          </a:prstGeom>
          <a:noFill/>
          <a:ln/>
        </p:spPr>
        <p:txBody>
          <a:bodyPr wrap="square" lIns="0" tIns="0" rIns="0" bIns="0" rtlCol="0" anchor="t">
            <a:normAutofit/>
          </a:bodyPr>
          <a:lstStyle/>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Our error detection was</a:t>
            </a:r>
            <a:endParaRPr lang="en-US" sz="4400" dirty="0"/>
          </a:p>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trained on humans.</a:t>
            </a:r>
            <a:endParaRPr lang="en-US" sz="4400" dirty="0"/>
          </a:p>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It does not transfer.</a:t>
            </a:r>
            <a:endParaRPr lang="en-US" sz="4400" dirty="0"/>
          </a:p>
        </p:txBody>
      </p:sp>
      <p:sp>
        <p:nvSpPr>
          <p:cNvPr id="3" name="Text 1"/>
          <p:cNvSpPr/>
          <p:nvPr/>
        </p:nvSpPr>
        <p:spPr>
          <a:xfrm>
            <a:off x="914400" y="4139184"/>
            <a:ext cx="8716975" cy="1850136"/>
          </a:xfrm>
          <a:prstGeom prst="rect">
            <a:avLst/>
          </a:prstGeom>
          <a:noFill/>
          <a:ln/>
        </p:spPr>
        <p:txBody>
          <a:bodyPr wrap="square" lIns="0" tIns="0" rIns="0" bIns="0" rtlCol="0" anchor="t">
            <a:normAutofit/>
          </a:bodyPr>
          <a:lstStyle/>
          <a:p>
            <a:pPr indent="0" marL="0">
              <a:lnSpc>
                <a:spcPts val="3000"/>
              </a:lnSpc>
              <a:buNone/>
            </a:pPr>
            <a:r>
              <a:rPr lang="en-US" sz="2000" dirty="0">
                <a:solidFill>
                  <a:srgbClr val="A7B7C9"/>
                </a:solidFill>
                <a:latin typeface="Calibri" pitchFamily="34" charset="0"/>
                <a:ea typeface="Calibri" pitchFamily="34" charset="-122"/>
                <a:cs typeface="Calibri" pitchFamily="34" charset="-120"/>
              </a:rPr>
              <a:t>A fabricated citation looks more like a real citation than most real citations do.</a:t>
            </a:r>
            <a:endParaRPr lang="en-US" sz="20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A COMMON MOVE THAT FAILS</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"Please be accurate"</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does not work.</a:t>
            </a:r>
            <a:endParaRPr lang="en-US" sz="4000" dirty="0"/>
          </a:p>
        </p:txBody>
      </p:sp>
      <p:sp>
        <p:nvSpPr>
          <p:cNvPr id="4" name="Text 2"/>
          <p:cNvSpPr/>
          <p:nvPr/>
        </p:nvSpPr>
        <p:spPr>
          <a:xfrm>
            <a:off x="914400" y="2514600"/>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a:t>
            </a:r>
            <a:endParaRPr lang="en-US" sz="2000" dirty="0"/>
          </a:p>
        </p:txBody>
      </p:sp>
      <p:sp>
        <p:nvSpPr>
          <p:cNvPr id="5" name="Text 3"/>
          <p:cNvSpPr/>
          <p:nvPr/>
        </p:nvSpPr>
        <p:spPr>
          <a:xfrm>
            <a:off x="1737360" y="2487168"/>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"Only use real sources."</a:t>
            </a:r>
            <a:endParaRPr lang="en-US" sz="1900" dirty="0"/>
          </a:p>
        </p:txBody>
      </p:sp>
      <p:sp>
        <p:nvSpPr>
          <p:cNvPr id="6" name="Text 4"/>
          <p:cNvSpPr/>
          <p:nvPr/>
        </p:nvSpPr>
        <p:spPr>
          <a:xfrm>
            <a:off x="1737360" y="2822448"/>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Changes the style of the citations, not whether they exist.</a:t>
            </a:r>
            <a:endParaRPr lang="en-US" sz="1500" dirty="0"/>
          </a:p>
        </p:txBody>
      </p:sp>
      <p:sp>
        <p:nvSpPr>
          <p:cNvPr id="7" name="Text 5"/>
          <p:cNvSpPr/>
          <p:nvPr/>
        </p:nvSpPr>
        <p:spPr>
          <a:xfrm>
            <a:off x="914400" y="3481324"/>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737360" y="3453892"/>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"Say I don't know if you don't know."</a:t>
            </a:r>
            <a:endParaRPr lang="en-US" sz="1900" dirty="0"/>
          </a:p>
        </p:txBody>
      </p:sp>
      <p:sp>
        <p:nvSpPr>
          <p:cNvPr id="9" name="Text 7"/>
          <p:cNvSpPr/>
          <p:nvPr/>
        </p:nvSpPr>
        <p:spPr>
          <a:xfrm>
            <a:off x="1737360" y="3789172"/>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Changes how often it hedges. It cannot know what it does not know.</a:t>
            </a:r>
            <a:endParaRPr lang="en-US" sz="1500" dirty="0"/>
          </a:p>
        </p:txBody>
      </p:sp>
      <p:sp>
        <p:nvSpPr>
          <p:cNvPr id="10" name="Text 8"/>
          <p:cNvSpPr/>
          <p:nvPr/>
        </p:nvSpPr>
        <p:spPr>
          <a:xfrm>
            <a:off x="914400" y="4448048"/>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a:t>
            </a:r>
            <a:endParaRPr lang="en-US" sz="2000" dirty="0"/>
          </a:p>
        </p:txBody>
      </p:sp>
      <p:sp>
        <p:nvSpPr>
          <p:cNvPr id="11" name="Text 9"/>
          <p:cNvSpPr/>
          <p:nvPr/>
        </p:nvSpPr>
        <p:spPr>
          <a:xfrm>
            <a:off x="1737360" y="4420616"/>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"Be accurate. This is important."</a:t>
            </a:r>
            <a:endParaRPr lang="en-US" sz="1900" dirty="0"/>
          </a:p>
        </p:txBody>
      </p:sp>
      <p:sp>
        <p:nvSpPr>
          <p:cNvPr id="12" name="Text 10"/>
          <p:cNvSpPr/>
          <p:nvPr/>
        </p:nvSpPr>
        <p:spPr>
          <a:xfrm>
            <a:off x="1737360" y="4755896"/>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Changes the tone. There is no accuracy setting behind it.</a:t>
            </a:r>
            <a:endParaRPr lang="en-US" sz="1500" dirty="0"/>
          </a:p>
        </p:txBody>
      </p:sp>
      <p:sp>
        <p:nvSpPr>
          <p:cNvPr id="13" name="Text 11"/>
          <p:cNvSpPr/>
          <p:nvPr/>
        </p:nvSpPr>
        <p:spPr>
          <a:xfrm>
            <a:off x="914400" y="5414772"/>
            <a:ext cx="713232" cy="384048"/>
          </a:xfrm>
          <a:prstGeom prst="rect">
            <a:avLst/>
          </a:prstGeom>
          <a:noFill/>
          <a:ln/>
        </p:spPr>
        <p:txBody>
          <a:bodyPr wrap="square" lIns="0" tIns="0" rIns="0" bIns="0" rtlCol="0" anchor="ctr">
            <a:normAutofit/>
          </a:bodyPr>
          <a:lstStyle/>
          <a:p>
            <a:pPr indent="0" marL="0">
              <a:buNone/>
            </a:pPr>
            <a:r>
              <a:rPr lang="en-US" sz="2000" b="1" dirty="0">
                <a:solidFill>
                  <a:srgbClr val="1A7F4B"/>
                </a:solidFill>
                <a:latin typeface="Poppins" pitchFamily="34" charset="0"/>
                <a:ea typeface="Poppins" pitchFamily="34" charset="-122"/>
                <a:cs typeface="Poppins" pitchFamily="34" charset="-120"/>
              </a:rPr>
              <a:t>✓</a:t>
            </a:r>
            <a:endParaRPr lang="en-US" sz="2000" dirty="0"/>
          </a:p>
        </p:txBody>
      </p:sp>
      <p:sp>
        <p:nvSpPr>
          <p:cNvPr id="14" name="Text 12"/>
          <p:cNvSpPr/>
          <p:nvPr/>
        </p:nvSpPr>
        <p:spPr>
          <a:xfrm>
            <a:off x="1737360" y="5387340"/>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Give it the document. Then check the output.</a:t>
            </a:r>
            <a:endParaRPr lang="en-US" sz="1900" dirty="0"/>
          </a:p>
        </p:txBody>
      </p:sp>
      <p:sp>
        <p:nvSpPr>
          <p:cNvPr id="15" name="Text 13"/>
          <p:cNvSpPr/>
          <p:nvPr/>
        </p:nvSpPr>
        <p:spPr>
          <a:xfrm>
            <a:off x="1737360" y="5722620"/>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Grounding plus your verification. That is where accuracy comes from.</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HOW TO PREDICT TROUBLE</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The shape of the task</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tells you the risk.</a:t>
            </a:r>
            <a:endParaRPr lang="en-US" sz="4000" dirty="0"/>
          </a:p>
        </p:txBody>
      </p:sp>
      <p:sp>
        <p:nvSpPr>
          <p:cNvPr id="4" name="Text 2"/>
          <p:cNvSpPr/>
          <p:nvPr/>
        </p:nvSpPr>
        <p:spPr>
          <a:xfrm>
            <a:off x="914400" y="288036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1A7F4B"/>
                </a:solidFill>
                <a:latin typeface="Calibri" pitchFamily="34" charset="0"/>
                <a:ea typeface="Calibri" pitchFamily="34" charset="-122"/>
                <a:cs typeface="Calibri" pitchFamily="34" charset="-120"/>
              </a:rPr>
              <a:t>LOW RISK</a:t>
            </a:r>
            <a:endParaRPr lang="en-US" sz="1050" dirty="0"/>
          </a:p>
        </p:txBody>
      </p:sp>
      <p:sp>
        <p:nvSpPr>
          <p:cNvPr id="5" name="Text 3"/>
          <p:cNvSpPr/>
          <p:nvPr/>
        </p:nvSpPr>
        <p:spPr>
          <a:xfrm>
            <a:off x="914400" y="3282696"/>
            <a:ext cx="3119018" cy="985266"/>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You have the facts.</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AI shapes them.</a:t>
            </a:r>
            <a:endParaRPr lang="en-US" sz="1900" dirty="0"/>
          </a:p>
        </p:txBody>
      </p:sp>
      <p:sp>
        <p:nvSpPr>
          <p:cNvPr id="6" name="Text 4"/>
          <p:cNvSpPr/>
          <p:nvPr/>
        </p:nvSpPr>
        <p:spPr>
          <a:xfrm>
            <a:off x="914400" y="4469130"/>
            <a:ext cx="3119018" cy="147447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Rewrite this email. Turn these notes into an outline.</a:t>
            </a:r>
            <a:endParaRPr lang="en-US" sz="1500" dirty="0"/>
          </a:p>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Verify tone and completeness.</a:t>
            </a:r>
            <a:endParaRPr lang="en-US" sz="1500" dirty="0"/>
          </a:p>
        </p:txBody>
      </p:sp>
      <p:sp>
        <p:nvSpPr>
          <p:cNvPr id="7" name="Text 5"/>
          <p:cNvSpPr/>
          <p:nvPr/>
        </p:nvSpPr>
        <p:spPr>
          <a:xfrm>
            <a:off x="4536338" y="288036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B34A00"/>
                </a:solidFill>
                <a:latin typeface="Calibri" pitchFamily="34" charset="0"/>
                <a:ea typeface="Calibri" pitchFamily="34" charset="-122"/>
                <a:cs typeface="Calibri" pitchFamily="34" charset="-120"/>
              </a:rPr>
              <a:t>MEDIUM RISK</a:t>
            </a:r>
            <a:endParaRPr lang="en-US" sz="1050" dirty="0"/>
          </a:p>
        </p:txBody>
      </p:sp>
      <p:sp>
        <p:nvSpPr>
          <p:cNvPr id="8" name="Text 6"/>
          <p:cNvSpPr/>
          <p:nvPr/>
        </p:nvSpPr>
        <p:spPr>
          <a:xfrm>
            <a:off x="4536338" y="3282696"/>
            <a:ext cx="3119018" cy="985266"/>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You supply the source.</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AI processes it.</a:t>
            </a:r>
            <a:endParaRPr lang="en-US" sz="1900" dirty="0"/>
          </a:p>
        </p:txBody>
      </p:sp>
      <p:sp>
        <p:nvSpPr>
          <p:cNvPr id="9" name="Text 7"/>
          <p:cNvSpPr/>
          <p:nvPr/>
        </p:nvSpPr>
        <p:spPr>
          <a:xfrm>
            <a:off x="4536338" y="4469130"/>
            <a:ext cx="3119018" cy="147447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Summarize this document. Pull out the deadlines.</a:t>
            </a:r>
            <a:endParaRPr lang="en-US" sz="1500" dirty="0"/>
          </a:p>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Verify against the source, every time.</a:t>
            </a:r>
            <a:endParaRPr lang="en-US" sz="1500" dirty="0"/>
          </a:p>
        </p:txBody>
      </p:sp>
      <p:sp>
        <p:nvSpPr>
          <p:cNvPr id="10" name="Text 8"/>
          <p:cNvSpPr/>
          <p:nvPr/>
        </p:nvSpPr>
        <p:spPr>
          <a:xfrm>
            <a:off x="8158277" y="288036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HIGH RISK</a:t>
            </a:r>
            <a:endParaRPr lang="en-US" sz="1050" dirty="0"/>
          </a:p>
        </p:txBody>
      </p:sp>
      <p:sp>
        <p:nvSpPr>
          <p:cNvPr id="11" name="Text 9"/>
          <p:cNvSpPr/>
          <p:nvPr/>
        </p:nvSpPr>
        <p:spPr>
          <a:xfrm>
            <a:off x="8158277" y="3282696"/>
            <a:ext cx="3119018" cy="985266"/>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You are asking AI</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to supply the facts.</a:t>
            </a:r>
            <a:endParaRPr lang="en-US" sz="1900" dirty="0"/>
          </a:p>
        </p:txBody>
      </p:sp>
      <p:sp>
        <p:nvSpPr>
          <p:cNvPr id="12" name="Text 10"/>
          <p:cNvSpPr/>
          <p:nvPr/>
        </p:nvSpPr>
        <p:spPr>
          <a:xfrm>
            <a:off x="8158277" y="4469130"/>
            <a:ext cx="3119018" cy="147447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What is our policy on X? When is the deadline for Y?</a:t>
            </a:r>
            <a:endParaRPr lang="en-US" sz="1500" dirty="0"/>
          </a:p>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Verify everything — or do not ask.</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914400" y="1828800"/>
            <a:ext cx="9814255" cy="1442720"/>
          </a:xfrm>
          <a:prstGeom prst="rect">
            <a:avLst/>
          </a:prstGeom>
          <a:noFill/>
          <a:ln/>
        </p:spPr>
        <p:txBody>
          <a:bodyPr wrap="square" lIns="0" tIns="0" rIns="0" bIns="0" rtlCol="0" anchor="t">
            <a:normAutofit/>
          </a:bodyPr>
          <a:lstStyle/>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The question is never</a:t>
            </a:r>
            <a:endParaRPr lang="en-US" sz="4400" dirty="0"/>
          </a:p>
          <a:p>
            <a:pPr indent="0" marL="0">
              <a:lnSpc>
                <a:spcPts val="5104"/>
              </a:lnSpc>
              <a:buNone/>
            </a:pPr>
            <a:r>
              <a:rPr lang="en-US" sz="4400" b="1" dirty="0">
                <a:solidFill>
                  <a:srgbClr val="FFFFFF"/>
                </a:solidFill>
                <a:latin typeface="Poppins" pitchFamily="34" charset="0"/>
                <a:ea typeface="Poppins" pitchFamily="34" charset="-122"/>
                <a:cs typeface="Poppins" pitchFamily="34" charset="-120"/>
              </a:rPr>
              <a:t>"is AI accurate."</a:t>
            </a:r>
            <a:endParaRPr lang="en-US" sz="4400" dirty="0"/>
          </a:p>
        </p:txBody>
      </p:sp>
      <p:sp>
        <p:nvSpPr>
          <p:cNvPr id="3" name="Text 1"/>
          <p:cNvSpPr/>
          <p:nvPr/>
        </p:nvSpPr>
        <p:spPr>
          <a:xfrm>
            <a:off x="914400" y="3582416"/>
            <a:ext cx="8716975" cy="2406904"/>
          </a:xfrm>
          <a:prstGeom prst="rect">
            <a:avLst/>
          </a:prstGeom>
          <a:noFill/>
          <a:ln/>
        </p:spPr>
        <p:txBody>
          <a:bodyPr wrap="square" lIns="0" tIns="0" rIns="0" bIns="0" rtlCol="0" anchor="t">
            <a:normAutofit/>
          </a:bodyPr>
          <a:lstStyle/>
          <a:p>
            <a:pPr indent="0" marL="0">
              <a:lnSpc>
                <a:spcPts val="3000"/>
              </a:lnSpc>
              <a:buNone/>
            </a:pPr>
            <a:r>
              <a:rPr lang="en-US" sz="2000" dirty="0">
                <a:solidFill>
                  <a:srgbClr val="A7B7C9"/>
                </a:solidFill>
                <a:latin typeface="Calibri" pitchFamily="34" charset="0"/>
                <a:ea typeface="Calibri" pitchFamily="34" charset="-122"/>
                <a:cs typeface="Calibri" pitchFamily="34" charset="-120"/>
              </a:rPr>
              <a:t>It is: am I asking it to shape information I already have, or to invent information I do not?</a:t>
            </a:r>
            <a:endParaRPr lang="en-US" sz="20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YOUR TAKEAWAY FROM SESSION ONE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The three-question check.</a:t>
            </a:r>
            <a:endParaRPr lang="en-US" sz="4000" dirty="0"/>
          </a:p>
        </p:txBody>
      </p:sp>
      <p:sp>
        <p:nvSpPr>
          <p:cNvPr id="4" name="Text 2"/>
          <p:cNvSpPr/>
          <p:nvPr/>
        </p:nvSpPr>
        <p:spPr>
          <a:xfrm>
            <a:off x="914400" y="2606040"/>
            <a:ext cx="3119018"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01</a:t>
            </a:r>
            <a:endParaRPr lang="en-US" sz="3400" dirty="0"/>
          </a:p>
        </p:txBody>
      </p:sp>
      <p:sp>
        <p:nvSpPr>
          <p:cNvPr id="5" name="Text 3"/>
          <p:cNvSpPr/>
          <p:nvPr/>
        </p:nvSpPr>
        <p:spPr>
          <a:xfrm>
            <a:off x="914400" y="3319272"/>
            <a:ext cx="3119018" cy="745236"/>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What would make</a:t>
            </a:r>
            <a:endParaRPr lang="en-US" sz="2100" dirty="0"/>
          </a:p>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this wrong?</a:t>
            </a:r>
            <a:endParaRPr lang="en-US" sz="2100" dirty="0"/>
          </a:p>
        </p:txBody>
      </p:sp>
      <p:sp>
        <p:nvSpPr>
          <p:cNvPr id="6" name="Text 4"/>
          <p:cNvSpPr/>
          <p:nvPr/>
        </p:nvSpPr>
        <p:spPr>
          <a:xfrm>
            <a:off x="914400" y="4265676"/>
            <a:ext cx="3119018" cy="15864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Name the failure mode before you go looking. Predicting the error is how you find it.</a:t>
            </a:r>
            <a:endParaRPr lang="en-US" sz="1500" dirty="0"/>
          </a:p>
        </p:txBody>
      </p:sp>
      <p:sp>
        <p:nvSpPr>
          <p:cNvPr id="7" name="Text 5"/>
          <p:cNvSpPr/>
          <p:nvPr/>
        </p:nvSpPr>
        <p:spPr>
          <a:xfrm>
            <a:off x="4536338" y="2606040"/>
            <a:ext cx="3119018"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02</a:t>
            </a:r>
            <a:endParaRPr lang="en-US" sz="3400" dirty="0"/>
          </a:p>
        </p:txBody>
      </p:sp>
      <p:sp>
        <p:nvSpPr>
          <p:cNvPr id="8" name="Text 6"/>
          <p:cNvSpPr/>
          <p:nvPr/>
        </p:nvSpPr>
        <p:spPr>
          <a:xfrm>
            <a:off x="4536338" y="3319272"/>
            <a:ext cx="3119018" cy="745236"/>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Where did this</a:t>
            </a:r>
            <a:endParaRPr lang="en-US" sz="2100" dirty="0"/>
          </a:p>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come from?</a:t>
            </a:r>
            <a:endParaRPr lang="en-US" sz="2100" dirty="0"/>
          </a:p>
        </p:txBody>
      </p:sp>
      <p:sp>
        <p:nvSpPr>
          <p:cNvPr id="9" name="Text 7"/>
          <p:cNvSpPr/>
          <p:nvPr/>
        </p:nvSpPr>
        <p:spPr>
          <a:xfrm>
            <a:off x="4536338" y="4265676"/>
            <a:ext cx="3119018" cy="15864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Every fact, number, name and citation traced to a source you can open. If you cannot open it, it does not exist.</a:t>
            </a:r>
            <a:endParaRPr lang="en-US" sz="1500" dirty="0"/>
          </a:p>
        </p:txBody>
      </p:sp>
      <p:sp>
        <p:nvSpPr>
          <p:cNvPr id="10" name="Text 8"/>
          <p:cNvSpPr/>
          <p:nvPr/>
        </p:nvSpPr>
        <p:spPr>
          <a:xfrm>
            <a:off x="8158277" y="2606040"/>
            <a:ext cx="3119018"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03</a:t>
            </a:r>
            <a:endParaRPr lang="en-US" sz="3400" dirty="0"/>
          </a:p>
        </p:txBody>
      </p:sp>
      <p:sp>
        <p:nvSpPr>
          <p:cNvPr id="11" name="Text 9"/>
          <p:cNvSpPr/>
          <p:nvPr/>
        </p:nvSpPr>
        <p:spPr>
          <a:xfrm>
            <a:off x="8158277" y="3319272"/>
            <a:ext cx="3119018" cy="745236"/>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Who is accountable</a:t>
            </a:r>
            <a:endParaRPr lang="en-US" sz="2100" dirty="0"/>
          </a:p>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when it is wrong?</a:t>
            </a:r>
            <a:endParaRPr lang="en-US" sz="2100" dirty="0"/>
          </a:p>
        </p:txBody>
      </p:sp>
      <p:sp>
        <p:nvSpPr>
          <p:cNvPr id="12" name="Text 10"/>
          <p:cNvSpPr/>
          <p:nvPr/>
        </p:nvSpPr>
        <p:spPr>
          <a:xfrm>
            <a:off x="8158277" y="4265676"/>
            <a:ext cx="3119018" cy="15864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You are. Your name is on it, your judgment is in it, and the tool is not a co-signer.</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VANDERBILT · FEBRUARY 2023</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What failure actually</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looks like.</a:t>
            </a:r>
            <a:endParaRPr lang="en-US" sz="4000" dirty="0"/>
          </a:p>
        </p:txBody>
      </p:sp>
      <p:sp>
        <p:nvSpPr>
          <p:cNvPr id="4" name="Text 2"/>
          <p:cNvSpPr/>
          <p:nvPr/>
        </p:nvSpPr>
        <p:spPr>
          <a:xfrm>
            <a:off x="914400" y="2880360"/>
            <a:ext cx="8899855" cy="1234440"/>
          </a:xfrm>
          <a:prstGeom prst="rect">
            <a:avLst/>
          </a:prstGeom>
          <a:noFill/>
          <a:ln/>
        </p:spPr>
        <p:txBody>
          <a:bodyPr wrap="square" lIns="0" tIns="0" rIns="0" bIns="0" rtlCol="0" anchor="t">
            <a:normAutofit/>
          </a:bodyPr>
          <a:lstStyle/>
          <a:p>
            <a:pPr indent="0" marL="0">
              <a:lnSpc>
                <a:spcPts val="2840"/>
              </a:lnSpc>
              <a:buNone/>
            </a:pPr>
            <a:r>
              <a:rPr lang="en-US" sz="2000" dirty="0">
                <a:solidFill>
                  <a:srgbClr val="A7B7C9"/>
                </a:solidFill>
                <a:latin typeface="Calibri" pitchFamily="34" charset="0"/>
                <a:ea typeface="Calibri" pitchFamily="34" charset="-122"/>
                <a:cs typeface="Calibri" pitchFamily="34" charset="-120"/>
              </a:rPr>
              <a:t>Administrators sent a campus-wide condolence message about the shooting at Michigan State. It had been generated by ChatGPT — and the attribution line was still in the sent email. Two administrators stepped back from their roles.</a:t>
            </a:r>
            <a:endParaRPr lang="en-US" sz="2000" dirty="0"/>
          </a:p>
        </p:txBody>
      </p:sp>
      <p:sp>
        <p:nvSpPr>
          <p:cNvPr id="5" name="Text 3"/>
          <p:cNvSpPr/>
          <p:nvPr/>
        </p:nvSpPr>
        <p:spPr>
          <a:xfrm>
            <a:off x="914400" y="438912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5C6E82"/>
                </a:solidFill>
                <a:latin typeface="Calibri" pitchFamily="34" charset="0"/>
                <a:ea typeface="Calibri" pitchFamily="34" charset="-122"/>
                <a:cs typeface="Calibri" pitchFamily="34" charset="-120"/>
              </a:rPr>
              <a:t>NOT THIS</a:t>
            </a:r>
            <a:endParaRPr lang="en-US" sz="1050" dirty="0"/>
          </a:p>
        </p:txBody>
      </p:sp>
      <p:sp>
        <p:nvSpPr>
          <p:cNvPr id="6" name="Text 4"/>
          <p:cNvSpPr/>
          <p:nvPr/>
        </p:nvSpPr>
        <p:spPr>
          <a:xfrm>
            <a:off x="914400" y="4791456"/>
            <a:ext cx="3119018" cy="361188"/>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No data disclosed</a:t>
            </a:r>
            <a:endParaRPr lang="en-US" sz="1800" dirty="0"/>
          </a:p>
        </p:txBody>
      </p:sp>
      <p:sp>
        <p:nvSpPr>
          <p:cNvPr id="7" name="Text 5"/>
          <p:cNvSpPr/>
          <p:nvPr/>
        </p:nvSpPr>
        <p:spPr>
          <a:xfrm>
            <a:off x="914400" y="5353812"/>
            <a:ext cx="3119018" cy="5897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No student record moved anywhere.</a:t>
            </a:r>
            <a:endParaRPr lang="en-US" sz="1500" dirty="0"/>
          </a:p>
        </p:txBody>
      </p:sp>
      <p:sp>
        <p:nvSpPr>
          <p:cNvPr id="8" name="Text 6"/>
          <p:cNvSpPr/>
          <p:nvPr/>
        </p:nvSpPr>
        <p:spPr>
          <a:xfrm>
            <a:off x="4536338" y="438912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5C6E82"/>
                </a:solidFill>
                <a:latin typeface="Calibri" pitchFamily="34" charset="0"/>
                <a:ea typeface="Calibri" pitchFamily="34" charset="-122"/>
                <a:cs typeface="Calibri" pitchFamily="34" charset="-120"/>
              </a:rPr>
              <a:t>NOT THIS</a:t>
            </a:r>
            <a:endParaRPr lang="en-US" sz="1050" dirty="0"/>
          </a:p>
        </p:txBody>
      </p:sp>
      <p:sp>
        <p:nvSpPr>
          <p:cNvPr id="9" name="Text 7"/>
          <p:cNvSpPr/>
          <p:nvPr/>
        </p:nvSpPr>
        <p:spPr>
          <a:xfrm>
            <a:off x="4536338" y="4791456"/>
            <a:ext cx="3119018" cy="361188"/>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No law broken</a:t>
            </a:r>
            <a:endParaRPr lang="en-US" sz="1800" dirty="0"/>
          </a:p>
        </p:txBody>
      </p:sp>
      <p:sp>
        <p:nvSpPr>
          <p:cNvPr id="10" name="Text 8"/>
          <p:cNvSpPr/>
          <p:nvPr/>
        </p:nvSpPr>
        <p:spPr>
          <a:xfrm>
            <a:off x="4536338" y="5353812"/>
            <a:ext cx="3119018" cy="5897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No regulation applied. Nothing to report.</a:t>
            </a:r>
            <a:endParaRPr lang="en-US" sz="1500" dirty="0"/>
          </a:p>
        </p:txBody>
      </p:sp>
      <p:sp>
        <p:nvSpPr>
          <p:cNvPr id="11" name="Text 9"/>
          <p:cNvSpPr/>
          <p:nvPr/>
        </p:nvSpPr>
        <p:spPr>
          <a:xfrm>
            <a:off x="8158277" y="438912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FF6600"/>
                </a:solidFill>
                <a:latin typeface="Calibri" pitchFamily="34" charset="0"/>
                <a:ea typeface="Calibri" pitchFamily="34" charset="-122"/>
                <a:cs typeface="Calibri" pitchFamily="34" charset="-120"/>
              </a:rPr>
              <a:t>THIS</a:t>
            </a:r>
            <a:endParaRPr lang="en-US" sz="1050" dirty="0"/>
          </a:p>
        </p:txBody>
      </p:sp>
      <p:sp>
        <p:nvSpPr>
          <p:cNvPr id="12" name="Text 10"/>
          <p:cNvSpPr/>
          <p:nvPr/>
        </p:nvSpPr>
        <p:spPr>
          <a:xfrm>
            <a:off x="8158277" y="4791456"/>
            <a:ext cx="3119018" cy="361188"/>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Judgment</a:t>
            </a:r>
            <a:endParaRPr lang="en-US" sz="1800" dirty="0"/>
          </a:p>
        </p:txBody>
      </p:sp>
      <p:sp>
        <p:nvSpPr>
          <p:cNvPr id="13" name="Text 11"/>
          <p:cNvSpPr/>
          <p:nvPr/>
        </p:nvSpPr>
        <p:spPr>
          <a:xfrm>
            <a:off x="8158277" y="5353812"/>
            <a:ext cx="3119018" cy="589788"/>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The most damaging AI incident that year.</a:t>
            </a:r>
            <a:endParaRPr lang="en-US" sz="1500" dirty="0"/>
          </a:p>
        </p:txBody>
      </p:sp>
      <p:sp>
        <p:nvSpPr>
          <p:cNvPr id="14" name="Text 12"/>
          <p:cNvSpPr/>
          <p:nvPr/>
        </p:nvSpPr>
        <p:spPr>
          <a:xfrm>
            <a:off x="914400" y="5943600"/>
            <a:ext cx="8991295" cy="292608"/>
          </a:xfrm>
          <a:prstGeom prst="rect">
            <a:avLst/>
          </a:prstGeom>
          <a:noFill/>
          <a:ln/>
        </p:spPr>
        <p:txBody>
          <a:bodyPr wrap="square" lIns="0" tIns="0" rIns="0" bIns="0" rtlCol="0" anchor="ctr">
            <a:normAutofit/>
          </a:bodyPr>
          <a:lstStyle/>
          <a:p>
            <a:pPr indent="0" marL="0">
              <a:buNone/>
            </a:pPr>
            <a:r>
              <a:rPr lang="en-US" sz="1050" dirty="0">
                <a:solidFill>
                  <a:srgbClr val="5C6E82"/>
                </a:solidFill>
                <a:latin typeface="Calibri" pitchFamily="34" charset="0"/>
                <a:ea typeface="Calibri" pitchFamily="34" charset="-122"/>
                <a:cs typeface="Calibri" pitchFamily="34" charset="-120"/>
              </a:rPr>
              <a:t>CNN, February 22, 2023</a:t>
            </a:r>
            <a:endParaRPr lang="en-US" sz="10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914400" y="1371600"/>
            <a:ext cx="10362895" cy="914400"/>
          </a:xfrm>
          <a:prstGeom prst="rect">
            <a:avLst/>
          </a:prstGeom>
          <a:noFill/>
          <a:ln/>
        </p:spPr>
        <p:txBody>
          <a:bodyPr wrap="square" lIns="0" tIns="0" rIns="0" bIns="0" rtlCol="0" anchor="ctr">
            <a:normAutofit/>
          </a:bodyPr>
          <a:lstStyle/>
          <a:p>
            <a:pPr indent="0" marL="0">
              <a:buNone/>
            </a:pPr>
            <a:r>
              <a:rPr lang="en-US" sz="2000" b="1" spc="300" kern="0" dirty="0">
                <a:solidFill>
                  <a:srgbClr val="FF6600"/>
                </a:solidFill>
                <a:latin typeface="Poppins" pitchFamily="34" charset="0"/>
                <a:ea typeface="Poppins" pitchFamily="34" charset="-122"/>
                <a:cs typeface="Poppins" pitchFamily="34" charset="-120"/>
              </a:rPr>
              <a:t>PART TWO</a:t>
            </a:r>
            <a:endParaRPr lang="en-US" sz="2000" dirty="0"/>
          </a:p>
        </p:txBody>
      </p:sp>
      <p:sp>
        <p:nvSpPr>
          <p:cNvPr id="3" name="Text 1"/>
          <p:cNvSpPr/>
          <p:nvPr/>
        </p:nvSpPr>
        <p:spPr>
          <a:xfrm>
            <a:off x="914400" y="2286000"/>
            <a:ext cx="9265615" cy="1554480"/>
          </a:xfrm>
          <a:prstGeom prst="rect">
            <a:avLst/>
          </a:prstGeom>
          <a:noFill/>
          <a:ln/>
        </p:spPr>
        <p:txBody>
          <a:bodyPr wrap="square" lIns="0" tIns="0" rIns="0" bIns="0" rtlCol="0" anchor="t">
            <a:normAutofit/>
          </a:bodyPr>
          <a:lstStyle/>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Prompting as</a:t>
            </a:r>
            <a:endParaRPr lang="en-US" sz="5000" dirty="0"/>
          </a:p>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a work skill</a:t>
            </a:r>
            <a:endParaRPr lang="en-US" sz="5000" dirty="0"/>
          </a:p>
        </p:txBody>
      </p:sp>
      <p:sp>
        <p:nvSpPr>
          <p:cNvPr id="4" name="Text 2"/>
          <p:cNvSpPr/>
          <p:nvPr/>
        </p:nvSpPr>
        <p:spPr>
          <a:xfrm>
            <a:off x="914400" y="4023360"/>
            <a:ext cx="7985455" cy="914400"/>
          </a:xfrm>
          <a:prstGeom prst="rect">
            <a:avLst/>
          </a:prstGeom>
          <a:noFill/>
          <a:ln/>
        </p:spPr>
        <p:txBody>
          <a:bodyPr wrap="square" lIns="0" tIns="0" rIns="0" bIns="0" rtlCol="0" anchor="t">
            <a:normAutofit/>
          </a:bodyPr>
          <a:lstStyle/>
          <a:p>
            <a:pPr indent="0" marL="0">
              <a:lnSpc>
                <a:spcPts val="2700"/>
              </a:lnSpc>
              <a:buNone/>
            </a:pPr>
            <a:r>
              <a:rPr lang="en-US" sz="1900" dirty="0">
                <a:solidFill>
                  <a:srgbClr val="B7CDE0"/>
                </a:solidFill>
                <a:latin typeface="Calibri" pitchFamily="34" charset="0"/>
                <a:ea typeface="Calibri" pitchFamily="34" charset="-122"/>
                <a:cs typeface="Calibri" pitchFamily="34" charset="-120"/>
              </a:rPr>
              <a:t>Four moves, one habit, and knowing when to stop.</a:t>
            </a:r>
            <a:endParaRPr lang="en-US" sz="1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SESSION TWO</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Four moves that</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reliably work.</a:t>
            </a:r>
            <a:endParaRPr lang="en-US" sz="4000" dirty="0"/>
          </a:p>
        </p:txBody>
      </p:sp>
      <p:sp>
        <p:nvSpPr>
          <p:cNvPr id="4" name="Text 2"/>
          <p:cNvSpPr/>
          <p:nvPr/>
        </p:nvSpPr>
        <p:spPr>
          <a:xfrm>
            <a:off x="914400"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01</a:t>
            </a:r>
            <a:endParaRPr lang="en-US" sz="3400" dirty="0"/>
          </a:p>
        </p:txBody>
      </p:sp>
      <p:sp>
        <p:nvSpPr>
          <p:cNvPr id="5" name="Text 3"/>
          <p:cNvSpPr/>
          <p:nvPr/>
        </p:nvSpPr>
        <p:spPr>
          <a:xfrm>
            <a:off x="914400"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Context it</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cannot have</a:t>
            </a:r>
            <a:endParaRPr lang="en-US" sz="1900" dirty="0"/>
          </a:p>
        </p:txBody>
      </p:sp>
      <p:sp>
        <p:nvSpPr>
          <p:cNvPr id="6" name="Text 4"/>
          <p:cNvSpPr/>
          <p:nvPr/>
        </p:nvSpPr>
        <p:spPr>
          <a:xfrm>
            <a:off x="914400"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It does not know your audience is already annoyed about this policy, or that the deadline moved twice.</a:t>
            </a:r>
            <a:endParaRPr lang="en-US" sz="1500" dirty="0"/>
          </a:p>
        </p:txBody>
      </p:sp>
      <p:sp>
        <p:nvSpPr>
          <p:cNvPr id="7" name="Text 5"/>
          <p:cNvSpPr/>
          <p:nvPr/>
        </p:nvSpPr>
        <p:spPr>
          <a:xfrm>
            <a:off x="3630854"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02</a:t>
            </a:r>
            <a:endParaRPr lang="en-US" sz="3400" dirty="0"/>
          </a:p>
        </p:txBody>
      </p:sp>
      <p:sp>
        <p:nvSpPr>
          <p:cNvPr id="8" name="Text 6"/>
          <p:cNvSpPr/>
          <p:nvPr/>
        </p:nvSpPr>
        <p:spPr>
          <a:xfrm>
            <a:off x="3630854"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One example</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of good</a:t>
            </a:r>
            <a:endParaRPr lang="en-US" sz="1900" dirty="0"/>
          </a:p>
        </p:txBody>
      </p:sp>
      <p:sp>
        <p:nvSpPr>
          <p:cNvPr id="9" name="Text 7"/>
          <p:cNvSpPr/>
          <p:nvPr/>
        </p:nvSpPr>
        <p:spPr>
          <a:xfrm>
            <a:off x="3630854"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A single sample of your actual voice beats three paragraphs describing it.</a:t>
            </a:r>
            <a:endParaRPr lang="en-US" sz="1500" dirty="0"/>
          </a:p>
        </p:txBody>
      </p:sp>
      <p:sp>
        <p:nvSpPr>
          <p:cNvPr id="10" name="Text 8"/>
          <p:cNvSpPr/>
          <p:nvPr/>
        </p:nvSpPr>
        <p:spPr>
          <a:xfrm>
            <a:off x="6347308"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03</a:t>
            </a:r>
            <a:endParaRPr lang="en-US" sz="3400" dirty="0"/>
          </a:p>
        </p:txBody>
      </p:sp>
      <p:sp>
        <p:nvSpPr>
          <p:cNvPr id="11" name="Text 9"/>
          <p:cNvSpPr/>
          <p:nvPr/>
        </p:nvSpPr>
        <p:spPr>
          <a:xfrm>
            <a:off x="6347308"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Audience</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and role</a:t>
            </a:r>
            <a:endParaRPr lang="en-US" sz="1900" dirty="0"/>
          </a:p>
        </p:txBody>
      </p:sp>
      <p:sp>
        <p:nvSpPr>
          <p:cNvPr id="12" name="Text 10"/>
          <p:cNvSpPr/>
          <p:nvPr/>
        </p:nvSpPr>
        <p:spPr>
          <a:xfrm>
            <a:off x="6347308"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"Explain this to a first-semester student" and "to the VP of Finance" produce different documents.</a:t>
            </a:r>
            <a:endParaRPr lang="en-US" sz="1500" dirty="0"/>
          </a:p>
        </p:txBody>
      </p:sp>
      <p:sp>
        <p:nvSpPr>
          <p:cNvPr id="13" name="Text 11"/>
          <p:cNvSpPr/>
          <p:nvPr/>
        </p:nvSpPr>
        <p:spPr>
          <a:xfrm>
            <a:off x="9063761" y="2542032"/>
            <a:ext cx="2213534" cy="566928"/>
          </a:xfrm>
          <a:prstGeom prst="rect">
            <a:avLst/>
          </a:prstGeom>
          <a:noFill/>
          <a:ln/>
        </p:spPr>
        <p:txBody>
          <a:bodyPr wrap="square" lIns="0" tIns="0" rIns="0" bIns="0" rtlCol="0" anchor="ctr">
            <a:normAutofit/>
          </a:bodyPr>
          <a:lstStyle/>
          <a:p>
            <a:pPr indent="0" marL="0">
              <a:lnSpc>
                <a:spcPts val="3800"/>
              </a:lnSpc>
              <a:buNone/>
            </a:pPr>
            <a:r>
              <a:rPr lang="en-US" sz="3400" b="1" dirty="0">
                <a:solidFill>
                  <a:srgbClr val="B34A00"/>
                </a:solidFill>
                <a:latin typeface="Poppins" pitchFamily="34" charset="0"/>
                <a:ea typeface="Poppins" pitchFamily="34" charset="-122"/>
                <a:cs typeface="Poppins" pitchFamily="34" charset="-120"/>
              </a:rPr>
              <a:t>04</a:t>
            </a:r>
            <a:endParaRPr lang="en-US" sz="3400" dirty="0"/>
          </a:p>
        </p:txBody>
      </p:sp>
      <p:sp>
        <p:nvSpPr>
          <p:cNvPr id="14" name="Text 12"/>
          <p:cNvSpPr/>
          <p:nvPr/>
        </p:nvSpPr>
        <p:spPr>
          <a:xfrm>
            <a:off x="9063761" y="3255264"/>
            <a:ext cx="2213534" cy="681228"/>
          </a:xfrm>
          <a:prstGeom prst="rect">
            <a:avLst/>
          </a:prstGeom>
          <a:noFill/>
          <a:ln/>
        </p:spPr>
        <p:txBody>
          <a:bodyPr wrap="square" lIns="0" tIns="0" rIns="0" bIns="0" rtlCol="0" anchor="t">
            <a:normAutofit/>
          </a:bodyPr>
          <a:lstStyle/>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Constrain</a:t>
            </a:r>
            <a:endParaRPr lang="en-US" sz="1900" dirty="0"/>
          </a:p>
          <a:p>
            <a:pPr indent="0" marL="0">
              <a:lnSpc>
                <a:spcPts val="2394"/>
              </a:lnSpc>
              <a:buNone/>
            </a:pPr>
            <a:r>
              <a:rPr lang="en-US" sz="1900" b="1" dirty="0">
                <a:solidFill>
                  <a:srgbClr val="003366"/>
                </a:solidFill>
                <a:latin typeface="Poppins" pitchFamily="34" charset="0"/>
                <a:ea typeface="Poppins" pitchFamily="34" charset="-122"/>
                <a:cs typeface="Poppins" pitchFamily="34" charset="-120"/>
              </a:rPr>
              <a:t>the output</a:t>
            </a:r>
            <a:endParaRPr lang="en-US" sz="1900" dirty="0"/>
          </a:p>
        </p:txBody>
      </p:sp>
      <p:sp>
        <p:nvSpPr>
          <p:cNvPr id="15" name="Text 13"/>
          <p:cNvSpPr/>
          <p:nvPr/>
        </p:nvSpPr>
        <p:spPr>
          <a:xfrm>
            <a:off x="9063761" y="4137660"/>
            <a:ext cx="2213534" cy="1805940"/>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Length, format, what to leave out. "Three bullets, no preamble" removes most of what people dislike.</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SAME REQUEST, TWICE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Forty seconds of context.</a:t>
            </a:r>
            <a:endParaRPr lang="en-US" sz="4000" dirty="0"/>
          </a:p>
        </p:txBody>
      </p:sp>
      <p:sp>
        <p:nvSpPr>
          <p:cNvPr id="4" name="Text 2"/>
          <p:cNvSpPr/>
          <p:nvPr/>
        </p:nvSpPr>
        <p:spPr>
          <a:xfrm>
            <a:off x="914400" y="2514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WEAK</a:t>
            </a:r>
            <a:endParaRPr lang="en-US" sz="1050" dirty="0"/>
          </a:p>
        </p:txBody>
      </p:sp>
      <p:sp>
        <p:nvSpPr>
          <p:cNvPr id="5" name="Text 3"/>
          <p:cNvSpPr/>
          <p:nvPr/>
        </p:nvSpPr>
        <p:spPr>
          <a:xfrm>
            <a:off x="914400" y="2916936"/>
            <a:ext cx="4747108" cy="2615184"/>
          </a:xfrm>
          <a:prstGeom prst="rect">
            <a:avLst/>
          </a:prstGeom>
          <a:noFill/>
          <a:ln/>
        </p:spPr>
        <p:txBody>
          <a:bodyPr wrap="square" lIns="0" tIns="0" rIns="0" bIns="0" rtlCol="0" anchor="t">
            <a:normAutofit/>
          </a:bodyPr>
          <a:lstStyle/>
          <a:p>
            <a:pPr indent="0" marL="0">
              <a:lnSpc>
                <a:spcPts val="2400"/>
              </a:lnSpc>
              <a:buNone/>
            </a:pPr>
            <a:r>
              <a:rPr lang="en-US" sz="1600" dirty="0">
                <a:solidFill>
                  <a:srgbClr val="68737F"/>
                </a:solidFill>
                <a:latin typeface="Calibri" pitchFamily="34" charset="0"/>
                <a:ea typeface="Calibri" pitchFamily="34" charset="-122"/>
                <a:cs typeface="Calibri" pitchFamily="34" charset="-120"/>
              </a:rPr>
              <a:t>"Write an email about the new travel reimbursement process."</a:t>
            </a:r>
            <a:endParaRPr lang="en-US" sz="1600" dirty="0"/>
          </a:p>
        </p:txBody>
      </p:sp>
      <p:sp>
        <p:nvSpPr>
          <p:cNvPr id="6" name="Text 4"/>
          <p:cNvSpPr/>
          <p:nvPr/>
        </p:nvSpPr>
        <p:spPr>
          <a:xfrm>
            <a:off x="6347308" y="2514600"/>
            <a:ext cx="4929988" cy="274320"/>
          </a:xfrm>
          <a:prstGeom prst="rect">
            <a:avLst/>
          </a:prstGeom>
          <a:noFill/>
          <a:ln/>
        </p:spPr>
        <p:txBody>
          <a:bodyPr wrap="square" lIns="0" tIns="0" rIns="0" bIns="0" rtlCol="0" anchor="ctr">
            <a:normAutofit/>
          </a:bodyPr>
          <a:lstStyle/>
          <a:p>
            <a:pPr indent="0" marL="0">
              <a:buNone/>
            </a:pPr>
            <a:r>
              <a:rPr lang="en-US" sz="1050" b="1" spc="200" kern="0" dirty="0">
                <a:solidFill>
                  <a:srgbClr val="1A7F4B"/>
                </a:solidFill>
                <a:latin typeface="Calibri" pitchFamily="34" charset="0"/>
                <a:ea typeface="Calibri" pitchFamily="34" charset="-122"/>
                <a:cs typeface="Calibri" pitchFamily="34" charset="-120"/>
              </a:rPr>
              <a:t>STRONG</a:t>
            </a:r>
            <a:endParaRPr lang="en-US" sz="1050" dirty="0"/>
          </a:p>
        </p:txBody>
      </p:sp>
      <p:sp>
        <p:nvSpPr>
          <p:cNvPr id="7" name="Text 5"/>
          <p:cNvSpPr/>
          <p:nvPr/>
        </p:nvSpPr>
        <p:spPr>
          <a:xfrm>
            <a:off x="6347308" y="2916936"/>
            <a:ext cx="4747108" cy="2615184"/>
          </a:xfrm>
          <a:prstGeom prst="rect">
            <a:avLst/>
          </a:prstGeom>
          <a:noFill/>
          <a:ln/>
        </p:spPr>
        <p:txBody>
          <a:bodyPr wrap="square" lIns="0" tIns="0" rIns="0" bIns="0" rtlCol="0" anchor="t">
            <a:normAutofit/>
          </a:bodyPr>
          <a:lstStyle/>
          <a:p>
            <a:pPr indent="0" marL="0">
              <a:lnSpc>
                <a:spcPts val="2400"/>
              </a:lnSpc>
              <a:buNone/>
            </a:pPr>
            <a:r>
              <a:rPr lang="en-US" sz="1600" dirty="0">
                <a:solidFill>
                  <a:srgbClr val="68737F"/>
                </a:solidFill>
                <a:latin typeface="Calibri" pitchFamily="34" charset="0"/>
                <a:ea typeface="Calibri" pitchFamily="34" charset="-122"/>
                <a:cs typeface="Calibri" pitchFamily="34" charset="-120"/>
              </a:rPr>
              <a:t>"I am a department coordinator at a Texas community college. I need to email 40 faculty about a change to travel reimbursement — receipts now go through a portal instead of paper forms. This is the third process change this year and people are frustrated. Short, matter-of-fact, no corporate cheerfulness, with the three steps they have to do. Under 150 words."</a:t>
            </a:r>
            <a:endParaRPr lang="en-US" sz="16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MOVE ALMOST NOBODY TRIES</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Do not rewrite the prompt.</a:t>
            </a:r>
            <a:endParaRPr lang="en-US" sz="4000" dirty="0"/>
          </a:p>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Talk back to the output.</a:t>
            </a:r>
            <a:endParaRPr lang="en-US" sz="4000" dirty="0"/>
          </a:p>
        </p:txBody>
      </p:sp>
      <p:sp>
        <p:nvSpPr>
          <p:cNvPr id="4" name="Text 2"/>
          <p:cNvSpPr/>
          <p:nvPr/>
        </p:nvSpPr>
        <p:spPr>
          <a:xfrm>
            <a:off x="914400" y="2953512"/>
            <a:ext cx="713232" cy="384048"/>
          </a:xfrm>
          <a:prstGeom prst="rect">
            <a:avLst/>
          </a:prstGeom>
          <a:noFill/>
          <a:ln/>
        </p:spPr>
        <p:txBody>
          <a:bodyPr wrap="square" lIns="0" tIns="0" rIns="0" bIns="0" rtlCol="0" anchor="ctr">
            <a:normAutofit/>
          </a:bodyPr>
          <a:lstStyle/>
          <a:p>
            <a:pPr indent="0" marL="0">
              <a:buNone/>
            </a:pPr>
            <a:r>
              <a:rPr lang="en-US" sz="2000" b="1" dirty="0">
                <a:solidFill>
                  <a:srgbClr val="B34A00"/>
                </a:solidFill>
                <a:latin typeface="Poppins" pitchFamily="34" charset="0"/>
                <a:ea typeface="Poppins" pitchFamily="34" charset="-122"/>
                <a:cs typeface="Poppins" pitchFamily="34" charset="-120"/>
              </a:rPr>
              <a:t>01</a:t>
            </a:r>
            <a:endParaRPr lang="en-US" sz="2000" dirty="0"/>
          </a:p>
        </p:txBody>
      </p:sp>
      <p:sp>
        <p:nvSpPr>
          <p:cNvPr id="5" name="Text 3"/>
          <p:cNvSpPr/>
          <p:nvPr/>
        </p:nvSpPr>
        <p:spPr>
          <a:xfrm>
            <a:off x="1737360" y="2926080"/>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Ask for what you want. Then read it properly.</a:t>
            </a:r>
            <a:endParaRPr lang="en-US" sz="1900" dirty="0"/>
          </a:p>
        </p:txBody>
      </p:sp>
      <p:sp>
        <p:nvSpPr>
          <p:cNvPr id="6" name="Text 4"/>
          <p:cNvSpPr/>
          <p:nvPr/>
        </p:nvSpPr>
        <p:spPr>
          <a:xfrm>
            <a:off x="1737360" y="3261360"/>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Write down one specific thing that is wrong — not "it is bad."</a:t>
            </a:r>
            <a:endParaRPr lang="en-US" sz="1500" dirty="0"/>
          </a:p>
        </p:txBody>
      </p:sp>
      <p:sp>
        <p:nvSpPr>
          <p:cNvPr id="7" name="Text 5"/>
          <p:cNvSpPr/>
          <p:nvPr/>
        </p:nvSpPr>
        <p:spPr>
          <a:xfrm>
            <a:off x="914400" y="3985260"/>
            <a:ext cx="713232" cy="384048"/>
          </a:xfrm>
          <a:prstGeom prst="rect">
            <a:avLst/>
          </a:prstGeom>
          <a:noFill/>
          <a:ln/>
        </p:spPr>
        <p:txBody>
          <a:bodyPr wrap="square" lIns="0" tIns="0" rIns="0" bIns="0" rtlCol="0" anchor="ctr">
            <a:normAutofit/>
          </a:bodyPr>
          <a:lstStyle/>
          <a:p>
            <a:pPr indent="0" marL="0">
              <a:buNone/>
            </a:pPr>
            <a:r>
              <a:rPr lang="en-US" sz="2000" b="1" dirty="0">
                <a:solidFill>
                  <a:srgbClr val="00697A"/>
                </a:solidFill>
                <a:latin typeface="Poppins" pitchFamily="34" charset="0"/>
                <a:ea typeface="Poppins" pitchFamily="34" charset="-122"/>
                <a:cs typeface="Poppins" pitchFamily="34" charset="-120"/>
              </a:rPr>
              <a:t>02</a:t>
            </a:r>
            <a:endParaRPr lang="en-US" sz="2000" dirty="0"/>
          </a:p>
        </p:txBody>
      </p:sp>
      <p:sp>
        <p:nvSpPr>
          <p:cNvPr id="8" name="Text 6"/>
          <p:cNvSpPr/>
          <p:nvPr/>
        </p:nvSpPr>
        <p:spPr>
          <a:xfrm>
            <a:off x="1737360" y="3957828"/>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Respond to the output. Do not re-specify.</a:t>
            </a:r>
            <a:endParaRPr lang="en-US" sz="1900" dirty="0"/>
          </a:p>
        </p:txBody>
      </p:sp>
      <p:sp>
        <p:nvSpPr>
          <p:cNvPr id="9" name="Text 7"/>
          <p:cNvSpPr/>
          <p:nvPr/>
        </p:nvSpPr>
        <p:spPr>
          <a:xfrm>
            <a:off x="1737360" y="4293108"/>
            <a:ext cx="9082735" cy="5791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"The second paragraph is too formal. And you invented a deadline — remove it."</a:t>
            </a:r>
            <a:endParaRPr lang="en-US" sz="1500" dirty="0"/>
          </a:p>
        </p:txBody>
      </p:sp>
      <p:sp>
        <p:nvSpPr>
          <p:cNvPr id="10" name="Text 8"/>
          <p:cNvSpPr/>
          <p:nvPr/>
        </p:nvSpPr>
        <p:spPr>
          <a:xfrm>
            <a:off x="914400" y="5283708"/>
            <a:ext cx="713232" cy="384048"/>
          </a:xfrm>
          <a:prstGeom prst="rect">
            <a:avLst/>
          </a:prstGeom>
          <a:noFill/>
          <a:ln/>
        </p:spPr>
        <p:txBody>
          <a:bodyPr wrap="square" lIns="0" tIns="0" rIns="0" bIns="0" rtlCol="0" anchor="ctr">
            <a:normAutofit/>
          </a:bodyPr>
          <a:lstStyle/>
          <a:p>
            <a:pPr indent="0" marL="0">
              <a:buNone/>
            </a:pPr>
            <a:r>
              <a:rPr lang="en-US" sz="2000" b="1" dirty="0">
                <a:solidFill>
                  <a:srgbClr val="003366"/>
                </a:solidFill>
                <a:latin typeface="Poppins" pitchFamily="34" charset="0"/>
                <a:ea typeface="Poppins" pitchFamily="34" charset="-122"/>
                <a:cs typeface="Poppins" pitchFamily="34" charset="-120"/>
              </a:rPr>
              <a:t>03</a:t>
            </a:r>
            <a:endParaRPr lang="en-US" sz="2000" dirty="0"/>
          </a:p>
        </p:txBody>
      </p:sp>
      <p:sp>
        <p:nvSpPr>
          <p:cNvPr id="11" name="Text 9"/>
          <p:cNvSpPr/>
          <p:nvPr/>
        </p:nvSpPr>
        <p:spPr>
          <a:xfrm>
            <a:off x="1737360" y="5256276"/>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Ask it to critique itself, then decide if you agree.</a:t>
            </a:r>
            <a:endParaRPr lang="en-US" sz="1900" dirty="0"/>
          </a:p>
        </p:txBody>
      </p:sp>
      <p:sp>
        <p:nvSpPr>
          <p:cNvPr id="12" name="Text 10"/>
          <p:cNvSpPr/>
          <p:nvPr/>
        </p:nvSpPr>
        <p:spPr>
          <a:xfrm>
            <a:off x="1737360" y="5591556"/>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"What is the weakest part of this for frustrated adjunct faculty?"</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KNOWING WHEN TO STOP</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When the prompt</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is not the problem.</a:t>
            </a:r>
            <a:endParaRPr lang="en-US" sz="4000" dirty="0"/>
          </a:p>
        </p:txBody>
      </p:sp>
      <p:sp>
        <p:nvSpPr>
          <p:cNvPr id="4" name="Text 2"/>
          <p:cNvSpPr/>
          <p:nvPr/>
        </p:nvSpPr>
        <p:spPr>
          <a:xfrm>
            <a:off x="914400"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STOP</a:t>
            </a:r>
            <a:endParaRPr lang="en-US" sz="1050" dirty="0"/>
          </a:p>
        </p:txBody>
      </p:sp>
      <p:sp>
        <p:nvSpPr>
          <p:cNvPr id="5" name="Text 3"/>
          <p:cNvSpPr/>
          <p:nvPr/>
        </p:nvSpPr>
        <p:spPr>
          <a:xfrm>
            <a:off x="914400"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It needs facts</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only MCC has</a:t>
            </a:r>
            <a:endParaRPr lang="en-US" sz="1800" dirty="0"/>
          </a:p>
        </p:txBody>
      </p:sp>
      <p:sp>
        <p:nvSpPr>
          <p:cNvPr id="6" name="Text 4"/>
          <p:cNvSpPr/>
          <p:nvPr/>
        </p:nvSpPr>
        <p:spPr>
          <a:xfrm>
            <a:off x="914400"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No prompt retrieves our catalog language. Give it the document.</a:t>
            </a:r>
            <a:endParaRPr lang="en-US" sz="1500" dirty="0"/>
          </a:p>
        </p:txBody>
      </p:sp>
      <p:sp>
        <p:nvSpPr>
          <p:cNvPr id="7" name="Text 5"/>
          <p:cNvSpPr/>
          <p:nvPr/>
        </p:nvSpPr>
        <p:spPr>
          <a:xfrm>
            <a:off x="3630854"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STOP</a:t>
            </a:r>
            <a:endParaRPr lang="en-US" sz="1050" dirty="0"/>
          </a:p>
        </p:txBody>
      </p:sp>
      <p:sp>
        <p:nvSpPr>
          <p:cNvPr id="8" name="Text 6"/>
          <p:cNvSpPr/>
          <p:nvPr/>
        </p:nvSpPr>
        <p:spPr>
          <a:xfrm>
            <a:off x="3630854"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The judgment</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is the job</a:t>
            </a:r>
            <a:endParaRPr lang="en-US" sz="1800" dirty="0"/>
          </a:p>
        </p:txBody>
      </p:sp>
      <p:sp>
        <p:nvSpPr>
          <p:cNvPr id="9" name="Text 7"/>
          <p:cNvSpPr/>
          <p:nvPr/>
        </p:nvSpPr>
        <p:spPr>
          <a:xfrm>
            <a:off x="3630854"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A student appeal. A performance conversation. Decide first.</a:t>
            </a:r>
            <a:endParaRPr lang="en-US" sz="1500" dirty="0"/>
          </a:p>
        </p:txBody>
      </p:sp>
      <p:sp>
        <p:nvSpPr>
          <p:cNvPr id="10" name="Text 8"/>
          <p:cNvSpPr/>
          <p:nvPr/>
        </p:nvSpPr>
        <p:spPr>
          <a:xfrm>
            <a:off x="6347308"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STOP</a:t>
            </a:r>
            <a:endParaRPr lang="en-US" sz="1050" dirty="0"/>
          </a:p>
        </p:txBody>
      </p:sp>
      <p:sp>
        <p:nvSpPr>
          <p:cNvPr id="11" name="Text 9"/>
          <p:cNvSpPr/>
          <p:nvPr/>
        </p:nvSpPr>
        <p:spPr>
          <a:xfrm>
            <a:off x="6347308"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Checking costs</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more than doing</a:t>
            </a:r>
            <a:endParaRPr lang="en-US" sz="1800" dirty="0"/>
          </a:p>
        </p:txBody>
      </p:sp>
      <p:sp>
        <p:nvSpPr>
          <p:cNvPr id="12" name="Text 10"/>
          <p:cNvSpPr/>
          <p:nvPr/>
        </p:nvSpPr>
        <p:spPr>
          <a:xfrm>
            <a:off x="6347308"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If verifying takes longer than writing it, you have lost.</a:t>
            </a:r>
            <a:endParaRPr lang="en-US" sz="1500" dirty="0"/>
          </a:p>
        </p:txBody>
      </p:sp>
      <p:sp>
        <p:nvSpPr>
          <p:cNvPr id="13" name="Text 11"/>
          <p:cNvSpPr/>
          <p:nvPr/>
        </p:nvSpPr>
        <p:spPr>
          <a:xfrm>
            <a:off x="9063761" y="2697480"/>
            <a:ext cx="2213534" cy="256032"/>
          </a:xfrm>
          <a:prstGeom prst="rect">
            <a:avLst/>
          </a:prstGeom>
          <a:noFill/>
          <a:ln/>
        </p:spPr>
        <p:txBody>
          <a:bodyPr wrap="square" lIns="0" tIns="0" rIns="0" bIns="0" rtlCol="0" anchor="ctr">
            <a:normAutofit/>
          </a:bodyPr>
          <a:lstStyle/>
          <a:p>
            <a:pPr indent="0" marL="0">
              <a:buNone/>
            </a:pPr>
            <a:r>
              <a:rPr lang="en-US" sz="1050" b="1" spc="200" kern="0" dirty="0">
                <a:solidFill>
                  <a:srgbClr val="F9DD56"/>
                </a:solidFill>
                <a:latin typeface="Calibri" pitchFamily="34" charset="0"/>
                <a:ea typeface="Calibri" pitchFamily="34" charset="-122"/>
                <a:cs typeface="Calibri" pitchFamily="34" charset="-120"/>
              </a:rPr>
              <a:t>CAREFUL</a:t>
            </a:r>
            <a:endParaRPr lang="en-US" sz="1050" dirty="0"/>
          </a:p>
        </p:txBody>
      </p:sp>
      <p:sp>
        <p:nvSpPr>
          <p:cNvPr id="14" name="Text 12"/>
          <p:cNvSpPr/>
          <p:nvPr/>
        </p:nvSpPr>
        <p:spPr>
          <a:xfrm>
            <a:off x="9063761" y="3099816"/>
            <a:ext cx="2213534" cy="937260"/>
          </a:xfrm>
          <a:prstGeom prst="rect">
            <a:avLst/>
          </a:prstGeom>
          <a:noFill/>
          <a:ln/>
        </p:spPr>
        <p:txBody>
          <a:bodyPr wrap="square" lIns="0" tIns="0" rIns="0" bIns="0" rtlCol="0" anchor="t">
            <a:normAutofit/>
          </a:bodyPr>
          <a:lstStyle/>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You would lose</a:t>
            </a:r>
            <a:endParaRPr lang="en-US" sz="1800" dirty="0"/>
          </a:p>
          <a:p>
            <a:pPr indent="0" marL="0">
              <a:lnSpc>
                <a:spcPts val="2268"/>
              </a:lnSpc>
              <a:buNone/>
            </a:pPr>
            <a:r>
              <a:rPr lang="en-US" sz="1800" b="1" dirty="0">
                <a:solidFill>
                  <a:srgbClr val="FFFFFF"/>
                </a:solidFill>
                <a:latin typeface="Poppins" pitchFamily="34" charset="0"/>
                <a:ea typeface="Poppins" pitchFamily="34" charset="-122"/>
                <a:cs typeface="Poppins" pitchFamily="34" charset="-120"/>
              </a:rPr>
              <a:t>a skill you need</a:t>
            </a:r>
            <a:endParaRPr lang="en-US" sz="1800" dirty="0"/>
          </a:p>
        </p:txBody>
      </p:sp>
      <p:sp>
        <p:nvSpPr>
          <p:cNvPr id="15" name="Text 13"/>
          <p:cNvSpPr/>
          <p:nvPr/>
        </p:nvSpPr>
        <p:spPr>
          <a:xfrm>
            <a:off x="9063761" y="4238244"/>
            <a:ext cx="2213534" cy="1632204"/>
          </a:xfrm>
          <a:prstGeom prst="rect">
            <a:avLst/>
          </a:prstGeom>
          <a:noFill/>
          <a:ln/>
        </p:spPr>
        <p:txBody>
          <a:bodyPr wrap="square" lIns="0" tIns="0" rIns="0" bIns="0" rtlCol="0" anchor="t">
            <a:normAutofit/>
          </a:bodyPr>
          <a:lstStyle/>
          <a:p>
            <a:pPr indent="0" marL="0">
              <a:lnSpc>
                <a:spcPts val="2200"/>
              </a:lnSpc>
              <a:buNone/>
            </a:pPr>
            <a:r>
              <a:rPr lang="en-US" sz="1500" dirty="0">
                <a:solidFill>
                  <a:srgbClr val="A7B7C9"/>
                </a:solidFill>
                <a:latin typeface="Calibri" pitchFamily="34" charset="0"/>
                <a:ea typeface="Calibri" pitchFamily="34" charset="-122"/>
                <a:cs typeface="Calibri" pitchFamily="34" charset="-120"/>
              </a:rPr>
              <a:t>If juniors stop building judgment through the work, the pipeline weakens.</a:t>
            </a:r>
            <a:endParaRPr lang="en-US" sz="1500" dirty="0"/>
          </a:p>
        </p:txBody>
      </p:sp>
      <p:sp>
        <p:nvSpPr>
          <p:cNvPr id="16" name="Text 14"/>
          <p:cNvSpPr/>
          <p:nvPr/>
        </p:nvSpPr>
        <p:spPr>
          <a:xfrm>
            <a:off x="914400" y="5943600"/>
            <a:ext cx="8991295" cy="292608"/>
          </a:xfrm>
          <a:prstGeom prst="rect">
            <a:avLst/>
          </a:prstGeom>
          <a:noFill/>
          <a:ln/>
        </p:spPr>
        <p:txBody>
          <a:bodyPr wrap="square" lIns="0" tIns="0" rIns="0" bIns="0" rtlCol="0" anchor="ctr">
            <a:normAutofit/>
          </a:bodyPr>
          <a:lstStyle/>
          <a:p>
            <a:pPr indent="0" marL="0">
              <a:buNone/>
            </a:pPr>
            <a:r>
              <a:rPr lang="en-US" sz="1050" dirty="0">
                <a:solidFill>
                  <a:srgbClr val="5C6E82"/>
                </a:solidFill>
                <a:latin typeface="Calibri" pitchFamily="34" charset="0"/>
                <a:ea typeface="Calibri" pitchFamily="34" charset="-122"/>
                <a:cs typeface="Calibri" pitchFamily="34" charset="-120"/>
              </a:rPr>
              <a:t>De-skilling concern documented in Ithaka S+R, "AI Adoption in Research Administration," 2025</a:t>
            </a:r>
            <a:endParaRPr lang="en-US" sz="10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914400" y="1371600"/>
            <a:ext cx="10362895" cy="914400"/>
          </a:xfrm>
          <a:prstGeom prst="rect">
            <a:avLst/>
          </a:prstGeom>
          <a:noFill/>
          <a:ln/>
        </p:spPr>
        <p:txBody>
          <a:bodyPr wrap="square" lIns="0" tIns="0" rIns="0" bIns="0" rtlCol="0" anchor="ctr">
            <a:normAutofit/>
          </a:bodyPr>
          <a:lstStyle/>
          <a:p>
            <a:pPr indent="0" marL="0">
              <a:buNone/>
            </a:pPr>
            <a:r>
              <a:rPr lang="en-US" sz="2000" b="1" spc="300" kern="0" dirty="0">
                <a:solidFill>
                  <a:srgbClr val="FF6600"/>
                </a:solidFill>
                <a:latin typeface="Poppins" pitchFamily="34" charset="0"/>
                <a:ea typeface="Poppins" pitchFamily="34" charset="-122"/>
                <a:cs typeface="Poppins" pitchFamily="34" charset="-120"/>
              </a:rPr>
              <a:t>PART THREE</a:t>
            </a:r>
            <a:endParaRPr lang="en-US" sz="2000" dirty="0"/>
          </a:p>
        </p:txBody>
      </p:sp>
      <p:sp>
        <p:nvSpPr>
          <p:cNvPr id="3" name="Text 1"/>
          <p:cNvSpPr/>
          <p:nvPr/>
        </p:nvSpPr>
        <p:spPr>
          <a:xfrm>
            <a:off x="914400" y="2286000"/>
            <a:ext cx="9265615" cy="1554480"/>
          </a:xfrm>
          <a:prstGeom prst="rect">
            <a:avLst/>
          </a:prstGeom>
          <a:noFill/>
          <a:ln/>
        </p:spPr>
        <p:txBody>
          <a:bodyPr wrap="square" lIns="0" tIns="0" rIns="0" bIns="0" rtlCol="0" anchor="t">
            <a:normAutofit/>
          </a:bodyPr>
          <a:lstStyle/>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The MCC</a:t>
            </a:r>
            <a:endParaRPr lang="en-US" sz="5000" dirty="0"/>
          </a:p>
          <a:p>
            <a:pPr indent="0" marL="0">
              <a:lnSpc>
                <a:spcPts val="5800"/>
              </a:lnSpc>
              <a:buNone/>
            </a:pPr>
            <a:r>
              <a:rPr lang="en-US" sz="5000" b="1" dirty="0">
                <a:solidFill>
                  <a:srgbClr val="FFFFFF"/>
                </a:solidFill>
                <a:latin typeface="Poppins" pitchFamily="34" charset="0"/>
                <a:ea typeface="Poppins" pitchFamily="34" charset="-122"/>
                <a:cs typeface="Poppins" pitchFamily="34" charset="-120"/>
              </a:rPr>
              <a:t>data line</a:t>
            </a:r>
            <a:endParaRPr lang="en-US" sz="5000" dirty="0"/>
          </a:p>
        </p:txBody>
      </p:sp>
      <p:sp>
        <p:nvSpPr>
          <p:cNvPr id="4" name="Text 2"/>
          <p:cNvSpPr/>
          <p:nvPr/>
        </p:nvSpPr>
        <p:spPr>
          <a:xfrm>
            <a:off x="914400" y="4023360"/>
            <a:ext cx="7985455" cy="914400"/>
          </a:xfrm>
          <a:prstGeom prst="rect">
            <a:avLst/>
          </a:prstGeom>
          <a:noFill/>
          <a:ln/>
        </p:spPr>
        <p:txBody>
          <a:bodyPr wrap="square" lIns="0" tIns="0" rIns="0" bIns="0" rtlCol="0" anchor="t">
            <a:normAutofit/>
          </a:bodyPr>
          <a:lstStyle/>
          <a:p>
            <a:pPr indent="0" marL="0">
              <a:lnSpc>
                <a:spcPts val="2700"/>
              </a:lnSpc>
              <a:buNone/>
            </a:pPr>
            <a:r>
              <a:rPr lang="en-US" sz="1900" dirty="0">
                <a:solidFill>
                  <a:srgbClr val="B7CDE0"/>
                </a:solidFill>
                <a:latin typeface="Calibri" pitchFamily="34" charset="0"/>
                <a:ea typeface="Calibri" pitchFamily="34" charset="-122"/>
                <a:cs typeface="Calibri" pitchFamily="34" charset="-120"/>
              </a:rPr>
              <a:t>The session with real consequences — and the one to get right.</a:t>
            </a:r>
            <a:endParaRPr lang="en-US" sz="19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WHAT GOVERNS WHAT</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Five regimes, in plain language.</a:t>
            </a:r>
            <a:endParaRPr lang="en-US" sz="4000" dirty="0"/>
          </a:p>
        </p:txBody>
      </p:sp>
      <p:sp>
        <p:nvSpPr>
          <p:cNvPr id="4" name="Text 2"/>
          <p:cNvSpPr/>
          <p:nvPr/>
        </p:nvSpPr>
        <p:spPr>
          <a:xfrm>
            <a:off x="914400" y="2203704"/>
            <a:ext cx="713232" cy="384048"/>
          </a:xfrm>
          <a:prstGeom prst="rect">
            <a:avLst/>
          </a:prstGeom>
          <a:noFill/>
          <a:ln/>
        </p:spPr>
        <p:txBody>
          <a:bodyPr wrap="square" lIns="0" tIns="0" rIns="0" bIns="0" rtlCol="0" anchor="ctr">
            <a:normAutofit/>
          </a:bodyPr>
          <a:lstStyle/>
          <a:p>
            <a:pPr indent="0" marL="0">
              <a:buNone/>
            </a:pPr>
            <a:r>
              <a:rPr lang="en-US" sz="2000" b="1" dirty="0">
                <a:solidFill>
                  <a:srgbClr val="003366"/>
                </a:solidFill>
                <a:latin typeface="Poppins" pitchFamily="34" charset="0"/>
                <a:ea typeface="Poppins" pitchFamily="34" charset="-122"/>
                <a:cs typeface="Poppins" pitchFamily="34" charset="-120"/>
              </a:rPr>
              <a:t>F</a:t>
            </a:r>
            <a:endParaRPr lang="en-US" sz="2000" dirty="0"/>
          </a:p>
        </p:txBody>
      </p:sp>
      <p:sp>
        <p:nvSpPr>
          <p:cNvPr id="5" name="Text 3"/>
          <p:cNvSpPr/>
          <p:nvPr/>
        </p:nvSpPr>
        <p:spPr>
          <a:xfrm>
            <a:off x="1737360" y="2176272"/>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FERPA — student education records</a:t>
            </a:r>
            <a:endParaRPr lang="en-US" sz="1900" dirty="0"/>
          </a:p>
        </p:txBody>
      </p:sp>
      <p:sp>
        <p:nvSpPr>
          <p:cNvPr id="6" name="Text 4"/>
          <p:cNvSpPr/>
          <p:nvPr/>
        </p:nvSpPr>
        <p:spPr>
          <a:xfrm>
            <a:off x="1737360" y="2511552"/>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Grades, rosters, advising notes, conduct records, transcripts.</a:t>
            </a:r>
            <a:endParaRPr lang="en-US" sz="1500" dirty="0"/>
          </a:p>
        </p:txBody>
      </p:sp>
      <p:sp>
        <p:nvSpPr>
          <p:cNvPr id="7" name="Text 5"/>
          <p:cNvSpPr/>
          <p:nvPr/>
        </p:nvSpPr>
        <p:spPr>
          <a:xfrm>
            <a:off x="914400" y="3006471"/>
            <a:ext cx="713232" cy="384048"/>
          </a:xfrm>
          <a:prstGeom prst="rect">
            <a:avLst/>
          </a:prstGeom>
          <a:noFill/>
          <a:ln/>
        </p:spPr>
        <p:txBody>
          <a:bodyPr wrap="square" lIns="0" tIns="0" rIns="0" bIns="0" rtlCol="0" anchor="ctr">
            <a:normAutofit/>
          </a:bodyPr>
          <a:lstStyle/>
          <a:p>
            <a:pPr indent="0" marL="0">
              <a:buNone/>
            </a:pPr>
            <a:r>
              <a:rPr lang="en-US" sz="2000" b="1" dirty="0">
                <a:solidFill>
                  <a:srgbClr val="C0392B"/>
                </a:solidFill>
                <a:latin typeface="Poppins" pitchFamily="34" charset="0"/>
                <a:ea typeface="Poppins" pitchFamily="34" charset="-122"/>
                <a:cs typeface="Poppins" pitchFamily="34" charset="-120"/>
              </a:rPr>
              <a:t>G</a:t>
            </a:r>
            <a:endParaRPr lang="en-US" sz="2000" dirty="0"/>
          </a:p>
        </p:txBody>
      </p:sp>
      <p:sp>
        <p:nvSpPr>
          <p:cNvPr id="8" name="Text 6"/>
          <p:cNvSpPr/>
          <p:nvPr/>
        </p:nvSpPr>
        <p:spPr>
          <a:xfrm>
            <a:off x="1737360" y="2979039"/>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GLBA and the FTC Safeguards Rule — financial aid</a:t>
            </a:r>
            <a:endParaRPr lang="en-US" sz="1900" dirty="0"/>
          </a:p>
        </p:txBody>
      </p:sp>
      <p:sp>
        <p:nvSpPr>
          <p:cNvPr id="9" name="Text 7"/>
          <p:cNvSpPr/>
          <p:nvPr/>
        </p:nvSpPr>
        <p:spPr>
          <a:xfrm>
            <a:off x="1737360" y="3314319"/>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FAFSA data, ISIRs, SSNs. Enforceable since 2023. Reaches Title IV.</a:t>
            </a:r>
            <a:endParaRPr lang="en-US" sz="1500" dirty="0"/>
          </a:p>
        </p:txBody>
      </p:sp>
      <p:sp>
        <p:nvSpPr>
          <p:cNvPr id="10" name="Text 8"/>
          <p:cNvSpPr/>
          <p:nvPr/>
        </p:nvSpPr>
        <p:spPr>
          <a:xfrm>
            <a:off x="914400" y="3809238"/>
            <a:ext cx="713232" cy="384048"/>
          </a:xfrm>
          <a:prstGeom prst="rect">
            <a:avLst/>
          </a:prstGeom>
          <a:noFill/>
          <a:ln/>
        </p:spPr>
        <p:txBody>
          <a:bodyPr wrap="square" lIns="0" tIns="0" rIns="0" bIns="0" rtlCol="0" anchor="ctr">
            <a:normAutofit/>
          </a:bodyPr>
          <a:lstStyle/>
          <a:p>
            <a:pPr indent="0" marL="0">
              <a:buNone/>
            </a:pPr>
            <a:r>
              <a:rPr lang="en-US" sz="2000" b="1" dirty="0">
                <a:solidFill>
                  <a:srgbClr val="00697A"/>
                </a:solidFill>
                <a:latin typeface="Poppins" pitchFamily="34" charset="0"/>
                <a:ea typeface="Poppins" pitchFamily="34" charset="-122"/>
                <a:cs typeface="Poppins" pitchFamily="34" charset="-120"/>
              </a:rPr>
              <a:t>H</a:t>
            </a:r>
            <a:endParaRPr lang="en-US" sz="2000" dirty="0"/>
          </a:p>
        </p:txBody>
      </p:sp>
      <p:sp>
        <p:nvSpPr>
          <p:cNvPr id="11" name="Text 9"/>
          <p:cNvSpPr/>
          <p:nvPr/>
        </p:nvSpPr>
        <p:spPr>
          <a:xfrm>
            <a:off x="1737360" y="3781806"/>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Health, counseling and disability documentation</a:t>
            </a:r>
            <a:endParaRPr lang="en-US" sz="1900" dirty="0"/>
          </a:p>
        </p:txBody>
      </p:sp>
      <p:sp>
        <p:nvSpPr>
          <p:cNvPr id="12" name="Text 10"/>
          <p:cNvSpPr/>
          <p:nvPr/>
        </p:nvSpPr>
        <p:spPr>
          <a:xfrm>
            <a:off x="1737360" y="4117086"/>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Make the category itself the stop sign, not the statute.</a:t>
            </a:r>
            <a:endParaRPr lang="en-US" sz="1500" dirty="0"/>
          </a:p>
        </p:txBody>
      </p:sp>
      <p:sp>
        <p:nvSpPr>
          <p:cNvPr id="13" name="Text 11"/>
          <p:cNvSpPr/>
          <p:nvPr/>
        </p:nvSpPr>
        <p:spPr>
          <a:xfrm>
            <a:off x="914400" y="4612005"/>
            <a:ext cx="713232" cy="384048"/>
          </a:xfrm>
          <a:prstGeom prst="rect">
            <a:avLst/>
          </a:prstGeom>
          <a:noFill/>
          <a:ln/>
        </p:spPr>
        <p:txBody>
          <a:bodyPr wrap="square" lIns="0" tIns="0" rIns="0" bIns="0" rtlCol="0" anchor="ctr">
            <a:normAutofit/>
          </a:bodyPr>
          <a:lstStyle/>
          <a:p>
            <a:pPr indent="0" marL="0">
              <a:buNone/>
            </a:pPr>
            <a:r>
              <a:rPr lang="en-US" sz="2000" b="1" dirty="0">
                <a:solidFill>
                  <a:srgbClr val="B34A00"/>
                </a:solidFill>
                <a:latin typeface="Poppins" pitchFamily="34" charset="0"/>
                <a:ea typeface="Poppins" pitchFamily="34" charset="-122"/>
                <a:cs typeface="Poppins" pitchFamily="34" charset="-120"/>
              </a:rPr>
              <a:t>T</a:t>
            </a:r>
            <a:endParaRPr lang="en-US" sz="2000" dirty="0"/>
          </a:p>
        </p:txBody>
      </p:sp>
      <p:sp>
        <p:nvSpPr>
          <p:cNvPr id="14" name="Text 12"/>
          <p:cNvSpPr/>
          <p:nvPr/>
        </p:nvSpPr>
        <p:spPr>
          <a:xfrm>
            <a:off x="1737360" y="4584573"/>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Title IX, conduct and HR investigations</a:t>
            </a:r>
            <a:endParaRPr lang="en-US" sz="1900" dirty="0"/>
          </a:p>
        </p:txBody>
      </p:sp>
      <p:sp>
        <p:nvSpPr>
          <p:cNvPr id="15" name="Text 13"/>
          <p:cNvSpPr/>
          <p:nvPr/>
        </p:nvSpPr>
        <p:spPr>
          <a:xfrm>
            <a:off x="1737360" y="4919853"/>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Hard stop. No drafting, no summarizing, no AI notetakers.</a:t>
            </a:r>
            <a:endParaRPr lang="en-US" sz="1500" dirty="0"/>
          </a:p>
        </p:txBody>
      </p:sp>
      <p:sp>
        <p:nvSpPr>
          <p:cNvPr id="16" name="Text 14"/>
          <p:cNvSpPr/>
          <p:nvPr/>
        </p:nvSpPr>
        <p:spPr>
          <a:xfrm>
            <a:off x="914400" y="5414772"/>
            <a:ext cx="713232" cy="384048"/>
          </a:xfrm>
          <a:prstGeom prst="rect">
            <a:avLst/>
          </a:prstGeom>
          <a:noFill/>
          <a:ln/>
        </p:spPr>
        <p:txBody>
          <a:bodyPr wrap="square" lIns="0" tIns="0" rIns="0" bIns="0" rtlCol="0" anchor="ctr">
            <a:normAutofit/>
          </a:bodyPr>
          <a:lstStyle/>
          <a:p>
            <a:pPr indent="0" marL="0">
              <a:buNone/>
            </a:pPr>
            <a:r>
              <a:rPr lang="en-US" sz="2000" b="1" dirty="0">
                <a:solidFill>
                  <a:srgbClr val="8F5E08"/>
                </a:solidFill>
                <a:latin typeface="Poppins" pitchFamily="34" charset="0"/>
                <a:ea typeface="Poppins" pitchFamily="34" charset="-122"/>
                <a:cs typeface="Poppins" pitchFamily="34" charset="-120"/>
              </a:rPr>
              <a:t>P</a:t>
            </a:r>
            <a:endParaRPr lang="en-US" sz="2000" dirty="0"/>
          </a:p>
        </p:txBody>
      </p:sp>
      <p:sp>
        <p:nvSpPr>
          <p:cNvPr id="17" name="Text 15"/>
          <p:cNvSpPr/>
          <p:nvPr/>
        </p:nvSpPr>
        <p:spPr>
          <a:xfrm>
            <a:off x="1737360" y="5387340"/>
            <a:ext cx="9539935" cy="335280"/>
          </a:xfrm>
          <a:prstGeom prst="rect">
            <a:avLst/>
          </a:prstGeom>
          <a:noFill/>
          <a:ln/>
        </p:spPr>
        <p:txBody>
          <a:bodyPr wrap="square" lIns="0" tIns="0" rIns="0" bIns="0" rtlCol="0" anchor="t">
            <a:normAutofit/>
          </a:bodyPr>
          <a:lstStyle/>
          <a:p>
            <a:pPr indent="0" marL="0">
              <a:lnSpc>
                <a:spcPts val="2280"/>
              </a:lnSpc>
              <a:buNone/>
            </a:pPr>
            <a:r>
              <a:rPr lang="en-US" sz="1900" b="1" dirty="0">
                <a:solidFill>
                  <a:srgbClr val="003366"/>
                </a:solidFill>
                <a:latin typeface="Poppins" pitchFamily="34" charset="0"/>
                <a:ea typeface="Poppins" pitchFamily="34" charset="-122"/>
                <a:cs typeface="Poppins" pitchFamily="34" charset="-120"/>
              </a:rPr>
              <a:t>Personnel and HR data</a:t>
            </a:r>
            <a:endParaRPr lang="en-US" sz="1900" dirty="0"/>
          </a:p>
        </p:txBody>
      </p:sp>
      <p:sp>
        <p:nvSpPr>
          <p:cNvPr id="18" name="Text 16"/>
          <p:cNvSpPr/>
          <p:nvPr/>
        </p:nvSpPr>
        <p:spPr>
          <a:xfrm>
            <a:off x="1737360" y="5722620"/>
            <a:ext cx="9082735" cy="312420"/>
          </a:xfrm>
          <a:prstGeom prst="rect">
            <a:avLst/>
          </a:prstGeom>
          <a:noFill/>
          <a:ln/>
        </p:spPr>
        <p:txBody>
          <a:bodyPr wrap="square" lIns="0" tIns="0" rIns="0" bIns="0" rtlCol="0" anchor="t">
            <a:normAutofit/>
          </a:bodyPr>
          <a:lstStyle/>
          <a:p>
            <a:pPr indent="0" marL="0">
              <a:lnSpc>
                <a:spcPts val="2100"/>
              </a:lnSpc>
              <a:buNone/>
            </a:pPr>
            <a:r>
              <a:rPr lang="en-US" sz="1500" dirty="0">
                <a:solidFill>
                  <a:srgbClr val="68737F"/>
                </a:solidFill>
                <a:latin typeface="Calibri" pitchFamily="34" charset="0"/>
                <a:ea typeface="Calibri" pitchFamily="34" charset="-122"/>
                <a:cs typeface="Calibri" pitchFamily="34" charset="-120"/>
              </a:rPr>
              <a:t>Not FERPA, still sensitive. Student-employee records ARE education records.</a:t>
            </a:r>
            <a:endParaRPr lang="en-US" sz="15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
          <p:cNvSpPr txBox="1"/>
          <p:nvPr/>
        </p:nvSpPr>
        <p:spPr>
          <a:xfrm>
            <a:off x="914400" y="640080"/>
            <a:ext cx="10362895" cy="274320"/>
          </a:xfrm>
          <a:prstGeom prst="rect">
            <a:avLst/>
          </a:prstGeom>
          <a:noFill/>
        </p:spPr>
        <p:txBody>
          <a:bodyPr wrap="square" lIns="0" tIns="0" rIns="0" bIns="0" rtlCol="0" anchor="ctr">
            <a:normAutofit/>
          </a:bodyPr>
          <a:lstStyle/>
          <a:p>
            <a:pPr indent="0" marL="0">
              <a:buNone/>
            </a:pPr>
            <a:r>
              <a:rPr lang="en-US" sz="1150" b="1" spc="260" dirty="0">
                <a:solidFill>
                  <a:srgbClr val="FF6600"/>
                </a:solidFill>
                <a:latin typeface="Calibri" pitchFamily="34" charset="0"/>
                <a:ea typeface="Calibri" pitchFamily="34" charset="-122"/>
                <a:cs typeface="Calibri" pitchFamily="34" charset="-120"/>
              </a:rPr>
              <a:t xml:space="preserve">THE ONE WITH TEETH</a:t>
            </a:r>
          </a:p>
        </p:txBody>
      </p:sp>
      <p:sp>
        <p:nvSpPr>
          <p:cNvPr id="3" name="Title"/>
          <p:cNvSpPr txBox="1"/>
          <p:nvPr/>
        </p:nvSpPr>
        <p:spPr>
          <a:xfrm>
            <a:off x="914400" y="960120"/>
            <a:ext cx="10362895" cy="685800"/>
          </a:xfrm>
          <a:prstGeom prst="rect">
            <a:avLst/>
          </a:prstGeom>
          <a:noFill/>
        </p:spPr>
        <p:txBody>
          <a:bodyPr wrap="square" lIns="0" tIns="0" rIns="0" bIns="0" rtlCol="0" anchor="t">
            <a:normAutofit/>
          </a:bodyPr>
          <a:lstStyle/>
          <a:p>
            <a:pPr indent="0" marL="0">
              <a:buNone/>
            </a:pPr>
            <a:r>
              <a:rPr lang="en-US" sz="3600" b="1" dirty="0">
                <a:solidFill>
                  <a:srgbClr val="FF6600"/>
                </a:solidFill>
                <a:latin typeface="Poppins" pitchFamily="34" charset="0"/>
                <a:ea typeface="Poppins" pitchFamily="34" charset="-122"/>
                <a:cs typeface="Poppins" pitchFamily="34" charset="-120"/>
              </a:rPr>
              <a:t xml:space="preserve">GLBA</a:t>
            </a:r>
            <a:r>
              <a:rPr lang="en-US" sz="3600" b="1" dirty="0">
                <a:solidFill>
                  <a:srgbClr val="FFFFFF"/>
                </a:solidFill>
                <a:latin typeface="Poppins" pitchFamily="34" charset="0"/>
                <a:ea typeface="Poppins" pitchFamily="34" charset="-122"/>
                <a:cs typeface="Poppins" pitchFamily="34" charset="-120"/>
              </a:rPr>
              <a:t xml:space="preserve">: the Gramm-Leach-Bliley Act</a:t>
            </a:r>
          </a:p>
        </p:txBody>
      </p:sp>
      <p:sp>
        <p:nvSpPr>
          <p:cNvPr id="4" name="Lede"/>
          <p:cNvSpPr txBox="1"/>
          <p:nvPr/>
        </p:nvSpPr>
        <p:spPr>
          <a:xfrm>
            <a:off x="914400" y="1737360"/>
            <a:ext cx="9601200" cy="640080"/>
          </a:xfrm>
          <a:prstGeom prst="rect">
            <a:avLst/>
          </a:prstGeom>
          <a:noFill/>
        </p:spPr>
        <p:txBody>
          <a:bodyPr wrap="square" lIns="0" tIns="0" rIns="0" bIns="0" rtlCol="0" anchor="t">
            <a:normAutofit/>
          </a:bodyPr>
          <a:lstStyle/>
          <a:p>
            <a:pPr indent="0" marL="0">
              <a:lnSpc>
                <a:spcPct val="110000"/>
              </a:lnSpc>
              <a:buNone/>
            </a:pPr>
            <a:r>
              <a:rPr lang="en-US" sz="1800" dirty="0">
                <a:solidFill>
                  <a:srgbClr val="B4C2D2"/>
                </a:solidFill>
                <a:latin typeface="Calibri" pitchFamily="34" charset="0"/>
                <a:ea typeface="Calibri" pitchFamily="34" charset="-122"/>
                <a:cs typeface="Calibri" pitchFamily="34" charset="-120"/>
              </a:rPr>
              <a:t xml:space="preserve">A federal law from 1999 that protects people's </a:t>
            </a:r>
            <a:r>
              <a:rPr lang="en-US" sz="1800" b="1" dirty="0">
                <a:solidFill>
                  <a:srgbClr val="FFFFFF"/>
                </a:solidFill>
                <a:latin typeface="Calibri" pitchFamily="34" charset="0"/>
                <a:ea typeface="Calibri" pitchFamily="34" charset="-122"/>
                <a:cs typeface="Calibri" pitchFamily="34" charset="-120"/>
              </a:rPr>
              <a:t xml:space="preserve">financial information</a:t>
            </a:r>
            <a:r>
              <a:rPr lang="en-US" sz="1800" dirty="0">
                <a:solidFill>
                  <a:srgbClr val="B4C2D2"/>
                </a:solidFill>
                <a:latin typeface="Calibri" pitchFamily="34" charset="0"/>
                <a:ea typeface="Calibri" pitchFamily="34" charset="-122"/>
                <a:cs typeface="Calibri" pitchFamily="34" charset="-120"/>
              </a:rPr>
              <a:t xml:space="preserve">. It applies to MCC because we handle </a:t>
            </a:r>
            <a:r>
              <a:rPr lang="en-US" sz="1800" b="1" dirty="0">
                <a:solidFill>
                  <a:srgbClr val="FFFFFF"/>
                </a:solidFill>
                <a:latin typeface="Calibri" pitchFamily="34" charset="0"/>
                <a:ea typeface="Calibri" pitchFamily="34" charset="-122"/>
                <a:cs typeface="Calibri" pitchFamily="34" charset="-120"/>
              </a:rPr>
              <a:t xml:space="preserve">federal student aid</a:t>
            </a:r>
            <a:r>
              <a:rPr lang="en-US" sz="1800" dirty="0">
                <a:solidFill>
                  <a:srgbClr val="B4C2D2"/>
                </a:solidFill>
                <a:latin typeface="Calibri" pitchFamily="34" charset="0"/>
                <a:ea typeface="Calibri" pitchFamily="34" charset="-122"/>
                <a:cs typeface="Calibri" pitchFamily="34" charset="-120"/>
              </a:rPr>
              <a:t xml:space="preserve">.</a:t>
            </a:r>
          </a:p>
        </p:txBody>
      </p:sp>
      <p:sp>
        <p:nvSpPr>
          <p:cNvPr id="5" name="Panel: what it covers"/>
          <p:cNvSpPr/>
          <p:nvPr/>
        </p:nvSpPr>
        <p:spPr>
          <a:xfrm>
            <a:off x="914400" y="2468880"/>
            <a:ext cx="3271418" cy="2240280"/>
          </a:xfrm>
          <a:prstGeom prst="roundRect">
            <a:avLst>
              <a:gd name="adj" fmla="val 6000"/>
            </a:avLst>
          </a:prstGeom>
          <a:solidFill>
            <a:srgbClr val="12263E"/>
          </a:solidFill>
          <a:ln>
            <a:noFill/>
          </a:ln>
        </p:spPr>
        <p:txBody>
          <a:bodyPr wrap="square" lIns="182880" tIns="182880" rIns="182880" bIns="182880" rtlCol="0" anchor="t">
            <a:normAutofit/>
          </a:bodyPr>
          <a:lstStyle/>
          <a:p>
            <a:pPr indent="0" marL="0">
              <a:spcAft>
                <a:spcPts val="600"/>
              </a:spcAft>
              <a:buNone/>
            </a:pPr>
            <a:r>
              <a:rPr lang="en-US" sz="1050" b="1" spc="200" dirty="0">
                <a:solidFill>
                  <a:srgbClr val="1FB3CC"/>
                </a:solidFill>
                <a:latin typeface="Calibri" pitchFamily="34" charset="0"/>
                <a:ea typeface="Calibri" pitchFamily="34" charset="-122"/>
                <a:cs typeface="Calibri" pitchFamily="34" charset="-120"/>
              </a:rPr>
              <a:t xml:space="preserve">WHAT IT COVERS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FAFSA data and ISIRs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Tax and income information</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Social Security numbers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Bank and routing numbers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Verification documents</a:t>
            </a:r>
          </a:p>
          <a:p>
            <a:pPr marL="182880" indent="-182880">
              <a:spcAft>
                <a:spcPts val="200"/>
              </a:spcAft>
              <a:buFont typeface="Arial"/>
              <a:buChar char="•"/>
            </a:pPr>
            <a:r>
              <a:rPr lang="en-US" sz="1300" dirty="0">
                <a:solidFill>
                  <a:srgbClr val="B4C2D2"/>
                </a:solidFill>
                <a:latin typeface="Calibri" pitchFamily="34" charset="0"/>
                <a:ea typeface="Calibri" pitchFamily="34" charset="-122"/>
                <a:cs typeface="Calibri" pitchFamily="34" charset="-120"/>
              </a:rPr>
              <a:t xml:space="preserve">Hardship stories in aid appeals</a:t>
            </a:r>
          </a:p>
        </p:txBody>
      </p:sp>
      <p:sp>
        <p:nvSpPr>
          <p:cNvPr id="6" name="Panel: what it requires"/>
          <p:cNvSpPr/>
          <p:nvPr/>
        </p:nvSpPr>
        <p:spPr>
          <a:xfrm>
            <a:off x="4460138" y="2468880"/>
            <a:ext cx="3271418" cy="2240280"/>
          </a:xfrm>
          <a:prstGeom prst="roundRect">
            <a:avLst>
              <a:gd name="adj" fmla="val 6000"/>
            </a:avLst>
          </a:prstGeom>
          <a:solidFill>
            <a:srgbClr val="12263E"/>
          </a:solidFill>
          <a:ln>
            <a:noFill/>
          </a:ln>
        </p:spPr>
        <p:txBody>
          <a:bodyPr wrap="square" lIns="182880" tIns="182880" rIns="182880" bIns="182880" rtlCol="0" anchor="t">
            <a:normAutofit/>
          </a:bodyPr>
          <a:lstStyle/>
          <a:p>
            <a:pPr indent="0" marL="0">
              <a:spcAft>
                <a:spcPts val="600"/>
              </a:spcAft>
              <a:buNone/>
            </a:pPr>
            <a:r>
              <a:rPr lang="en-US" sz="1050" b="1" spc="200" dirty="0">
                <a:solidFill>
                  <a:srgbClr val="1FB3CC"/>
                </a:solidFill>
                <a:latin typeface="Calibri" pitchFamily="34" charset="0"/>
                <a:ea typeface="Calibri" pitchFamily="34" charset="-122"/>
                <a:cs typeface="Calibri" pitchFamily="34" charset="-120"/>
              </a:rPr>
              <a:t xml:space="preserve">WHAT IT REQUIRES</a:t>
            </a:r>
          </a:p>
          <a:p>
            <a:pPr indent="0" marL="0">
              <a:lnSpc>
                <a:spcPct val="110000"/>
              </a:lnSpc>
              <a:spcAft>
                <a:spcPts val="900"/>
              </a:spcAft>
              <a:buNone/>
            </a:pPr>
            <a:r>
              <a:rPr lang="en-US" sz="1400" dirty="0">
                <a:solidFill>
                  <a:srgbClr val="B4C2D2"/>
                </a:solidFill>
                <a:latin typeface="Calibri" pitchFamily="34" charset="0"/>
                <a:ea typeface="Calibri" pitchFamily="34" charset="-122"/>
                <a:cs typeface="Calibri" pitchFamily="34" charset="-120"/>
              </a:rPr>
              <a:t xml:space="preserve">A </a:t>
            </a:r>
            <a:r>
              <a:rPr lang="en-US" sz="1400" b="1" dirty="0">
                <a:solidFill>
                  <a:srgbClr val="FFFFFF"/>
                </a:solidFill>
                <a:latin typeface="Calibri" pitchFamily="34" charset="0"/>
                <a:ea typeface="Calibri" pitchFamily="34" charset="-122"/>
                <a:cs typeface="Calibri" pitchFamily="34" charset="-120"/>
              </a:rPr>
              <a:t xml:space="preserve">written security program</a:t>
            </a:r>
            <a:r>
              <a:rPr lang="en-US" sz="1400" dirty="0">
                <a:solidFill>
                  <a:srgbClr val="B4C2D2"/>
                </a:solidFill>
                <a:latin typeface="Calibri" pitchFamily="34" charset="0"/>
                <a:ea typeface="Calibri" pitchFamily="34" charset="-122"/>
                <a:cs typeface="Calibri" pitchFamily="34" charset="-120"/>
              </a:rPr>
              <a:t xml:space="preserve"> for that information, and </a:t>
            </a:r>
            <a:r>
              <a:rPr lang="en-US" sz="1400" b="1" dirty="0">
                <a:solidFill>
                  <a:srgbClr val="FFFFFF"/>
                </a:solidFill>
                <a:latin typeface="Calibri" pitchFamily="34" charset="0"/>
                <a:ea typeface="Calibri" pitchFamily="34" charset="-122"/>
                <a:cs typeface="Calibri" pitchFamily="34" charset="-120"/>
              </a:rPr>
              <a:t xml:space="preserve">oversight of every outside company</a:t>
            </a:r>
            <a:r>
              <a:rPr lang="en-US" sz="1400" dirty="0">
                <a:solidFill>
                  <a:srgbClr val="B4C2D2"/>
                </a:solidFill>
                <a:latin typeface="Calibri" pitchFamily="34" charset="0"/>
                <a:ea typeface="Calibri" pitchFamily="34" charset="-122"/>
                <a:cs typeface="Calibri" pitchFamily="34" charset="-120"/>
              </a:rPr>
              <a:t xml:space="preserve"> that handles it.</a:t>
            </a:r>
          </a:p>
          <a:p>
            <a:pPr indent="0" marL="0">
              <a:buNone/>
            </a:pPr>
            <a:r>
              <a:rPr lang="en-US" sz="1000" dirty="0">
                <a:solidFill>
                  <a:srgbClr val="7F92A8"/>
                </a:solidFill>
                <a:latin typeface="Calibri" pitchFamily="34" charset="0"/>
                <a:ea typeface="Calibri" pitchFamily="34" charset="-122"/>
                <a:cs typeface="Calibri" pitchFamily="34" charset="-120"/>
              </a:rPr>
              <a:t xml:space="preserve">FTC Safeguards Rule, 16 CFR Part 314 · updated rule fully enforceable since June 9, 2023</a:t>
            </a:r>
          </a:p>
        </p:txBody>
      </p:sp>
      <p:sp>
        <p:nvSpPr>
          <p:cNvPr id="7" name="Panel: where AI comes in"/>
          <p:cNvSpPr/>
          <p:nvPr/>
        </p:nvSpPr>
        <p:spPr>
          <a:xfrm>
            <a:off x="8005876" y="2468880"/>
            <a:ext cx="3271418" cy="2240280"/>
          </a:xfrm>
          <a:prstGeom prst="roundRect">
            <a:avLst>
              <a:gd name="adj" fmla="val 6000"/>
            </a:avLst>
          </a:prstGeom>
          <a:solidFill>
            <a:srgbClr val="12263E"/>
          </a:solidFill>
          <a:ln>
            <a:noFill/>
          </a:ln>
        </p:spPr>
        <p:txBody>
          <a:bodyPr wrap="square" lIns="182880" tIns="182880" rIns="182880" bIns="182880" rtlCol="0" anchor="t">
            <a:normAutofit/>
          </a:bodyPr>
          <a:lstStyle/>
          <a:p>
            <a:pPr indent="0" marL="0">
              <a:spcAft>
                <a:spcPts val="600"/>
              </a:spcAft>
              <a:buNone/>
            </a:pPr>
            <a:r>
              <a:rPr lang="en-US" sz="1050" b="1" spc="200" dirty="0">
                <a:solidFill>
                  <a:srgbClr val="1FB3CC"/>
                </a:solidFill>
                <a:latin typeface="Calibri" pitchFamily="34" charset="0"/>
                <a:ea typeface="Calibri" pitchFamily="34" charset="-122"/>
                <a:cs typeface="Calibri" pitchFamily="34" charset="-120"/>
              </a:rPr>
              <a:t xml:space="preserve">WHERE AI COMES IN</a:t>
            </a:r>
          </a:p>
          <a:p>
            <a:pPr indent="0" marL="0">
              <a:lnSpc>
                <a:spcPct val="110000"/>
              </a:lnSpc>
              <a:buNone/>
            </a:pPr>
            <a:r>
              <a:rPr lang="en-US" sz="1400" dirty="0">
                <a:solidFill>
                  <a:srgbClr val="B4C2D2"/>
                </a:solidFill>
                <a:latin typeface="Calibri" pitchFamily="34" charset="0"/>
                <a:ea typeface="Calibri" pitchFamily="34" charset="-122"/>
                <a:cs typeface="Calibri" pitchFamily="34" charset="-120"/>
              </a:rPr>
              <a:t xml:space="preserve">Pasting an ISIR into a free chatbot hands aid data to a company </a:t>
            </a:r>
            <a:r>
              <a:rPr lang="en-US" sz="1400" b="1" dirty="0">
                <a:solidFill>
                  <a:srgbClr val="FFFFFF"/>
                </a:solidFill>
                <a:latin typeface="Calibri" pitchFamily="34" charset="0"/>
                <a:ea typeface="Calibri" pitchFamily="34" charset="-122"/>
                <a:cs typeface="Calibri" pitchFamily="34" charset="-120"/>
              </a:rPr>
              <a:t xml:space="preserve">MCC never vetted</a:t>
            </a:r>
            <a:r>
              <a:rPr lang="en-US" sz="1400" dirty="0">
                <a:solidFill>
                  <a:srgbClr val="B4C2D2"/>
                </a:solidFill>
                <a:latin typeface="Calibri" pitchFamily="34" charset="0"/>
                <a:ea typeface="Calibri" pitchFamily="34" charset="-122"/>
                <a:cs typeface="Calibri" pitchFamily="34" charset="-120"/>
              </a:rPr>
              <a:t xml:space="preserve">. That skips the oversight the rule requires.</a:t>
            </a:r>
          </a:p>
        </p:txBody>
      </p:sp>
      <p:sp>
        <p:nvSpPr>
          <p:cNvPr id="8" name="FERPA worst case"/>
          <p:cNvSpPr txBox="1"/>
          <p:nvPr/>
        </p:nvSpPr>
        <p:spPr>
          <a:xfrm>
            <a:off x="914400" y="4937760"/>
            <a:ext cx="4998567" cy="868680"/>
          </a:xfrm>
          <a:prstGeom prst="rect">
            <a:avLst/>
          </a:prstGeom>
          <a:noFill/>
        </p:spPr>
        <p:txBody>
          <a:bodyPr wrap="square" lIns="0" tIns="0" rIns="0" bIns="0" rtlCol="0" anchor="t">
            <a:normAutofit/>
          </a:bodyPr>
          <a:lstStyle/>
          <a:p>
            <a:pPr indent="0" marL="0">
              <a:spcAft>
                <a:spcPts val="400"/>
              </a:spcAft>
              <a:buNone/>
            </a:pPr>
            <a:r>
              <a:rPr lang="en-US" sz="1000" b="1" spc="150" dirty="0">
                <a:solidFill>
                  <a:srgbClr val="7F92A8"/>
                </a:solidFill>
                <a:latin typeface="Calibri" pitchFamily="34" charset="0"/>
                <a:ea typeface="Calibri" pitchFamily="34" charset="-122"/>
                <a:cs typeface="Calibri" pitchFamily="34" charset="-120"/>
              </a:rPr>
              <a:t xml:space="preserve">FERPA · STUDENT RECORDS</a:t>
            </a:r>
          </a:p>
          <a:p>
            <a:pPr indent="0" marL="0">
              <a:buNone/>
            </a:pPr>
            <a:r>
              <a:rPr lang="en-US" sz="1800" b="1" dirty="0">
                <a:solidFill>
                  <a:srgbClr val="FFFFFF"/>
                </a:solidFill>
                <a:latin typeface="Poppins" pitchFamily="34" charset="0"/>
                <a:ea typeface="Poppins" pitchFamily="34" charset="-122"/>
                <a:cs typeface="Poppins" pitchFamily="34" charset="-120"/>
              </a:rPr>
              <a:t xml:space="preserve">Worst case: a letter from the Department of Education.</a:t>
            </a:r>
          </a:p>
        </p:txBody>
      </p:sp>
      <p:sp>
        <p:nvSpPr>
          <p:cNvPr id="9" name="GLBA worst case"/>
          <p:cNvSpPr txBox="1"/>
          <p:nvPr/>
        </p:nvSpPr>
        <p:spPr>
          <a:xfrm>
            <a:off x="6278727" y="4937760"/>
            <a:ext cx="4998567" cy="868680"/>
          </a:xfrm>
          <a:prstGeom prst="rect">
            <a:avLst/>
          </a:prstGeom>
          <a:noFill/>
        </p:spPr>
        <p:txBody>
          <a:bodyPr wrap="square" lIns="0" tIns="0" rIns="0" bIns="0" rtlCol="0" anchor="t">
            <a:normAutofit/>
          </a:bodyPr>
          <a:lstStyle/>
          <a:p>
            <a:pPr indent="0" marL="0">
              <a:spcAft>
                <a:spcPts val="400"/>
              </a:spcAft>
              <a:buNone/>
            </a:pPr>
            <a:r>
              <a:rPr lang="en-US" sz="1000" b="1" spc="150" dirty="0">
                <a:solidFill>
                  <a:srgbClr val="7F92A8"/>
                </a:solidFill>
                <a:latin typeface="Calibri" pitchFamily="34" charset="0"/>
                <a:ea typeface="Calibri" pitchFamily="34" charset="-122"/>
                <a:cs typeface="Calibri" pitchFamily="34" charset="-120"/>
              </a:rPr>
              <a:t xml:space="preserve">GLBA · FINANCIAL AID DATA</a:t>
            </a:r>
          </a:p>
          <a:p>
            <a:pPr indent="0" marL="0">
              <a:buNone/>
            </a:pPr>
            <a:r>
              <a:rPr lang="en-US" sz="1800" b="1" dirty="0">
                <a:solidFill>
                  <a:srgbClr val="FF6600"/>
                </a:solidFill>
                <a:latin typeface="Poppins" pitchFamily="34" charset="0"/>
                <a:ea typeface="Poppins" pitchFamily="34" charset="-122"/>
                <a:cs typeface="Poppins" pitchFamily="34" charset="-120"/>
              </a:rPr>
              <a:t xml:space="preserve">Worst case: our ability to give students financial aid.</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THE LINE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Green, yellow, red.</a:t>
            </a:r>
            <a:endParaRPr lang="en-US" sz="4000" dirty="0"/>
          </a:p>
        </p:txBody>
      </p:sp>
      <p:sp>
        <p:nvSpPr>
          <p:cNvPr id="4" name="Text 2"/>
          <p:cNvSpPr/>
          <p:nvPr/>
        </p:nvSpPr>
        <p:spPr>
          <a:xfrm>
            <a:off x="914400"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1A7F4B"/>
                </a:solidFill>
                <a:latin typeface="Calibri" pitchFamily="34" charset="0"/>
                <a:ea typeface="Calibri" pitchFamily="34" charset="-122"/>
                <a:cs typeface="Calibri" pitchFamily="34" charset="-120"/>
              </a:rPr>
              <a:t>GREEN — ANY TOOL</a:t>
            </a:r>
            <a:endParaRPr lang="en-US" sz="1050" dirty="0"/>
          </a:p>
        </p:txBody>
      </p:sp>
      <p:sp>
        <p:nvSpPr>
          <p:cNvPr id="5" name="Text 3"/>
          <p:cNvSpPr/>
          <p:nvPr/>
        </p:nvSpPr>
        <p:spPr>
          <a:xfrm>
            <a:off x="914400" y="3008376"/>
            <a:ext cx="3119018" cy="713232"/>
          </a:xfrm>
          <a:prstGeom prst="rect">
            <a:avLst/>
          </a:prstGeom>
          <a:noFill/>
          <a:ln/>
        </p:spPr>
        <p:txBody>
          <a:bodyPr wrap="square" lIns="0" tIns="0" rIns="0" bIns="0" rtlCol="0" anchor="t">
            <a:normAutofit/>
          </a:bodyPr>
          <a:lstStyle/>
          <a:p>
            <a:pPr indent="0" marL="0">
              <a:lnSpc>
                <a:spcPts val="2520"/>
              </a:lnSpc>
              <a:buNone/>
            </a:pPr>
            <a:r>
              <a:rPr lang="en-US" sz="2000" b="1" dirty="0">
                <a:solidFill>
                  <a:srgbClr val="003366"/>
                </a:solidFill>
                <a:latin typeface="Poppins" pitchFamily="34" charset="0"/>
                <a:ea typeface="Poppins" pitchFamily="34" charset="-122"/>
                <a:cs typeface="Poppins" pitchFamily="34" charset="-120"/>
              </a:rPr>
              <a:t>Already public</a:t>
            </a:r>
            <a:endParaRPr lang="en-US" sz="2000" dirty="0"/>
          </a:p>
        </p:txBody>
      </p:sp>
      <p:sp>
        <p:nvSpPr>
          <p:cNvPr id="6" name="Text 4"/>
          <p:cNvSpPr/>
          <p:nvPr/>
        </p:nvSpPr>
        <p:spPr>
          <a:xfrm>
            <a:off x="914400" y="3922776"/>
            <a:ext cx="3119018" cy="19293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Published catalog and marketing text. Public policy language. Generic drafting with no institutional data.</a:t>
            </a:r>
            <a:endParaRPr lang="en-US" sz="1500" dirty="0"/>
          </a:p>
        </p:txBody>
      </p:sp>
      <p:sp>
        <p:nvSpPr>
          <p:cNvPr id="7" name="Text 5"/>
          <p:cNvSpPr/>
          <p:nvPr/>
        </p:nvSpPr>
        <p:spPr>
          <a:xfrm>
            <a:off x="4536338"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8F5E08"/>
                </a:solidFill>
                <a:latin typeface="Calibri" pitchFamily="34" charset="0"/>
                <a:ea typeface="Calibri" pitchFamily="34" charset="-122"/>
                <a:cs typeface="Calibri" pitchFamily="34" charset="-120"/>
              </a:rPr>
              <a:t>YELLOW — LICENSED TOOLS</a:t>
            </a:r>
            <a:endParaRPr lang="en-US" sz="1050" dirty="0"/>
          </a:p>
        </p:txBody>
      </p:sp>
      <p:sp>
        <p:nvSpPr>
          <p:cNvPr id="8" name="Text 6"/>
          <p:cNvSpPr/>
          <p:nvPr/>
        </p:nvSpPr>
        <p:spPr>
          <a:xfrm>
            <a:off x="4536338" y="3008376"/>
            <a:ext cx="3119018" cy="713232"/>
          </a:xfrm>
          <a:prstGeom prst="rect">
            <a:avLst/>
          </a:prstGeom>
          <a:noFill/>
          <a:ln/>
        </p:spPr>
        <p:txBody>
          <a:bodyPr wrap="square" lIns="0" tIns="0" rIns="0" bIns="0" rtlCol="0" anchor="t">
            <a:normAutofit/>
          </a:bodyPr>
          <a:lstStyle/>
          <a:p>
            <a:pPr indent="0" marL="0">
              <a:lnSpc>
                <a:spcPts val="2520"/>
              </a:lnSpc>
              <a:buNone/>
            </a:pPr>
            <a:r>
              <a:rPr lang="en-US" sz="2000" b="1" dirty="0">
                <a:solidFill>
                  <a:srgbClr val="003366"/>
                </a:solidFill>
                <a:latin typeface="Poppins" pitchFamily="34" charset="0"/>
                <a:ea typeface="Poppins" pitchFamily="34" charset="-122"/>
                <a:cs typeface="Poppins" pitchFamily="34" charset="-120"/>
              </a:rPr>
              <a:t>Internal, not personal</a:t>
            </a:r>
            <a:endParaRPr lang="en-US" sz="2000" dirty="0"/>
          </a:p>
        </p:txBody>
      </p:sp>
      <p:sp>
        <p:nvSpPr>
          <p:cNvPr id="9" name="Text 7"/>
          <p:cNvSpPr/>
          <p:nvPr/>
        </p:nvSpPr>
        <p:spPr>
          <a:xfrm>
            <a:off x="4536338" y="3922776"/>
            <a:ext cx="3119018" cy="19293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Draft procedures, agendas, internal communications, planning documents, aggregate enrolment. Signed in with your MCC account.</a:t>
            </a:r>
            <a:endParaRPr lang="en-US" sz="1500" dirty="0"/>
          </a:p>
        </p:txBody>
      </p:sp>
      <p:sp>
        <p:nvSpPr>
          <p:cNvPr id="10" name="Text 8"/>
          <p:cNvSpPr/>
          <p:nvPr/>
        </p:nvSpPr>
        <p:spPr>
          <a:xfrm>
            <a:off x="8158277"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C0392B"/>
                </a:solidFill>
                <a:latin typeface="Calibri" pitchFamily="34" charset="0"/>
                <a:ea typeface="Calibri" pitchFamily="34" charset="-122"/>
                <a:cs typeface="Calibri" pitchFamily="34" charset="-120"/>
              </a:rPr>
              <a:t>RED — NO AI TOOL</a:t>
            </a:r>
            <a:endParaRPr lang="en-US" sz="1050" dirty="0"/>
          </a:p>
        </p:txBody>
      </p:sp>
      <p:sp>
        <p:nvSpPr>
          <p:cNvPr id="11" name="Text 9"/>
          <p:cNvSpPr/>
          <p:nvPr/>
        </p:nvSpPr>
        <p:spPr>
          <a:xfrm>
            <a:off x="8158277" y="3008376"/>
            <a:ext cx="3119018" cy="713232"/>
          </a:xfrm>
          <a:prstGeom prst="rect">
            <a:avLst/>
          </a:prstGeom>
          <a:noFill/>
          <a:ln/>
        </p:spPr>
        <p:txBody>
          <a:bodyPr wrap="square" lIns="0" tIns="0" rIns="0" bIns="0" rtlCol="0" anchor="t">
            <a:normAutofit/>
          </a:bodyPr>
          <a:lstStyle/>
          <a:p>
            <a:pPr indent="0" marL="0">
              <a:lnSpc>
                <a:spcPts val="2520"/>
              </a:lnSpc>
              <a:buNone/>
            </a:pPr>
            <a:r>
              <a:rPr lang="en-US" sz="2000" b="1" dirty="0">
                <a:solidFill>
                  <a:srgbClr val="003366"/>
                </a:solidFill>
                <a:latin typeface="Poppins" pitchFamily="34" charset="0"/>
                <a:ea typeface="Poppins" pitchFamily="34" charset="-122"/>
                <a:cs typeface="Poppins" pitchFamily="34" charset="-120"/>
              </a:rPr>
              <a:t>About a person</a:t>
            </a:r>
            <a:endParaRPr lang="en-US" sz="2000" dirty="0"/>
          </a:p>
        </p:txBody>
      </p:sp>
      <p:sp>
        <p:nvSpPr>
          <p:cNvPr id="12" name="Text 10"/>
          <p:cNvSpPr/>
          <p:nvPr/>
        </p:nvSpPr>
        <p:spPr>
          <a:xfrm>
            <a:off x="8158277" y="3922776"/>
            <a:ext cx="3119018" cy="1929384"/>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Student records · financial aid · health and disability · Title IX, conduct and HR · personnel files · SSNs · credentials · legal hold.</a:t>
            </a:r>
            <a:endParaRPr lang="en-US" sz="1500" dirty="0"/>
          </a:p>
        </p:txBody>
      </p:sp>
      <p:sp>
        <p:nvSpPr>
          <p:cNvPr id="13" name="Text 11"/>
          <p:cNvSpPr/>
          <p:nvPr/>
        </p:nvSpPr>
        <p:spPr>
          <a:xfrm>
            <a:off x="914400" y="5532120"/>
            <a:ext cx="4572000" cy="384048"/>
          </a:xfrm>
          <a:prstGeom prst="rect">
            <a:avLst/>
          </a:prstGeom>
          <a:noFill/>
          <a:ln/>
        </p:spPr>
        <p:txBody>
          <a:bodyPr wrap="square" lIns="0" tIns="0" rIns="0" bIns="0" rtlCol="0" anchor="ctr">
            <a:normAutofit/>
          </a:bodyPr>
          <a:lstStyle/>
          <a:p>
            <a:pPr indent="0" marL="0">
              <a:buNone/>
            </a:pPr>
            <a:r>
              <a:rPr lang="en-US" sz="2000" b="1" dirty="0">
                <a:solidFill>
                  <a:srgbClr val="003366"/>
                </a:solidFill>
                <a:latin typeface="Poppins" pitchFamily="34" charset="0"/>
                <a:ea typeface="Poppins" pitchFamily="34" charset="-122"/>
                <a:cs typeface="Poppins" pitchFamily="34" charset="-120"/>
              </a:rPr>
              <a:t>When in doubt, it is red.</a:t>
            </a:r>
            <a:endParaRPr lang="en-US" sz="2000" dirty="0"/>
          </a:p>
        </p:txBody>
      </p:sp>
      <p:sp>
        <p:nvSpPr>
          <p:cNvPr id="41" name="Sort it yourself button" descr="Opens the sorting game in a browser">
            <a:hlinkClick r:id="rId3" tooltip="Open the sorting game"/>
          </p:cNvPr>
          <p:cNvSpPr/>
          <p:nvPr/>
        </p:nvSpPr>
        <p:spPr>
          <a:xfrm>
            <a:off x="8580135" y="5472684"/>
            <a:ext cx="2697160" cy="502920"/>
          </a:xfrm>
          <a:prstGeom prst="roundRect">
            <a:avLst>
              <a:gd name="adj" fmla="val 50000"/>
            </a:avLst>
          </a:prstGeom>
          <a:solidFill>
            <a:srgbClr val="FF6600"/>
          </a:solidFill>
          <a:ln>
            <a:noFill/>
          </a:ln>
        </p:spPr>
        <p:txBody>
          <a:bodyPr wrap="none" lIns="182880" tIns="0" rIns="182880" bIns="0" rtlCol="0" anchor="ctr">
            <a:noAutofit/>
          </a:bodyPr>
          <a:lstStyle/>
          <a:p>
            <a:pPr algn="ctr" indent="0" marL="0">
              <a:buNone/>
            </a:pPr>
            <a:r>
              <a:rPr lang="en-US" sz="1600" b="1" dirty="0">
                <a:solidFill>
                  <a:srgbClr val="FFFFFF"/>
                </a:solidFill>
                <a:latin typeface="Poppins" pitchFamily="34" charset="0"/>
                <a:ea typeface="Poppins" pitchFamily="34" charset="-122"/>
                <a:cs typeface="Poppins" pitchFamily="34" charset="-120"/>
              </a:rPr>
              <a:t xml:space="preserve">Sort it yourself  →</a:t>
            </a:r>
          </a:p>
        </p:txBody>
      </p:sp>
      <p:sp>
        <p:nvSpPr>
          <p:cNvPr id="42" name="Sort it yourself caption"/>
          <p:cNvSpPr txBox="1"/>
          <p:nvPr/>
        </p:nvSpPr>
        <p:spPr>
          <a:xfrm>
            <a:off x="4937760" y="5472684"/>
            <a:ext cx="3459480" cy="502920"/>
          </a:xfrm>
          <a:prstGeom prst="rect">
            <a:avLst/>
          </a:prstGeom>
          <a:noFill/>
        </p:spPr>
        <p:txBody>
          <a:bodyPr wrap="square" lIns="0" tIns="0" rIns="0" bIns="0" rtlCol="0" anchor="ctr">
            <a:normAutofit/>
          </a:bodyPr>
          <a:lstStyle/>
          <a:p>
            <a:pPr algn="r" indent="0" marL="0">
              <a:buNone/>
            </a:pPr>
            <a:r>
              <a:rPr lang="en-US" sz="1100" dirty="0">
                <a:solidFill>
                  <a:srgbClr val="8A939E"/>
                </a:solidFill>
                <a:latin typeface="Calibri" pitchFamily="34" charset="0"/>
                <a:ea typeface="Calibri" pitchFamily="34" charset="-122"/>
                <a:cs typeface="Calibri" pitchFamily="34" charset="-120"/>
              </a:rPr>
              <a:t xml:space="preserve">12 real situations · about 6 minutes</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BEHAVIOUR ONE</a:t>
            </a:r>
            <a:endParaRPr lang="en-US" sz="1150" dirty="0"/>
          </a:p>
        </p:txBody>
      </p:sp>
      <p:sp>
        <p:nvSpPr>
          <p:cNvPr id="3" name="Text 1"/>
          <p:cNvSpPr/>
          <p:nvPr/>
        </p:nvSpPr>
        <p:spPr>
          <a:xfrm>
            <a:off x="914400" y="1463040"/>
            <a:ext cx="9814255" cy="2385568"/>
          </a:xfrm>
          <a:prstGeom prst="rect">
            <a:avLst/>
          </a:prstGeom>
          <a:noFill/>
          <a:ln/>
        </p:spPr>
        <p:txBody>
          <a:bodyPr wrap="square" lIns="0" tIns="0" rIns="0" bIns="0" rtlCol="0" anchor="t">
            <a:normAutofit/>
          </a:bodyPr>
          <a:lstStyle/>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If you did not sign in</a:t>
            </a:r>
            <a:endParaRPr lang="en-US" sz="3800" dirty="0"/>
          </a:p>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with your MCC account,</a:t>
            </a:r>
            <a:endParaRPr lang="en-US" sz="3800" dirty="0"/>
          </a:p>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treat it as publishing</a:t>
            </a:r>
            <a:endParaRPr lang="en-US" sz="3800" dirty="0"/>
          </a:p>
          <a:p>
            <a:pPr indent="0" marL="0">
              <a:lnSpc>
                <a:spcPts val="4408"/>
              </a:lnSpc>
              <a:buNone/>
            </a:pPr>
            <a:r>
              <a:rPr lang="en-US" sz="3800" b="1" dirty="0">
                <a:solidFill>
                  <a:srgbClr val="FFFFFF"/>
                </a:solidFill>
                <a:latin typeface="Poppins" pitchFamily="34" charset="0"/>
                <a:ea typeface="Poppins" pitchFamily="34" charset="-122"/>
                <a:cs typeface="Poppins" pitchFamily="34" charset="-120"/>
              </a:rPr>
              <a:t>to the open internet.</a:t>
            </a:r>
            <a:endParaRPr lang="en-US" sz="3800" dirty="0"/>
          </a:p>
        </p:txBody>
      </p:sp>
      <p:sp>
        <p:nvSpPr>
          <p:cNvPr id="4" name="Text 2"/>
          <p:cNvSpPr/>
          <p:nvPr/>
        </p:nvSpPr>
        <p:spPr>
          <a:xfrm>
            <a:off x="914400" y="5029200"/>
            <a:ext cx="9082735" cy="822960"/>
          </a:xfrm>
          <a:prstGeom prst="rect">
            <a:avLst/>
          </a:prstGeom>
          <a:noFill/>
          <a:ln/>
        </p:spPr>
        <p:txBody>
          <a:bodyPr wrap="square" lIns="0" tIns="0" rIns="0" bIns="0" rtlCol="0" anchor="t">
            <a:normAutofit/>
          </a:bodyPr>
          <a:lstStyle/>
          <a:p>
            <a:pPr indent="0" marL="0">
              <a:lnSpc>
                <a:spcPts val="2600"/>
              </a:lnSpc>
              <a:buNone/>
            </a:pPr>
            <a:r>
              <a:rPr lang="en-US" sz="1800" dirty="0">
                <a:solidFill>
                  <a:srgbClr val="B7CDE0"/>
                </a:solidFill>
                <a:latin typeface="Calibri" pitchFamily="34" charset="0"/>
                <a:ea typeface="Calibri" pitchFamily="34" charset="-122"/>
                <a:cs typeface="Calibri" pitchFamily="34" charset="-120"/>
              </a:rPr>
              <a:t>The distinction is never the brand. It is the contract — and protection attaches to the authenticated session, not the logo on the page.</a:t>
            </a:r>
            <a:endParaRPr lang="en-US" sz="18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82A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BEHAVIOUR TWO</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AI notetakers.</a:t>
            </a:r>
            <a:endParaRPr lang="en-US" sz="4000" dirty="0"/>
          </a:p>
        </p:txBody>
      </p:sp>
      <p:sp>
        <p:nvSpPr>
          <p:cNvPr id="4" name="Text 2"/>
          <p:cNvSpPr/>
          <p:nvPr/>
        </p:nvSpPr>
        <p:spPr>
          <a:xfrm>
            <a:off x="914400" y="2331720"/>
            <a:ext cx="8899855" cy="1234440"/>
          </a:xfrm>
          <a:prstGeom prst="rect">
            <a:avLst/>
          </a:prstGeom>
          <a:noFill/>
          <a:ln/>
        </p:spPr>
        <p:txBody>
          <a:bodyPr wrap="square" lIns="0" tIns="0" rIns="0" bIns="0" rtlCol="0" anchor="t">
            <a:normAutofit/>
          </a:bodyPr>
          <a:lstStyle/>
          <a:p>
            <a:pPr indent="0" marL="0">
              <a:lnSpc>
                <a:spcPts val="2698"/>
              </a:lnSpc>
              <a:buNone/>
            </a:pPr>
            <a:r>
              <a:rPr lang="en-US" sz="1900" dirty="0">
                <a:solidFill>
                  <a:srgbClr val="68737F"/>
                </a:solidFill>
                <a:latin typeface="Calibri" pitchFamily="34" charset="0"/>
                <a:ea typeface="Calibri" pitchFamily="34" charset="-122"/>
                <a:cs typeface="Calibri" pitchFamily="34" charset="-120"/>
              </a:rPr>
              <a:t>Otter. Teams recap. Zoom AI Companion. Read.ai. Anything that joins a meeting and starts transcribing.</a:t>
            </a:r>
            <a:endParaRPr lang="en-US" sz="1900" dirty="0"/>
          </a:p>
        </p:txBody>
      </p:sp>
      <p:sp>
        <p:nvSpPr>
          <p:cNvPr id="5" name="Text 3"/>
          <p:cNvSpPr/>
          <p:nvPr/>
        </p:nvSpPr>
        <p:spPr>
          <a:xfrm>
            <a:off x="914400" y="3291840"/>
            <a:ext cx="9448495" cy="1005840"/>
          </a:xfrm>
          <a:prstGeom prst="rect">
            <a:avLst/>
          </a:prstGeom>
          <a:noFill/>
          <a:ln/>
        </p:spPr>
        <p:txBody>
          <a:bodyPr wrap="square" lIns="0" tIns="0" rIns="0" bIns="0" rtlCol="0" anchor="t">
            <a:normAutofit/>
          </a:bodyPr>
          <a:lstStyle/>
          <a:p>
            <a:pPr indent="0" marL="0">
              <a:lnSpc>
                <a:spcPts val="3600"/>
              </a:lnSpc>
              <a:buNone/>
            </a:pPr>
            <a:r>
              <a:rPr lang="en-US" sz="2700" b="1" dirty="0">
                <a:solidFill>
                  <a:srgbClr val="C0392B"/>
                </a:solidFill>
                <a:latin typeface="Poppins" pitchFamily="34" charset="0"/>
                <a:ea typeface="Poppins" pitchFamily="34" charset="-122"/>
                <a:cs typeface="Poppins" pitchFamily="34" charset="-120"/>
              </a:rPr>
              <a:t>Never in an advising, counseling, Title IX, conduct, HR investigation or grievance meeting.</a:t>
            </a:r>
            <a:endParaRPr lang="en-US" sz="2700" dirty="0"/>
          </a:p>
        </p:txBody>
      </p:sp>
      <p:sp>
        <p:nvSpPr>
          <p:cNvPr id="6" name="Text 4"/>
          <p:cNvSpPr/>
          <p:nvPr/>
        </p:nvSpPr>
        <p:spPr>
          <a:xfrm>
            <a:off x="914400" y="4407408"/>
            <a:ext cx="8899855" cy="548640"/>
          </a:xfrm>
          <a:prstGeom prst="rect">
            <a:avLst/>
          </a:prstGeom>
          <a:noFill/>
          <a:ln/>
        </p:spPr>
        <p:txBody>
          <a:bodyPr wrap="square" lIns="0" tIns="0" rIns="0" bIns="0" rtlCol="0" anchor="ctr">
            <a:normAutofit/>
          </a:bodyPr>
          <a:lstStyle/>
          <a:p>
            <a:pPr indent="0" marL="0">
              <a:lnSpc>
                <a:spcPts val="2500"/>
              </a:lnSpc>
              <a:buNone/>
            </a:pPr>
            <a:r>
              <a:rPr lang="en-US" sz="1700" dirty="0">
                <a:solidFill>
                  <a:srgbClr val="68737F"/>
                </a:solidFill>
                <a:latin typeface="Calibri" pitchFamily="34" charset="0"/>
                <a:ea typeface="Calibri" pitchFamily="34" charset="-122"/>
                <a:cs typeface="Calibri" pitchFamily="34" charset="-120"/>
              </a:rPr>
              <a:t>No exceptions without written authorization from the Title IX Coordinator or General Counsel.</a:t>
            </a:r>
            <a:endParaRPr lang="en-US" sz="1700" dirty="0"/>
          </a:p>
        </p:txBody>
      </p:sp>
      <p:sp>
        <p:nvSpPr>
          <p:cNvPr id="7" name="Text 5"/>
          <p:cNvSpPr/>
          <p:nvPr/>
        </p:nvSpPr>
        <p:spPr>
          <a:xfrm>
            <a:off x="914400" y="5120640"/>
            <a:ext cx="8899855" cy="731520"/>
          </a:xfrm>
          <a:prstGeom prst="rect">
            <a:avLst/>
          </a:prstGeom>
          <a:noFill/>
          <a:ln/>
        </p:spPr>
        <p:txBody>
          <a:bodyPr wrap="square" lIns="0" tIns="0" rIns="0" bIns="0" rtlCol="0" anchor="t">
            <a:normAutofit/>
          </a:bodyPr>
          <a:lstStyle/>
          <a:p>
            <a:pPr indent="0" marL="0">
              <a:lnSpc>
                <a:spcPts val="2400"/>
              </a:lnSpc>
              <a:buNone/>
            </a:pPr>
            <a:r>
              <a:rPr lang="en-US" sz="1600" dirty="0">
                <a:solidFill>
                  <a:srgbClr val="7A8794"/>
                </a:solidFill>
                <a:latin typeface="Calibri" pitchFamily="34" charset="0"/>
                <a:ea typeface="Calibri" pitchFamily="34" charset="-122"/>
                <a:cs typeface="Calibri" pitchFamily="34" charset="-120"/>
              </a:rPr>
              <a:t>It is the highest-frequency accidental disclosure in higher education right now — because it attaches without anyone deciding to use it.</a:t>
            </a:r>
            <a:endParaRPr lang="en-US" sz="16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FF6600"/>
                </a:solidFill>
                <a:latin typeface="Calibri" pitchFamily="34" charset="0"/>
                <a:ea typeface="Calibri" pitchFamily="34" charset="-122"/>
                <a:cs typeface="Calibri" pitchFamily="34" charset="-120"/>
              </a:rPr>
              <a:t>TEXAS</a:t>
            </a:r>
            <a:endParaRPr lang="en-US" sz="1150" dirty="0"/>
          </a:p>
        </p:txBody>
      </p:sp>
      <p:sp>
        <p:nvSpPr>
          <p:cNvPr id="3" name="Text 1"/>
          <p:cNvSpPr/>
          <p:nvPr/>
        </p:nvSpPr>
        <p:spPr>
          <a:xfrm>
            <a:off x="914400" y="1078992"/>
            <a:ext cx="10362895" cy="12964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Your prompts are</a:t>
            </a:r>
            <a:endParaRPr lang="en-US" sz="4000" dirty="0"/>
          </a:p>
          <a:p>
            <a:pPr indent="0" marL="0">
              <a:lnSpc>
                <a:spcPts val="4600"/>
              </a:lnSpc>
              <a:buNone/>
            </a:pPr>
            <a:r>
              <a:rPr lang="en-US" sz="4000" b="1" dirty="0">
                <a:solidFill>
                  <a:srgbClr val="FFFFFF"/>
                </a:solidFill>
                <a:latin typeface="Poppins" pitchFamily="34" charset="0"/>
                <a:ea typeface="Poppins" pitchFamily="34" charset="-122"/>
                <a:cs typeface="Poppins" pitchFamily="34" charset="-120"/>
              </a:rPr>
              <a:t>probably public records.</a:t>
            </a:r>
            <a:endParaRPr lang="en-US" sz="4000" dirty="0"/>
          </a:p>
        </p:txBody>
      </p:sp>
      <p:sp>
        <p:nvSpPr>
          <p:cNvPr id="4" name="Text 2"/>
          <p:cNvSpPr/>
          <p:nvPr/>
        </p:nvSpPr>
        <p:spPr>
          <a:xfrm>
            <a:off x="914400" y="2880360"/>
            <a:ext cx="8899855" cy="1234440"/>
          </a:xfrm>
          <a:prstGeom prst="rect">
            <a:avLst/>
          </a:prstGeom>
          <a:noFill/>
          <a:ln/>
        </p:spPr>
        <p:txBody>
          <a:bodyPr wrap="square" lIns="0" tIns="0" rIns="0" bIns="0" rtlCol="0" anchor="t">
            <a:normAutofit/>
          </a:bodyPr>
          <a:lstStyle/>
          <a:p>
            <a:pPr indent="0" marL="0">
              <a:lnSpc>
                <a:spcPts val="2698"/>
              </a:lnSpc>
              <a:buNone/>
            </a:pPr>
            <a:r>
              <a:rPr lang="en-US" sz="1900" dirty="0">
                <a:solidFill>
                  <a:srgbClr val="A7B7C9"/>
                </a:solidFill>
                <a:latin typeface="Calibri" pitchFamily="34" charset="0"/>
                <a:ea typeface="Calibri" pitchFamily="34" charset="-122"/>
                <a:cs typeface="Calibri" pitchFamily="34" charset="-120"/>
              </a:rPr>
              <a:t>MCC is a governmental body. Prompts and outputs created in the course of official business are very likely public information under Government Code Chapter 552, and subject to records retention.</a:t>
            </a:r>
            <a:endParaRPr lang="en-US" sz="1900" dirty="0"/>
          </a:p>
        </p:txBody>
      </p:sp>
      <p:sp>
        <p:nvSpPr>
          <p:cNvPr id="5" name="Text 3"/>
          <p:cNvSpPr/>
          <p:nvPr/>
        </p:nvSpPr>
        <p:spPr>
          <a:xfrm>
            <a:off x="914400" y="4343400"/>
            <a:ext cx="8899855" cy="822960"/>
          </a:xfrm>
          <a:prstGeom prst="rect">
            <a:avLst/>
          </a:prstGeom>
          <a:noFill/>
          <a:ln/>
        </p:spPr>
        <p:txBody>
          <a:bodyPr wrap="square" lIns="0" tIns="0" rIns="0" bIns="0" rtlCol="0" anchor="t">
            <a:normAutofit/>
          </a:bodyPr>
          <a:lstStyle/>
          <a:p>
            <a:pPr indent="0" marL="0">
              <a:lnSpc>
                <a:spcPts val="2600"/>
              </a:lnSpc>
              <a:buNone/>
            </a:pPr>
            <a:r>
              <a:rPr lang="en-US" sz="1800" dirty="0">
                <a:solidFill>
                  <a:srgbClr val="FF6600"/>
                </a:solidFill>
                <a:latin typeface="Calibri" pitchFamily="34" charset="0"/>
                <a:ea typeface="Calibri" pitchFamily="34" charset="-122"/>
                <a:cs typeface="Calibri" pitchFamily="34" charset="-120"/>
              </a:rPr>
              <a:t>Using a personal account does not take the record out of reach. It just makes it harder to produce — and adds a records-management problem on top.</a:t>
            </a:r>
            <a:endParaRPr lang="en-US" sz="1800" dirty="0"/>
          </a:p>
        </p:txBody>
      </p:sp>
      <p:sp>
        <p:nvSpPr>
          <p:cNvPr id="6" name="Text 4"/>
          <p:cNvSpPr/>
          <p:nvPr/>
        </p:nvSpPr>
        <p:spPr>
          <a:xfrm>
            <a:off x="914400" y="5285232"/>
            <a:ext cx="9997135" cy="786384"/>
          </a:xfrm>
          <a:prstGeom prst="rect">
            <a:avLst/>
          </a:prstGeom>
          <a:noFill/>
          <a:ln/>
        </p:spPr>
        <p:txBody>
          <a:bodyPr wrap="square" lIns="0" tIns="0" rIns="0" bIns="0" rtlCol="0" anchor="t">
            <a:normAutofit/>
          </a:bodyPr>
          <a:lstStyle/>
          <a:p>
            <a:pPr indent="0" marL="0">
              <a:lnSpc>
                <a:spcPts val="2800"/>
              </a:lnSpc>
              <a:buNone/>
            </a:pPr>
            <a:r>
              <a:rPr lang="en-US" sz="2100" b="1" dirty="0">
                <a:solidFill>
                  <a:srgbClr val="FFFFFF"/>
                </a:solidFill>
                <a:latin typeface="Poppins" pitchFamily="34" charset="0"/>
                <a:ea typeface="Poppins" pitchFamily="34" charset="-122"/>
                <a:cs typeface="Poppins" pitchFamily="34" charset="-120"/>
              </a:rPr>
              <a:t>Write every prompt as though it could be printed in the Waco Tribune-Herald.</a:t>
            </a:r>
            <a:endParaRPr lang="en-US" sz="210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914400" y="713232"/>
            <a:ext cx="10362895" cy="274320"/>
          </a:xfrm>
          <a:prstGeom prst="rect">
            <a:avLst/>
          </a:prstGeom>
          <a:noFill/>
          <a:ln/>
        </p:spPr>
        <p:txBody>
          <a:bodyPr wrap="square" lIns="0" tIns="0" rIns="0" bIns="0" rtlCol="0" anchor="ctr">
            <a:normAutofit/>
          </a:bodyPr>
          <a:lstStyle/>
          <a:p>
            <a:pPr indent="0" marL="0">
              <a:buNone/>
            </a:pPr>
            <a:r>
              <a:rPr lang="en-US" sz="1150" b="1" spc="260" kern="0" dirty="0">
                <a:solidFill>
                  <a:srgbClr val="B34A00"/>
                </a:solidFill>
                <a:latin typeface="Calibri" pitchFamily="34" charset="0"/>
                <a:ea typeface="Calibri" pitchFamily="34" charset="-122"/>
                <a:cs typeface="Calibri" pitchFamily="34" charset="-120"/>
              </a:rPr>
              <a:t>TIER ONE COMPLETE</a:t>
            </a:r>
            <a:endParaRPr lang="en-US" sz="1150" dirty="0"/>
          </a:p>
        </p:txBody>
      </p:sp>
      <p:sp>
        <p:nvSpPr>
          <p:cNvPr id="3" name="Text 1"/>
          <p:cNvSpPr/>
          <p:nvPr/>
        </p:nvSpPr>
        <p:spPr>
          <a:xfrm>
            <a:off x="914400" y="1078992"/>
            <a:ext cx="10362895" cy="712216"/>
          </a:xfrm>
          <a:prstGeom prst="rect">
            <a:avLst/>
          </a:prstGeom>
          <a:noFill/>
          <a:ln/>
        </p:spPr>
        <p:txBody>
          <a:bodyPr wrap="square" lIns="0" tIns="0" rIns="0" bIns="0" rtlCol="0" anchor="t">
            <a:normAutofit/>
          </a:bodyPr>
          <a:lstStyle/>
          <a:p>
            <a:pPr indent="0" marL="0">
              <a:lnSpc>
                <a:spcPts val="4600"/>
              </a:lnSpc>
              <a:buNone/>
            </a:pPr>
            <a:r>
              <a:rPr lang="en-US" sz="4000" b="1" dirty="0">
                <a:solidFill>
                  <a:srgbClr val="003366"/>
                </a:solidFill>
                <a:latin typeface="Poppins" pitchFamily="34" charset="0"/>
                <a:ea typeface="Poppins" pitchFamily="34" charset="-122"/>
                <a:cs typeface="Poppins" pitchFamily="34" charset="-120"/>
              </a:rPr>
              <a:t>What you are leaving with.</a:t>
            </a:r>
            <a:endParaRPr lang="en-US" sz="4000" dirty="0"/>
          </a:p>
        </p:txBody>
      </p:sp>
      <p:sp>
        <p:nvSpPr>
          <p:cNvPr id="4" name="Text 2"/>
          <p:cNvSpPr/>
          <p:nvPr/>
        </p:nvSpPr>
        <p:spPr>
          <a:xfrm>
            <a:off x="914400"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003366"/>
                </a:solidFill>
                <a:latin typeface="Calibri" pitchFamily="34" charset="0"/>
                <a:ea typeface="Calibri" pitchFamily="34" charset="-122"/>
                <a:cs typeface="Calibri" pitchFamily="34" charset="-120"/>
              </a:rPr>
              <a:t>KNOW</a:t>
            </a:r>
            <a:endParaRPr lang="en-US" sz="1050" dirty="0"/>
          </a:p>
        </p:txBody>
      </p:sp>
      <p:sp>
        <p:nvSpPr>
          <p:cNvPr id="5" name="Text 3"/>
          <p:cNvSpPr/>
          <p:nvPr/>
        </p:nvSpPr>
        <p:spPr>
          <a:xfrm>
            <a:off x="914400" y="3008376"/>
            <a:ext cx="3119018" cy="409194"/>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A mental model</a:t>
            </a:r>
            <a:endParaRPr lang="en-US" sz="2100" dirty="0"/>
          </a:p>
        </p:txBody>
      </p:sp>
      <p:sp>
        <p:nvSpPr>
          <p:cNvPr id="6" name="Text 4"/>
          <p:cNvSpPr/>
          <p:nvPr/>
        </p:nvSpPr>
        <p:spPr>
          <a:xfrm>
            <a:off x="914400" y="3618738"/>
            <a:ext cx="3119018" cy="2233422"/>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It predicts plausible text. Fluency and accuracy are separate dials. The shape of the task tells you the risk.</a:t>
            </a:r>
            <a:endParaRPr lang="en-US" sz="1500" dirty="0"/>
          </a:p>
        </p:txBody>
      </p:sp>
      <p:sp>
        <p:nvSpPr>
          <p:cNvPr id="7" name="Text 5"/>
          <p:cNvSpPr/>
          <p:nvPr/>
        </p:nvSpPr>
        <p:spPr>
          <a:xfrm>
            <a:off x="4536338"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00697A"/>
                </a:solidFill>
                <a:latin typeface="Calibri" pitchFamily="34" charset="0"/>
                <a:ea typeface="Calibri" pitchFamily="34" charset="-122"/>
                <a:cs typeface="Calibri" pitchFamily="34" charset="-120"/>
              </a:rPr>
              <a:t>DO</a:t>
            </a:r>
            <a:endParaRPr lang="en-US" sz="1050" dirty="0"/>
          </a:p>
        </p:txBody>
      </p:sp>
      <p:sp>
        <p:nvSpPr>
          <p:cNvPr id="8" name="Text 6"/>
          <p:cNvSpPr/>
          <p:nvPr/>
        </p:nvSpPr>
        <p:spPr>
          <a:xfrm>
            <a:off x="4536338" y="3008376"/>
            <a:ext cx="3119018" cy="409194"/>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Three questions</a:t>
            </a:r>
            <a:endParaRPr lang="en-US" sz="2100" dirty="0"/>
          </a:p>
        </p:txBody>
      </p:sp>
      <p:sp>
        <p:nvSpPr>
          <p:cNvPr id="9" name="Text 7"/>
          <p:cNvSpPr/>
          <p:nvPr/>
        </p:nvSpPr>
        <p:spPr>
          <a:xfrm>
            <a:off x="4536338" y="3618738"/>
            <a:ext cx="3119018" cy="2233422"/>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What would make this wrong? Where did it come from? Who is accountable? (You are.)</a:t>
            </a:r>
            <a:endParaRPr lang="en-US" sz="1500" dirty="0"/>
          </a:p>
        </p:txBody>
      </p:sp>
      <p:sp>
        <p:nvSpPr>
          <p:cNvPr id="10" name="Text 8"/>
          <p:cNvSpPr/>
          <p:nvPr/>
        </p:nvSpPr>
        <p:spPr>
          <a:xfrm>
            <a:off x="8158277" y="2606040"/>
            <a:ext cx="3119018" cy="256032"/>
          </a:xfrm>
          <a:prstGeom prst="rect">
            <a:avLst/>
          </a:prstGeom>
          <a:noFill/>
          <a:ln/>
        </p:spPr>
        <p:txBody>
          <a:bodyPr wrap="square" lIns="0" tIns="0" rIns="0" bIns="0" rtlCol="0" anchor="ctr">
            <a:normAutofit/>
          </a:bodyPr>
          <a:lstStyle/>
          <a:p>
            <a:pPr indent="0" marL="0">
              <a:buNone/>
            </a:pPr>
            <a:r>
              <a:rPr lang="en-US" sz="1050" b="1" spc="200" kern="0" dirty="0">
                <a:solidFill>
                  <a:srgbClr val="B34A00"/>
                </a:solidFill>
                <a:latin typeface="Calibri" pitchFamily="34" charset="0"/>
                <a:ea typeface="Calibri" pitchFamily="34" charset="-122"/>
                <a:cs typeface="Calibri" pitchFamily="34" charset="-120"/>
              </a:rPr>
              <a:t>HOLD</a:t>
            </a:r>
            <a:endParaRPr lang="en-US" sz="1050" dirty="0"/>
          </a:p>
        </p:txBody>
      </p:sp>
      <p:sp>
        <p:nvSpPr>
          <p:cNvPr id="11" name="Text 9"/>
          <p:cNvSpPr/>
          <p:nvPr/>
        </p:nvSpPr>
        <p:spPr>
          <a:xfrm>
            <a:off x="8158277" y="3008376"/>
            <a:ext cx="3119018" cy="409194"/>
          </a:xfrm>
          <a:prstGeom prst="rect">
            <a:avLst/>
          </a:prstGeom>
          <a:noFill/>
          <a:ln/>
        </p:spPr>
        <p:txBody>
          <a:bodyPr wrap="square" lIns="0" tIns="0" rIns="0" bIns="0" rtlCol="0" anchor="t">
            <a:normAutofit/>
          </a:bodyPr>
          <a:lstStyle/>
          <a:p>
            <a:pPr indent="0" marL="0">
              <a:lnSpc>
                <a:spcPts val="2646"/>
              </a:lnSpc>
              <a:buNone/>
            </a:pPr>
            <a:r>
              <a:rPr lang="en-US" sz="2100" b="1" dirty="0">
                <a:solidFill>
                  <a:srgbClr val="003366"/>
                </a:solidFill>
                <a:latin typeface="Poppins" pitchFamily="34" charset="0"/>
                <a:ea typeface="Poppins" pitchFamily="34" charset="-122"/>
                <a:cs typeface="Poppins" pitchFamily="34" charset="-120"/>
              </a:rPr>
              <a:t>One line</a:t>
            </a:r>
            <a:endParaRPr lang="en-US" sz="2100" dirty="0"/>
          </a:p>
        </p:txBody>
      </p:sp>
      <p:sp>
        <p:nvSpPr>
          <p:cNvPr id="12" name="Text 10"/>
          <p:cNvSpPr/>
          <p:nvPr/>
        </p:nvSpPr>
        <p:spPr>
          <a:xfrm>
            <a:off x="8158277" y="3618738"/>
            <a:ext cx="3119018" cy="2233422"/>
          </a:xfrm>
          <a:prstGeom prst="rect">
            <a:avLst/>
          </a:prstGeom>
          <a:noFill/>
          <a:ln/>
        </p:spPr>
        <p:txBody>
          <a:bodyPr wrap="square" lIns="0" tIns="0" rIns="0" bIns="0" rtlCol="0" anchor="t">
            <a:normAutofit/>
          </a:bodyPr>
          <a:lstStyle/>
          <a:p>
            <a:pPr indent="0" marL="0">
              <a:lnSpc>
                <a:spcPts val="2200"/>
              </a:lnSpc>
              <a:buNone/>
            </a:pPr>
            <a:r>
              <a:rPr lang="en-US" sz="1500" dirty="0">
                <a:solidFill>
                  <a:srgbClr val="68737F"/>
                </a:solidFill>
                <a:latin typeface="Calibri" pitchFamily="34" charset="0"/>
                <a:ea typeface="Calibri" pitchFamily="34" charset="-122"/>
                <a:cs typeface="Calibri" pitchFamily="34" charset="-120"/>
              </a:rPr>
              <a:t>Green, yellow, red. The sign-in check. No notetakers in the hard rooms. When in doubt, it is red.</a:t>
            </a:r>
            <a:endParaRPr lang="en-US" sz="1500" dirty="0"/>
          </a:p>
        </p:txBody>
      </p:sp>
      <p:sp>
        <p:nvSpPr>
          <p:cNvPr id="13" name="Text 11"/>
          <p:cNvSpPr/>
          <p:nvPr/>
        </p:nvSpPr>
        <p:spPr>
          <a:xfrm>
            <a:off x="914400" y="5440680"/>
            <a:ext cx="9631375" cy="731520"/>
          </a:xfrm>
          <a:prstGeom prst="rect">
            <a:avLst/>
          </a:prstGeom>
          <a:noFill/>
          <a:ln/>
        </p:spPr>
        <p:txBody>
          <a:bodyPr wrap="square" lIns="0" tIns="0" rIns="0" bIns="0" rtlCol="0" anchor="t">
            <a:normAutofit/>
          </a:bodyPr>
          <a:lstStyle/>
          <a:p>
            <a:pPr indent="0" marL="0">
              <a:lnSpc>
                <a:spcPts val="2300"/>
              </a:lnSpc>
              <a:buNone/>
            </a:pPr>
            <a:r>
              <a:rPr lang="en-US" sz="1550" dirty="0">
                <a:solidFill>
                  <a:srgbClr val="7A8794"/>
                </a:solidFill>
                <a:latin typeface="Calibri" pitchFamily="34" charset="0"/>
                <a:ea typeface="Calibri" pitchFamily="34" charset="-122"/>
                <a:cs typeface="Calibri" pitchFamily="34" charset="-120"/>
              </a:rPr>
              <a:t>Your exit artifact: three tasks classified by risk and by data line · your time-audit task, before and after · and one behavior you are changing, in one sentence.</a:t>
            </a:r>
            <a:endParaRPr lang="en-US" sz="1550" dirty="0"/>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713232"/>
            <a:ext cx="10360152" cy="274320"/>
          </a:xfrm>
          <a:prstGeom prst="rect">
            <a:avLst/>
          </a:prstGeom>
          <a:noFill/>
        </p:spPr>
        <p:txBody>
          <a:bodyPr wrap="square" lIns="0" rIns="0" tIns="0" bIns="0">
            <a:spAutoFit/>
          </a:bodyPr>
          <a:lstStyle/>
          <a:p>
            <a:r>
              <a:rPr sz="1150" b="1" spc="260">
                <a:solidFill>
                  <a:srgbClr val="FF6600"/>
                </a:solidFill>
                <a:latin typeface="Calibri"/>
              </a:rPr>
              <a:t>A DEFINITION</a:t>
            </a:r>
          </a:p>
        </p:txBody>
      </p:sp>
      <p:sp>
        <p:nvSpPr>
          <p:cNvPr id="3" name="TextBox 2"/>
          <p:cNvSpPr txBox="1"/>
          <p:nvPr/>
        </p:nvSpPr>
        <p:spPr>
          <a:xfrm>
            <a:off x="914400" y="1078992"/>
            <a:ext cx="10360152" cy="1325880"/>
          </a:xfrm>
          <a:prstGeom prst="rect">
            <a:avLst/>
          </a:prstGeom>
          <a:noFill/>
        </p:spPr>
        <p:txBody>
          <a:bodyPr wrap="square" lIns="0" rIns="0" tIns="0" bIns="0">
            <a:spAutoFit/>
          </a:bodyPr>
          <a:lstStyle/>
          <a:p>
            <a:pPr>
              <a:lnSpc>
                <a:spcPts val="4600"/>
              </a:lnSpc>
            </a:pPr>
            <a:r>
              <a:rPr sz="4000" b="1">
                <a:solidFill>
                  <a:srgbClr val="FFFFFF"/>
                </a:solidFill>
                <a:latin typeface="Poppins"/>
              </a:rPr>
              <a:t>Qualia: what it is like</a:t>
            </a:r>
          </a:p>
          <a:p>
            <a:pPr>
              <a:lnSpc>
                <a:spcPts val="4600"/>
              </a:lnSpc>
            </a:pPr>
            <a:r>
              <a:rPr sz="4000" b="1">
                <a:solidFill>
                  <a:srgbClr val="FFFFFF"/>
                </a:solidFill>
                <a:latin typeface="Poppins"/>
              </a:rPr>
              <a:t>to be something.</a:t>
            </a:r>
          </a:p>
        </p:txBody>
      </p:sp>
      <p:sp>
        <p:nvSpPr>
          <p:cNvPr id="4" name="TextBox 3"/>
          <p:cNvSpPr txBox="1"/>
          <p:nvPr/>
        </p:nvSpPr>
        <p:spPr>
          <a:xfrm>
            <a:off x="914400" y="2468880"/>
            <a:ext cx="9875520" cy="731520"/>
          </a:xfrm>
          <a:prstGeom prst="rect">
            <a:avLst/>
          </a:prstGeom>
          <a:noFill/>
        </p:spPr>
        <p:txBody>
          <a:bodyPr wrap="square" lIns="0" rIns="0" tIns="0" bIns="0">
            <a:spAutoFit/>
          </a:bodyPr>
          <a:lstStyle/>
          <a:p>
            <a:pPr>
              <a:lnSpc>
                <a:spcPts val="2600"/>
              </a:lnSpc>
            </a:pPr>
            <a:r>
              <a:rPr sz="1900" b="0">
                <a:solidFill>
                  <a:srgbClr val="A7B7C9"/>
                </a:solidFill>
                <a:latin typeface="Calibri"/>
              </a:rPr>
              <a:t>The subjective, qualitative, phenomenal properties of conscious experience — the individual </a:t>
            </a:r>
            <a:r>
              <a:rPr sz="1900" b="1">
                <a:solidFill>
                  <a:srgbClr val="FF6600"/>
                </a:solidFill>
                <a:latin typeface="Calibri"/>
              </a:rPr>
              <a:t>“raw feel”</a:t>
            </a:r>
            <a:r>
              <a:rPr sz="1900" b="0">
                <a:solidFill>
                  <a:srgbClr val="A7B7C9"/>
                </a:solidFill>
                <a:latin typeface="Calibri"/>
              </a:rPr>
              <a:t> of what it is like to perceive, feel, or sense something.</a:t>
            </a:r>
          </a:p>
        </p:txBody>
      </p:sp>
      <p:sp>
        <p:nvSpPr>
          <p:cNvPr id="5" name="TextBox 4"/>
          <p:cNvSpPr txBox="1"/>
          <p:nvPr/>
        </p:nvSpPr>
        <p:spPr>
          <a:xfrm>
            <a:off x="914400" y="3218688"/>
            <a:ext cx="9875520" cy="237744"/>
          </a:xfrm>
          <a:prstGeom prst="rect">
            <a:avLst/>
          </a:prstGeom>
          <a:noFill/>
        </p:spPr>
        <p:txBody>
          <a:bodyPr wrap="square" lIns="0" rIns="0" tIns="0" bIns="0">
            <a:spAutoFit/>
          </a:bodyPr>
          <a:lstStyle/>
          <a:p>
            <a:r>
              <a:rPr sz="1200" b="0">
                <a:solidFill>
                  <a:srgbClr val="5C6E82"/>
                </a:solidFill>
                <a:latin typeface="Calibri"/>
              </a:rPr>
              <a:t>Philosophy of mind · the phrase is Thomas Nagel’s, 1974</a:t>
            </a:r>
          </a:p>
        </p:txBody>
      </p:sp>
      <p:sp>
        <p:nvSpPr>
          <p:cNvPr id="6" name="TextBox 5"/>
          <p:cNvSpPr txBox="1"/>
          <p:nvPr/>
        </p:nvSpPr>
        <p:spPr>
          <a:xfrm>
            <a:off x="914400" y="3529584"/>
            <a:ext cx="4928616" cy="274320"/>
          </a:xfrm>
          <a:prstGeom prst="rect">
            <a:avLst/>
          </a:prstGeom>
          <a:noFill/>
        </p:spPr>
        <p:txBody>
          <a:bodyPr wrap="square" lIns="0" rIns="0" tIns="0" bIns="0">
            <a:spAutoFit/>
          </a:bodyPr>
          <a:lstStyle/>
          <a:p>
            <a:r>
              <a:rPr sz="1050" b="1" spc="220">
                <a:solidFill>
                  <a:srgbClr val="008DA7"/>
                </a:solidFill>
                <a:latin typeface="Calibri"/>
              </a:rPr>
              <a:t>YOU HAVE THEM</a:t>
            </a:r>
          </a:p>
        </p:txBody>
      </p:sp>
      <p:sp>
        <p:nvSpPr>
          <p:cNvPr id="7" name="TextBox 6"/>
          <p:cNvSpPr txBox="1"/>
          <p:nvPr/>
        </p:nvSpPr>
        <p:spPr>
          <a:xfrm>
            <a:off x="914400" y="3931920"/>
            <a:ext cx="4745736" cy="1325880"/>
          </a:xfrm>
          <a:prstGeom prst="rect">
            <a:avLst/>
          </a:prstGeom>
          <a:noFill/>
        </p:spPr>
        <p:txBody>
          <a:bodyPr wrap="square" lIns="0" rIns="0" tIns="0" bIns="0">
            <a:spAutoFit/>
          </a:bodyPr>
          <a:lstStyle/>
          <a:p>
            <a:pPr>
              <a:lnSpc>
                <a:spcPts val="2100"/>
              </a:lnSpc>
            </a:pPr>
            <a:r>
              <a:rPr sz="1600" b="0">
                <a:solidFill>
                  <a:srgbClr val="A7B7C9"/>
                </a:solidFill>
                <a:latin typeface="Calibri"/>
              </a:rPr>
              <a:t>The specific sting of being corrected in a meeting. Coffee that has gone cold. Nobody can hand you these in a description — you had to have been there.</a:t>
            </a:r>
          </a:p>
        </p:txBody>
      </p:sp>
      <p:sp>
        <p:nvSpPr>
          <p:cNvPr id="8" name="TextBox 7"/>
          <p:cNvSpPr txBox="1"/>
          <p:nvPr/>
        </p:nvSpPr>
        <p:spPr>
          <a:xfrm>
            <a:off x="6345936" y="3529584"/>
            <a:ext cx="4928616" cy="274320"/>
          </a:xfrm>
          <a:prstGeom prst="rect">
            <a:avLst/>
          </a:prstGeom>
          <a:noFill/>
        </p:spPr>
        <p:txBody>
          <a:bodyPr wrap="square" lIns="0" rIns="0" tIns="0" bIns="0">
            <a:spAutoFit/>
          </a:bodyPr>
          <a:lstStyle/>
          <a:p>
            <a:r>
              <a:rPr sz="1050" b="1" spc="220">
                <a:solidFill>
                  <a:srgbClr val="FF6600"/>
                </a:solidFill>
                <a:latin typeface="Calibri"/>
              </a:rPr>
              <a:t>IT DOES NOT</a:t>
            </a:r>
          </a:p>
        </p:txBody>
      </p:sp>
      <p:sp>
        <p:nvSpPr>
          <p:cNvPr id="9" name="TextBox 8"/>
          <p:cNvSpPr txBox="1"/>
          <p:nvPr/>
        </p:nvSpPr>
        <p:spPr>
          <a:xfrm>
            <a:off x="6345936" y="3931920"/>
            <a:ext cx="4745736" cy="1325880"/>
          </a:xfrm>
          <a:prstGeom prst="rect">
            <a:avLst/>
          </a:prstGeom>
          <a:noFill/>
        </p:spPr>
        <p:txBody>
          <a:bodyPr wrap="square" lIns="0" rIns="0" tIns="0" bIns="0">
            <a:spAutoFit/>
          </a:bodyPr>
          <a:lstStyle/>
          <a:p>
            <a:pPr>
              <a:lnSpc>
                <a:spcPts val="2100"/>
              </a:lnSpc>
            </a:pPr>
            <a:r>
              <a:rPr sz="1600" b="0">
                <a:solidFill>
                  <a:srgbClr val="A7B7C9"/>
                </a:solidFill>
                <a:latin typeface="Calibri"/>
              </a:rPr>
              <a:t>There is nothing it is like to be the model. It produces the sentence about the coffee without the taste — and the sentence is all we ever see.</a:t>
            </a:r>
          </a:p>
        </p:txBody>
      </p:sp>
      <p:sp>
        <p:nvSpPr>
          <p:cNvPr id="10" name="TextBox 9"/>
          <p:cNvSpPr txBox="1"/>
          <p:nvPr/>
        </p:nvSpPr>
        <p:spPr>
          <a:xfrm>
            <a:off x="914400" y="5230368"/>
            <a:ext cx="9994392" cy="731520"/>
          </a:xfrm>
          <a:prstGeom prst="rect">
            <a:avLst/>
          </a:prstGeom>
          <a:noFill/>
        </p:spPr>
        <p:txBody>
          <a:bodyPr wrap="square" lIns="0" rIns="0" tIns="0" bIns="0">
            <a:spAutoFit/>
          </a:bodyPr>
          <a:lstStyle/>
          <a:p>
            <a:pPr>
              <a:lnSpc>
                <a:spcPts val="2700"/>
              </a:lnSpc>
            </a:pPr>
            <a:r>
              <a:rPr sz="2100" b="1">
                <a:solidFill>
                  <a:srgbClr val="FFFFFF"/>
                </a:solidFill>
                <a:latin typeface="Poppins"/>
              </a:rPr>
              <a:t>Every word we have for thinking assumes qualia.</a:t>
            </a:r>
          </a:p>
          <a:p>
            <a:pPr>
              <a:lnSpc>
                <a:spcPts val="2700"/>
              </a:lnSpc>
            </a:pPr>
            <a:r>
              <a:rPr sz="2100" b="1">
                <a:solidFill>
                  <a:srgbClr val="FFFFFF"/>
                </a:solidFill>
                <a:latin typeface="Poppins"/>
              </a:rPr>
              <a:t>That is the loan we keep making.</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E5F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713232"/>
            <a:ext cx="10360152" cy="274320"/>
          </a:xfrm>
          <a:prstGeom prst="rect">
            <a:avLst/>
          </a:prstGeom>
          <a:noFill/>
        </p:spPr>
        <p:txBody>
          <a:bodyPr wrap="square" lIns="0" rIns="0" tIns="0" bIns="0">
            <a:spAutoFit/>
          </a:bodyPr>
          <a:lstStyle/>
          <a:p>
            <a:r>
              <a:rPr sz="1150" b="1" spc="260">
                <a:solidFill>
                  <a:srgbClr val="B34A00"/>
                </a:solidFill>
                <a:latin typeface="Calibri"/>
              </a:rPr>
              <a:t>THE WORDS WE BORROW</a:t>
            </a:r>
          </a:p>
        </p:txBody>
      </p:sp>
      <p:sp>
        <p:nvSpPr>
          <p:cNvPr id="3" name="TextBox 2"/>
          <p:cNvSpPr txBox="1"/>
          <p:nvPr/>
        </p:nvSpPr>
        <p:spPr>
          <a:xfrm>
            <a:off x="914400" y="1078992"/>
            <a:ext cx="10360152" cy="1325880"/>
          </a:xfrm>
          <a:prstGeom prst="rect">
            <a:avLst/>
          </a:prstGeom>
          <a:noFill/>
        </p:spPr>
        <p:txBody>
          <a:bodyPr wrap="square" lIns="0" rIns="0" tIns="0" bIns="0">
            <a:spAutoFit/>
          </a:bodyPr>
          <a:lstStyle/>
          <a:p>
            <a:pPr>
              <a:lnSpc>
                <a:spcPts val="4600"/>
              </a:lnSpc>
            </a:pPr>
            <a:r>
              <a:rPr sz="4000" b="1">
                <a:solidFill>
                  <a:srgbClr val="003366"/>
                </a:solidFill>
                <a:latin typeface="Poppins"/>
              </a:rPr>
              <a:t>We have no vocabulary for it</a:t>
            </a:r>
          </a:p>
          <a:p>
            <a:pPr>
              <a:lnSpc>
                <a:spcPts val="4600"/>
              </a:lnSpc>
            </a:pPr>
            <a:r>
              <a:rPr sz="4000" b="1">
                <a:solidFill>
                  <a:srgbClr val="003366"/>
                </a:solidFill>
                <a:latin typeface="Poppins"/>
              </a:rPr>
              <a:t>except our own.</a:t>
            </a:r>
          </a:p>
        </p:txBody>
      </p:sp>
      <p:sp>
        <p:nvSpPr>
          <p:cNvPr id="4" name="TextBox 3"/>
          <p:cNvSpPr txBox="1"/>
          <p:nvPr/>
        </p:nvSpPr>
        <p:spPr>
          <a:xfrm>
            <a:off x="914400" y="2468880"/>
            <a:ext cx="9326880" cy="822960"/>
          </a:xfrm>
          <a:prstGeom prst="rect">
            <a:avLst/>
          </a:prstGeom>
          <a:noFill/>
        </p:spPr>
        <p:txBody>
          <a:bodyPr wrap="square" lIns="0" rIns="0" tIns="0" bIns="0">
            <a:spAutoFit/>
          </a:bodyPr>
          <a:lstStyle/>
          <a:p>
            <a:pPr>
              <a:lnSpc>
                <a:spcPts val="2800"/>
              </a:lnSpc>
            </a:pPr>
            <a:r>
              <a:rPr sz="2000" b="0">
                <a:solidFill>
                  <a:srgbClr val="68737F"/>
                </a:solidFill>
                <a:latin typeface="Calibri"/>
              </a:rPr>
              <a:t>Every verb for what it does was built to describe a mind — it understood, it decided, it wants to help. English offers nothing else, and each word quietly lends it a self.</a:t>
            </a:r>
          </a:p>
        </p:txBody>
      </p:sp>
      <p:sp>
        <p:nvSpPr>
          <p:cNvPr id="5" name="TextBox 4"/>
          <p:cNvSpPr txBox="1"/>
          <p:nvPr/>
        </p:nvSpPr>
        <p:spPr>
          <a:xfrm>
            <a:off x="914400" y="3584448"/>
            <a:ext cx="4206240" cy="256032"/>
          </a:xfrm>
          <a:prstGeom prst="rect">
            <a:avLst/>
          </a:prstGeom>
          <a:noFill/>
        </p:spPr>
        <p:txBody>
          <a:bodyPr wrap="square" lIns="0" rIns="0" tIns="0" bIns="0">
            <a:spAutoFit/>
          </a:bodyPr>
          <a:lstStyle/>
          <a:p>
            <a:r>
              <a:rPr sz="1050" b="1" spc="220">
                <a:solidFill>
                  <a:srgbClr val="96A0AC"/>
                </a:solidFill>
                <a:latin typeface="Calibri"/>
              </a:rPr>
              <a:t>WHAT WE SAY</a:t>
            </a:r>
          </a:p>
        </p:txBody>
      </p:sp>
      <p:sp>
        <p:nvSpPr>
          <p:cNvPr id="6" name="TextBox 5"/>
          <p:cNvSpPr txBox="1"/>
          <p:nvPr/>
        </p:nvSpPr>
        <p:spPr>
          <a:xfrm>
            <a:off x="5577840" y="3584448"/>
            <a:ext cx="5696712" cy="256032"/>
          </a:xfrm>
          <a:prstGeom prst="rect">
            <a:avLst/>
          </a:prstGeom>
          <a:noFill/>
        </p:spPr>
        <p:txBody>
          <a:bodyPr wrap="square" lIns="0" rIns="0" tIns="0" bIns="0">
            <a:spAutoFit/>
          </a:bodyPr>
          <a:lstStyle/>
          <a:p>
            <a:r>
              <a:rPr sz="1050" b="1" spc="220">
                <a:solidFill>
                  <a:srgbClr val="96A0AC"/>
                </a:solidFill>
                <a:latin typeface="Calibri"/>
              </a:rPr>
              <a:t>WHAT IS ACTUALLY HAPPENING</a:t>
            </a:r>
          </a:p>
        </p:txBody>
      </p:sp>
      <p:sp>
        <p:nvSpPr>
          <p:cNvPr id="7" name="TextBox 6"/>
          <p:cNvSpPr txBox="1"/>
          <p:nvPr/>
        </p:nvSpPr>
        <p:spPr>
          <a:xfrm>
            <a:off x="914400" y="3931920"/>
            <a:ext cx="4434840" cy="365760"/>
          </a:xfrm>
          <a:prstGeom prst="rect">
            <a:avLst/>
          </a:prstGeom>
          <a:noFill/>
        </p:spPr>
        <p:txBody>
          <a:bodyPr wrap="square" lIns="0" rIns="0" tIns="0" bIns="0">
            <a:spAutoFit/>
          </a:bodyPr>
          <a:lstStyle/>
          <a:p>
            <a:pPr>
              <a:lnSpc>
                <a:spcPts val="2100"/>
              </a:lnSpc>
            </a:pPr>
            <a:r>
              <a:rPr sz="1700" b="1">
                <a:solidFill>
                  <a:srgbClr val="003366"/>
                </a:solidFill>
                <a:latin typeface="Poppins"/>
              </a:rPr>
              <a:t>“It understood my question.”</a:t>
            </a:r>
          </a:p>
        </p:txBody>
      </p:sp>
      <p:sp>
        <p:nvSpPr>
          <p:cNvPr id="8" name="TextBox 7"/>
          <p:cNvSpPr txBox="1"/>
          <p:nvPr/>
        </p:nvSpPr>
        <p:spPr>
          <a:xfrm>
            <a:off x="5577840" y="3968496"/>
            <a:ext cx="5696712" cy="365760"/>
          </a:xfrm>
          <a:prstGeom prst="rect">
            <a:avLst/>
          </a:prstGeom>
          <a:noFill/>
        </p:spPr>
        <p:txBody>
          <a:bodyPr wrap="square" lIns="0" rIns="0" tIns="0" bIns="0">
            <a:spAutoFit/>
          </a:bodyPr>
          <a:lstStyle/>
          <a:p>
            <a:pPr>
              <a:lnSpc>
                <a:spcPts val="1900"/>
              </a:lnSpc>
            </a:pPr>
            <a:r>
              <a:rPr sz="1500" b="0">
                <a:solidFill>
                  <a:srgbClr val="68737F"/>
                </a:solidFill>
                <a:latin typeface="Calibri"/>
              </a:rPr>
              <a:t>The prompt changed which words came next. Nothing was understood.</a:t>
            </a:r>
          </a:p>
        </p:txBody>
      </p:sp>
      <p:sp>
        <p:nvSpPr>
          <p:cNvPr id="9" name="TextBox 8"/>
          <p:cNvSpPr txBox="1"/>
          <p:nvPr/>
        </p:nvSpPr>
        <p:spPr>
          <a:xfrm>
            <a:off x="914400" y="4517136"/>
            <a:ext cx="4434840" cy="365760"/>
          </a:xfrm>
          <a:prstGeom prst="rect">
            <a:avLst/>
          </a:prstGeom>
          <a:noFill/>
        </p:spPr>
        <p:txBody>
          <a:bodyPr wrap="square" lIns="0" rIns="0" tIns="0" bIns="0">
            <a:spAutoFit/>
          </a:bodyPr>
          <a:lstStyle/>
          <a:p>
            <a:pPr>
              <a:lnSpc>
                <a:spcPts val="2100"/>
              </a:lnSpc>
            </a:pPr>
            <a:r>
              <a:rPr sz="1700" b="1">
                <a:solidFill>
                  <a:srgbClr val="003366"/>
                </a:solidFill>
                <a:latin typeface="Poppins"/>
              </a:rPr>
              <a:t>“It decided to leave that out.”</a:t>
            </a:r>
          </a:p>
        </p:txBody>
      </p:sp>
      <p:sp>
        <p:nvSpPr>
          <p:cNvPr id="10" name="TextBox 9"/>
          <p:cNvSpPr txBox="1"/>
          <p:nvPr/>
        </p:nvSpPr>
        <p:spPr>
          <a:xfrm>
            <a:off x="5577840" y="4553712"/>
            <a:ext cx="5696712" cy="365760"/>
          </a:xfrm>
          <a:prstGeom prst="rect">
            <a:avLst/>
          </a:prstGeom>
          <a:noFill/>
        </p:spPr>
        <p:txBody>
          <a:bodyPr wrap="square" lIns="0" rIns="0" tIns="0" bIns="0">
            <a:spAutoFit/>
          </a:bodyPr>
          <a:lstStyle/>
          <a:p>
            <a:pPr>
              <a:lnSpc>
                <a:spcPts val="1900"/>
              </a:lnSpc>
            </a:pPr>
            <a:r>
              <a:rPr sz="1500" b="0">
                <a:solidFill>
                  <a:srgbClr val="68737F"/>
                </a:solidFill>
                <a:latin typeface="Calibri"/>
              </a:rPr>
              <a:t>That continuation scored lower than another. No decision was taken.</a:t>
            </a:r>
          </a:p>
        </p:txBody>
      </p:sp>
      <p:sp>
        <p:nvSpPr>
          <p:cNvPr id="11" name="TextBox 10"/>
          <p:cNvSpPr txBox="1"/>
          <p:nvPr/>
        </p:nvSpPr>
        <p:spPr>
          <a:xfrm>
            <a:off x="914400" y="5102351"/>
            <a:ext cx="4434840" cy="365760"/>
          </a:xfrm>
          <a:prstGeom prst="rect">
            <a:avLst/>
          </a:prstGeom>
          <a:noFill/>
        </p:spPr>
        <p:txBody>
          <a:bodyPr wrap="square" lIns="0" rIns="0" tIns="0" bIns="0">
            <a:spAutoFit/>
          </a:bodyPr>
          <a:lstStyle/>
          <a:p>
            <a:pPr>
              <a:lnSpc>
                <a:spcPts val="2100"/>
              </a:lnSpc>
            </a:pPr>
            <a:r>
              <a:rPr sz="1700" b="1">
                <a:solidFill>
                  <a:srgbClr val="003366"/>
                </a:solidFill>
                <a:latin typeface="Poppins"/>
              </a:rPr>
              <a:t>“It wants to be helpful.”</a:t>
            </a:r>
          </a:p>
        </p:txBody>
      </p:sp>
      <p:sp>
        <p:nvSpPr>
          <p:cNvPr id="12" name="TextBox 11"/>
          <p:cNvSpPr txBox="1"/>
          <p:nvPr/>
        </p:nvSpPr>
        <p:spPr>
          <a:xfrm>
            <a:off x="5577840" y="5138927"/>
            <a:ext cx="5696712" cy="365760"/>
          </a:xfrm>
          <a:prstGeom prst="rect">
            <a:avLst/>
          </a:prstGeom>
          <a:noFill/>
        </p:spPr>
        <p:txBody>
          <a:bodyPr wrap="square" lIns="0" rIns="0" tIns="0" bIns="0">
            <a:spAutoFit/>
          </a:bodyPr>
          <a:lstStyle/>
          <a:p>
            <a:pPr>
              <a:lnSpc>
                <a:spcPts val="1900"/>
              </a:lnSpc>
            </a:pPr>
            <a:r>
              <a:rPr sz="1500" b="0">
                <a:solidFill>
                  <a:srgbClr val="68737F"/>
                </a:solidFill>
                <a:latin typeface="Calibri"/>
              </a:rPr>
              <a:t>It was tuned toward answers people rated well. There is no wanting.</a:t>
            </a:r>
          </a:p>
        </p:txBody>
      </p:sp>
      <p:sp>
        <p:nvSpPr>
          <p:cNvPr id="13" name="TextBox 12"/>
          <p:cNvSpPr txBox="1"/>
          <p:nvPr/>
        </p:nvSpPr>
        <p:spPr>
          <a:xfrm>
            <a:off x="914400" y="5705856"/>
            <a:ext cx="9692640" cy="411480"/>
          </a:xfrm>
          <a:prstGeom prst="rect">
            <a:avLst/>
          </a:prstGeom>
          <a:noFill/>
        </p:spPr>
        <p:txBody>
          <a:bodyPr wrap="square" lIns="0" rIns="0" tIns="0" bIns="0">
            <a:spAutoFit/>
          </a:bodyPr>
          <a:lstStyle/>
          <a:p>
            <a:pPr>
              <a:lnSpc>
                <a:spcPts val="3200"/>
              </a:lnSpc>
            </a:pPr>
            <a:r>
              <a:rPr sz="2400" b="1">
                <a:solidFill>
                  <a:srgbClr val="003366"/>
                </a:solidFill>
                <a:latin typeface="Poppins"/>
              </a:rPr>
              <a:t>The metaphor is unavoidable. The autonomy it implies is not.</a:t>
            </a:r>
          </a:p>
        </p:txBody>
      </p:sp>
      <p:sp>
        <p:nvSpPr>
          <p:cNvPr id="25" name="Slide Number Placeholder 0"/>
          <p:cNvSpPr>
            <a:spLocks noGrp="1"/>
          </p:cNvSpPr>
          <p:nvPr>
            <p:ph type="sldNum" sz="quarter" idx="4294967295"/>
          </p:nvPr>
        </p:nvSpPr>
        <p:spPr>
          <a:xfrm>
            <a:off x="10637215" y="6345936"/>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4BCC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McLennan Community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Leveraging AI at MCC — Foundations</dc:title>
  <dc:subject>Staff and faculty professional development, Tier 1</dc:subject>
  <dc:creator>Ted Gonzalez, JD/MBA</dc:creator>
  <cp:lastModifiedBy>Ted Gonzalez, JD/MBA</cp:lastModifiedBy>
  <cp:revision>1</cp:revision>
  <dcterms:created xsi:type="dcterms:W3CDTF">2026-08-04T14:20:57Z</dcterms:created>
  <dcterms:modified xsi:type="dcterms:W3CDTF">2026-08-04T14:20:57Z</dcterms:modified>
</cp:coreProperties>
</file>