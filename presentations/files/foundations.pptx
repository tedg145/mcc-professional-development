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82" r:id="rId33"/>
    <p:sldId id="283" r:id="rId34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open by defining large language models. Open with the poll on slide 3. Most of this room used AI this week; starting at "what is an LLM" loses the people you most need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in the first two minutes. It is the difference between a room that engages and a room that waits you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your own pre-work survey numbers here too — especially "have you put student information into an AI tool." Report it flatly. It always comes back higher than people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deeper. Nobody needs tokens or transformers. They need to predict failure, and "it produces plausible text" is enough.</a:t>
            </a:r>
          </a:p>
          <a:p>
            <a:r>
              <a:rPr lang="en-US" dirty="0"/>
              <a:t>Live demo: click See it in action (opens the site in your browser, ~4 min). It cites Owasso v. Falvo where the answer is Gonzaga v. Doe. Let the room find it before you reveal. Esc returns to the slide; switch back to PowerPoint when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columns aloud so the room hears they are identical. This is the slide that reorganises people's intuition — slow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the room has tried the first three. Naming them without mockery is what makes this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room sort their own pre-work answers into these three columns on the board. Their tasks, not your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should be able to recite these three by the end of the course. It is the only thing on the exit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where that line is in their own job — the message where drafting with AI is fine, and the one where it is not. Then be quiet. The discomfort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each live with a before and after. Do not put examples on slides — the room needs to watch the output change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parts are doing the work. They will name the frustration line, and they are right — audience emotional state changes the output more than almost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treat every prompt as a fresh vending-machine transaction. Learning to argue with the output is the biggest practical upgrade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FERPA enforcement — no private right of action per Gonzaga v. Doe, and ED has never withdrawn funding. Overstating it costs you the room. GLBA is where the real exposure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this on MCC's own Data Classification vocabulary before teaching it. Using tier names the institution already owns makes adoption dramatically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well-known assistant changed its consumer terms in 2025 so consumer chats can train the model unless the user declines — while its Team, Enterprise and Education tiers stayed exempt. Same company, same model, opposite data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Texas also has TRAIGA, effective January 2026 — but its government-entity provisions likely do not reach MCC, since institutions of higher education are excluded from the definition. Do not teach those as binding, and do not assert a training mandate General Counsel has not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45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B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Ted Gonzalez, JD/MBA. All rights reserved.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45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Ted Gonzalez, JD/MBA. All rights reserved.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345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Ted Gonzalez, JD/MBA. All rights reserved.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edg145.github.io/mcc-professional-development/next-word/#dem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MCLENNAN COMMUNITY COLLEGE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68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Leveraging AI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914400" y="3310128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6800"/>
              </a:lnSpc>
              <a:buNone/>
            </a:pPr>
            <a:r>
              <a:rPr lang="en-US" sz="6200" b="1" dirty="0">
                <a:solidFill>
                  <a:srgbClr val="5C6E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MCC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Tier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513892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Gonzalez, JD/MBA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65960"/>
            <a:ext cx="9814255" cy="1678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6032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Nobody here is</a:t>
            </a:r>
            <a:endParaRPr lang="en-US" sz="5200" dirty="0"/>
          </a:p>
          <a:p>
            <a:pPr indent="0" marL="0">
              <a:lnSpc>
                <a:spcPts val="6032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starting from zero.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3955288"/>
            <a:ext cx="8716975" cy="203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you have used these tools daily for two years. Some have used them twice. Both are welcome, and neither is behind.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YOU ARE ACTUALLY 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Almost everyone here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already uses AI for work.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3465576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used 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347972"/>
            <a:ext cx="2213534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work, in the past six months.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30854" y="306324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0854" y="3465576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it daily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30854" y="4347972"/>
            <a:ext cx="2213534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users — every working day.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7308" y="306324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47308" y="3465576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personal accounts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47308" y="4347972"/>
            <a:ext cx="2213534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Non-institutional tools, unsanctioned.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63761" y="306324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63761" y="3465576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not know the rules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63761" y="4347972"/>
            <a:ext cx="2213534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Unaware of their institution's AI policy.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8991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EDUCAUSE, "The Impact of AI on Work in Higher Education," January 2026 · n = 1,960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66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ONE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265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thing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actually is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7985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B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mental model — enough to predict when it will fail you.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predicts the next word.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8899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mechanism. Not retrieval from a database. Not reasoning from known facts. Prediction of the most plausible continuation of your text.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8899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wrong answer and a right answer are produced by exactly the same process — and they arrive looking exactly the same.</a:t>
            </a:r>
            <a:endParaRPr lang="en-US" sz="2400" dirty="0"/>
          </a:p>
        </p:txBody>
      </p:sp>
      <p:sp>
        <p:nvSpPr>
          <p:cNvPr id="30" name="See it in action button" descr="Opens the live demo in a browser">
            <a:hlinkClick r:id="rId3" tooltip="Open the live demo"/>
          </p:cNvPr>
          <p:cNvSpPr/>
          <p:nvPr/>
        </p:nvSpPr>
        <p:spPr>
          <a:xfrm>
            <a:off x="8580135" y="5394960"/>
            <a:ext cx="2697160" cy="54864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  <a:effectLst>
            <a:outerShdw blurRad="152400" dist="38100" dir="5400000" algn="t" rotWithShape="0">
              <a:srgbClr val="FF6600">
                <a:alpha val="35000"/>
              </a:srgbClr>
            </a:outerShdw>
          </a:effectLst>
        </p:spPr>
        <p:txBody>
          <a:bodyPr wrap="none" lIns="182880" tIns="0" rIns="18288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it in action  →</a:t>
            </a:r>
          </a:p>
        </p:txBody>
      </p:sp>
      <p:sp>
        <p:nvSpPr>
          <p:cNvPr id="31" name="See it in action caption"/>
          <p:cNvSpPr txBox="1"/>
          <p:nvPr/>
        </p:nvSpPr>
        <p:spPr>
          <a:xfrm>
            <a:off x="7666335" y="5029200"/>
            <a:ext cx="3610960" cy="2743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</a:rPr>
              <a:t>Watch it happen, one word at a time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Fluency and accuracy are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dials.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them is turned up.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8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JUDGE A PERSON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4059936"/>
            <a:ext cx="47471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Confidence. Fluency. Specific detail. Correct jargon. A well-formed citation. Answering without hesitating.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7308" y="365760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OPTIMIZES FOR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47308" y="4059936"/>
            <a:ext cx="47471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Confidence. Fluency. Specific detail. Correct jargon. A well-formed citation. Answering without hesitating.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9814255" cy="2090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104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error detection was</a:t>
            </a:r>
            <a:endParaRPr lang="en-US" sz="4400" dirty="0"/>
          </a:p>
          <a:p>
            <a:pPr indent="0" marL="0">
              <a:lnSpc>
                <a:spcPts val="5104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trained on humans.</a:t>
            </a:r>
            <a:endParaRPr lang="en-US" sz="4400" dirty="0"/>
          </a:p>
          <a:p>
            <a:pPr indent="0" marL="0">
              <a:lnSpc>
                <a:spcPts val="5104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does not transfer.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4139184"/>
            <a:ext cx="8716975" cy="185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citation looks more like a real citation than most real citations do.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MOVE THAT FAILS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"Please be accurate"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does not work.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2487168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"Only use real sources."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822448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style of the citations, not whether they exist.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8132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3453892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"Say I don't know if you don't know."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3789172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often it hedges. It cannot know what it does not know.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44804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4420616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"Be accurate. This is important."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4755896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tone. There is no accuracy setting behind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41477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5387340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 it the document. Then check the output.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5722620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plus your verification. That is where accuracy comes from.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PREDICT TROUBLE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shape of the task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tells you the risk.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3282696"/>
            <a:ext cx="3119018" cy="98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have the facts.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shapes them.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469130"/>
            <a:ext cx="3119018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this email. Turn these notes into an outline.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tone and completeness.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6338" y="288036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36338" y="3282696"/>
            <a:ext cx="3119018" cy="98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supply the source.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processes it.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36338" y="4469130"/>
            <a:ext cx="3119018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this document. Pull out the deadlines.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the source, every time.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58277" y="288036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58277" y="3282696"/>
            <a:ext cx="3119018" cy="98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are asking AI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supply the facts.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58277" y="4469130"/>
            <a:ext cx="3119018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policy on X? When is the deadline for Y?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 — or do not ask.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814255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104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question is never</a:t>
            </a:r>
            <a:endParaRPr lang="en-US" sz="4400" dirty="0"/>
          </a:p>
          <a:p>
            <a:pPr indent="0" marL="0">
              <a:lnSpc>
                <a:spcPts val="5104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"is AI accurate."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82416"/>
            <a:ext cx="8716975" cy="2406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is: am I asking it to shape information I already have, or to invent information I do not?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TAKEAWAY FROM SESSION 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three-question check.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3119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319272"/>
            <a:ext cx="3119018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would make</a:t>
            </a:r>
            <a:endParaRPr lang="en-US" sz="2100" dirty="0"/>
          </a:p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wrong?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265676"/>
            <a:ext cx="3119018" cy="158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 mode before you go looking. Predicting the error is how you find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6338" y="2606040"/>
            <a:ext cx="3119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36338" y="3319272"/>
            <a:ext cx="3119018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did this</a:t>
            </a:r>
            <a:endParaRPr lang="en-US" sz="2100" dirty="0"/>
          </a:p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 from?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36338" y="4265676"/>
            <a:ext cx="3119018" cy="158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fact, number, name and citation traced to a source you can open. If you cannot open it, it does not exist.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58277" y="2606040"/>
            <a:ext cx="3119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58277" y="3319272"/>
            <a:ext cx="3119018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accountable</a:t>
            </a:r>
            <a:endParaRPr lang="en-US" sz="2100" dirty="0"/>
          </a:p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it is wrong?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58277" y="4265676"/>
            <a:ext cx="3119018" cy="158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are. Your name is on it, your judgment is in it, and the tool is not a co-signer.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· FEBRUARY 2023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failure actually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looks like.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8899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840"/>
              </a:lnSpc>
              <a:buNone/>
            </a:pPr>
            <a:r>
              <a:rPr lang="en-US" sz="20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sent a campus-wide condolence message about the shooting at Michigan State. It had been generated by ChatGPT — and the attribution line was still in the sent email. Two administrators stepped back from their roles.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4791456"/>
            <a:ext cx="311901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data disclosed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353812"/>
            <a:ext cx="311901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record moved anywhere.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36338" y="438912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36338" y="4791456"/>
            <a:ext cx="311901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law broken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36338" y="5353812"/>
            <a:ext cx="311901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regulation applied. Nothing to report.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8277" y="438912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58277" y="4791456"/>
            <a:ext cx="3119018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Judgment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58277" y="5353812"/>
            <a:ext cx="311901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damaging AI incident that year.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8991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February 22, 2023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66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TWO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265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Prompting as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 skill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7985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B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moves, one habit, and knowing when to stop.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TWO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moves that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reliably work.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42032"/>
            <a:ext cx="2213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255264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 it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have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4137660"/>
            <a:ext cx="2213534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know your audience is already annoyed about this policy, or that the deadline moved twice.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30854" y="2542032"/>
            <a:ext cx="2213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30854" y="3255264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example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good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30854" y="4137660"/>
            <a:ext cx="2213534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sample of your actual voice beats three paragraphs describing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7308" y="2542032"/>
            <a:ext cx="2213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47308" y="3255264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role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47308" y="4137660"/>
            <a:ext cx="2213534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this to a first-semester student" and "to the VP of Finance" produce different documents.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63761" y="2542032"/>
            <a:ext cx="2213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63761" y="3255264"/>
            <a:ext cx="2213534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</a:t>
            </a:r>
            <a:endParaRPr lang="en-US" sz="1900" dirty="0"/>
          </a:p>
          <a:p>
            <a:pPr indent="0" marL="0">
              <a:lnSpc>
                <a:spcPts val="2394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output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63761" y="4137660"/>
            <a:ext cx="2213534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format, what to leave out. "Three bullets, no preamble" removes most of what people dislike.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REQUEST, TWICE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Forty seconds of context.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2916936"/>
            <a:ext cx="47471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an email about the new travel reimbursement process."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7308" y="251460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47308" y="2916936"/>
            <a:ext cx="47471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a department coordinator at a Texas community college. I need to email 40 faculty about a change to travel reimbursement — receipts now go through a portal instead of paper forms. This is the third process change this year and people are frustrated. Short, matter-of-fact, no corporate cheerfulness, with the three steps they have to do. Under 150 words."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ALMOST NOBODY TRIES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not rewrite the prompt.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Talk back to the output.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95351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for what you want. Then read it properly.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3261360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one specific thing that is wrong — not "it is bad."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8526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69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3957828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 to the output. Do not re-specify.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4293108"/>
            <a:ext cx="908273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second paragraph is too formal. And you invented a deadline — remove it."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28370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5256276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Ask it to critique itself, then decide if you agree.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5591556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weakest part of this for frustrated adjunct faculty?"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STOP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the prompt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not the problem.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3099816"/>
            <a:ext cx="2213534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needs facts</a:t>
            </a:r>
            <a:endParaRPr lang="en-US" sz="18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MCC has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38244"/>
            <a:ext cx="2213534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retrieves our catalog language. Give it the document.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30854" y="269748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30854" y="3099816"/>
            <a:ext cx="2213534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judgment</a:t>
            </a:r>
            <a:endParaRPr lang="en-US" sz="18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the job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30854" y="4238244"/>
            <a:ext cx="2213534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appeal. A performance conversation. Decide first.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7308" y="269748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47308" y="3099816"/>
            <a:ext cx="2213534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Checking costs</a:t>
            </a:r>
            <a:endParaRPr lang="en-US" sz="18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than doing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47308" y="4238244"/>
            <a:ext cx="2213534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verifying takes longer than writing it, you have lost.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63761" y="2697480"/>
            <a:ext cx="22135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9D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63761" y="3099816"/>
            <a:ext cx="2213534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would lose</a:t>
            </a:r>
            <a:endParaRPr lang="en-US" sz="1800" dirty="0"/>
          </a:p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skill you need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63761" y="4238244"/>
            <a:ext cx="2213534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juniors stop building judgment through the work, the pipeline weakens.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943600"/>
            <a:ext cx="8991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De-skilling concern documented in Ithaka S+R, "AI Adoption in Research Administration," 2025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66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THREE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265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MCC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line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7985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B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with real consequences — and the one to get right.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GOVERNS WHAT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regimes, in plain language.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20370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2176272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FERPA — student education records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2511552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Grades, rosters, advising notes, conduct records, transcripts.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06471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979039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GLBA and the FTC Safeguards Rule — financial aid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3314319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FAFSA data, ISIRs, SSNs. Enforceable since 2023. Reaches Title IV.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80923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69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781806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Health, counseling and disability documentation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37360" y="4117086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category itself the stop sign, not the statute.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12005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34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4584573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IX, conduct and HR investigations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4919853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stop. No drafting, no summarizing, no AI notetakers.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41477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F5E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5387340"/>
            <a:ext cx="953993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Personnel and HR data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37360" y="5722620"/>
            <a:ext cx="908273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FERPA, still sensitive. Student-employee records ARE education records.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9814255" cy="25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FERPA's worst case</a:t>
            </a:r>
            <a:endParaRPr lang="en-US" sz="4000" dirty="0"/>
          </a:p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a letter.</a:t>
            </a:r>
            <a:endParaRPr lang="en-US" sz="4000" dirty="0"/>
          </a:p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GLBA's reaches our</a:t>
            </a:r>
            <a:endParaRPr lang="en-US" sz="4000" dirty="0"/>
          </a:p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ability to disburse aid.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Green, yellow, red.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ANY TOOL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3008376"/>
            <a:ext cx="3119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Already public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922776"/>
            <a:ext cx="3119018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catalog and marketing text. Public policy language. Generic drafting with no institutional data.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6338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5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LICENSED TOOLS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36338" y="3008376"/>
            <a:ext cx="3119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Internal, not personal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36338" y="3922776"/>
            <a:ext cx="3119018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procedures, agendas, internal communications, planning documents, aggregate enrolment. Signed in with your MCC account.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58277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NO AI TOOL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58277" y="3008376"/>
            <a:ext cx="31190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a person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58277" y="3922776"/>
            <a:ext cx="3119018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· financial aid · health and disability · Title IX, conduct and HR · personnel files · SSNs · credentials · legal hold.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532120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in doubt, it is red.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9814255" cy="238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did not sign in</a:t>
            </a:r>
            <a:endParaRPr lang="en-US" sz="3800" dirty="0"/>
          </a:p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your MCC account,</a:t>
            </a:r>
            <a:endParaRPr lang="en-US" sz="3800" dirty="0"/>
          </a:p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treat it as publishing</a:t>
            </a:r>
            <a:endParaRPr lang="en-US" sz="3800" dirty="0"/>
          </a:p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the open internet.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B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is never the brand. It is the contract — and protection attaches to the authenticated session, not the logo on the page.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82A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TWO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notetakers.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8899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98"/>
              </a:lnSpc>
              <a:buNone/>
            </a:pPr>
            <a:r>
              <a:rPr lang="en-US" sz="19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Otter. Teams recap. Zoom AI Companion. Read.ai. Anything that joins a meeting and starts transcribing.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9448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in an advising, counseling, Title IX, conduct, HR investigation or grievance meeting.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407408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 without written authorization from the Title IX Coordinator or General Counsel.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highest-frequency accidental disclosure in higher education right now — because it attaches without anyone deciding to use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129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prompts are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probably public records.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8899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98"/>
              </a:lnSpc>
              <a:buNone/>
            </a:pPr>
            <a:r>
              <a:rPr lang="en-US" sz="1900" dirty="0">
                <a:solidFill>
                  <a:srgbClr val="A7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is a governmental body. Prompts and outputs created in the course of official business are very likely public information under Government Code Chapter 552, and subject to records retention.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personal account does not take the record out of reach. It just makes it harder to produce — and adds a records-management problem on top.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285232"/>
            <a:ext cx="99971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Write every prompt as though it could be printed in the Waco Tribune-Herald.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32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ONE COMPLETE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78992"/>
            <a:ext cx="10362895" cy="71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are leaving with.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3008376"/>
            <a:ext cx="3119018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mental model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618738"/>
            <a:ext cx="3119018" cy="2233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plausible text. Fluency and accuracy are separate dials. The shape of the task tells you the risk.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36338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36338" y="3008376"/>
            <a:ext cx="3119018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questions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36338" y="3618738"/>
            <a:ext cx="3119018" cy="2233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this wrong? Where did it come from? Who is accountable? (You are.)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58277" y="2606040"/>
            <a:ext cx="31190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3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58277" y="3008376"/>
            <a:ext cx="3119018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line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58277" y="3618738"/>
            <a:ext cx="3119018" cy="2233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8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yellow, red. The sign-in check. No notetakers in the hard rooms. When in doubt, it is red.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exit artifact: three tasks classified by risk and by data line · your time-audit task, before and after · and one behavior you are changing, in one sentence.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3232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260">
                <a:solidFill>
                  <a:srgbClr val="FF6600"/>
                </a:solidFill>
                <a:latin typeface="Calibri"/>
              </a:rPr>
              <a:t>A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78992"/>
            <a:ext cx="1036015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600"/>
              </a:lnSpc>
            </a:pPr>
            <a:r>
              <a:rPr sz="4000" b="1">
                <a:solidFill>
                  <a:srgbClr val="FFFFFF"/>
                </a:solidFill>
                <a:latin typeface="Poppins"/>
              </a:rPr>
              <a:t>Qualia: what it is like</a:t>
            </a:r>
          </a:p>
          <a:p>
            <a:pPr>
              <a:lnSpc>
                <a:spcPts val="4600"/>
              </a:lnSpc>
            </a:pPr>
            <a:r>
              <a:rPr sz="4000" b="1">
                <a:solidFill>
                  <a:srgbClr val="FFFFFF"/>
                </a:solidFill>
                <a:latin typeface="Poppins"/>
              </a:rPr>
              <a:t>to be something.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00"/>
              </a:lnSpc>
            </a:pPr>
            <a:r>
              <a:rPr sz="1900" b="0">
                <a:solidFill>
                  <a:srgbClr val="A7B7C9"/>
                </a:solidFill>
                <a:latin typeface="Calibri"/>
              </a:rPr>
              <a:t>The subjective, qualitative, phenomenal properties of conscious experience — the individual </a:t>
            </a:r>
            <a:r>
              <a:rPr sz="1900" b="1">
                <a:solidFill>
                  <a:srgbClr val="FF6600"/>
                </a:solidFill>
                <a:latin typeface="Calibri"/>
              </a:rPr>
              <a:t>“raw feel”</a:t>
            </a:r>
            <a:r>
              <a:rPr sz="1900" b="0">
                <a:solidFill>
                  <a:srgbClr val="A7B7C9"/>
                </a:solidFill>
                <a:latin typeface="Calibri"/>
              </a:rPr>
              <a:t> of what it is like to perceive, feel, or sense something.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1868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C6E82"/>
                </a:solidFill>
                <a:latin typeface="Calibri"/>
              </a:rPr>
              <a:t>Philosophy of mind · the phrase is Thomas Nagel’s, 1974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5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220">
                <a:solidFill>
                  <a:srgbClr val="008DA7"/>
                </a:solidFill>
                <a:latin typeface="Calibri"/>
              </a:rPr>
              <a:t>YOU HAVE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4745736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</a:pPr>
            <a:r>
              <a:rPr sz="1600" b="0">
                <a:solidFill>
                  <a:srgbClr val="A7B7C9"/>
                </a:solidFill>
                <a:latin typeface="Calibri"/>
              </a:rPr>
              <a:t>The specific sting of being corrected in a meeting. Coffee that has gone cold. Nobody can hand you these in a description — you had to have been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5936" y="352958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220">
                <a:solidFill>
                  <a:srgbClr val="FF6600"/>
                </a:solidFill>
                <a:latin typeface="Calibri"/>
              </a:rPr>
              <a:t>IT DOES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3931920"/>
            <a:ext cx="4745736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</a:pPr>
            <a:r>
              <a:rPr sz="1600" b="0">
                <a:solidFill>
                  <a:srgbClr val="A7B7C9"/>
                </a:solidFill>
                <a:latin typeface="Calibri"/>
              </a:rPr>
              <a:t>There is nothing it is like to be the model. It produces the sentence about the coffee without the taste — and the sentence is all we ever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9994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700"/>
              </a:lnSpc>
            </a:pPr>
            <a:r>
              <a:rPr sz="2100" b="1">
                <a:solidFill>
                  <a:srgbClr val="FFFFFF"/>
                </a:solidFill>
                <a:latin typeface="Poppins"/>
              </a:rPr>
              <a:t>Every word we have for thinking assumes qualia.</a:t>
            </a:r>
          </a:p>
          <a:p>
            <a:pPr>
              <a:lnSpc>
                <a:spcPts val="2700"/>
              </a:lnSpc>
            </a:pPr>
            <a:r>
              <a:rPr sz="2100" b="1">
                <a:solidFill>
                  <a:srgbClr val="FFFFFF"/>
                </a:solidFill>
                <a:latin typeface="Poppins"/>
              </a:rPr>
              <a:t>That is the loan we keep making.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5F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3232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spc="260">
                <a:solidFill>
                  <a:srgbClr val="B34A00"/>
                </a:solidFill>
                <a:latin typeface="Calibri"/>
              </a:rPr>
              <a:t>THE WORDS WE BORROW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78992"/>
            <a:ext cx="10360152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4600"/>
              </a:lnSpc>
            </a:pPr>
            <a:r>
              <a:rPr sz="4000" b="1">
                <a:solidFill>
                  <a:srgbClr val="003366"/>
                </a:solidFill>
                <a:latin typeface="Poppins"/>
              </a:rPr>
              <a:t>We have no vocabulary for it</a:t>
            </a:r>
          </a:p>
          <a:p>
            <a:pPr>
              <a:lnSpc>
                <a:spcPts val="4600"/>
              </a:lnSpc>
            </a:pPr>
            <a:r>
              <a:rPr sz="4000" b="1">
                <a:solidFill>
                  <a:srgbClr val="003366"/>
                </a:solidFill>
                <a:latin typeface="Poppins"/>
              </a:rPr>
              <a:t>except our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00"/>
              </a:lnSpc>
            </a:pPr>
            <a:r>
              <a:rPr sz="2000" b="0">
                <a:solidFill>
                  <a:srgbClr val="68737F"/>
                </a:solidFill>
                <a:latin typeface="Calibri"/>
              </a:rPr>
              <a:t>Every verb for what it does was built to describe a mind — it understood, it decided, it wants to help. English offers nothing else, and each word quietly lends it a 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8444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220">
                <a:solidFill>
                  <a:srgbClr val="96A0AC"/>
                </a:solidFill>
                <a:latin typeface="Calibri"/>
              </a:rPr>
              <a:t>WHAT WE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3584448"/>
            <a:ext cx="56967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spc="220">
                <a:solidFill>
                  <a:srgbClr val="96A0AC"/>
                </a:solidFill>
                <a:latin typeface="Calibri"/>
              </a:rPr>
              <a:t>WHAT IS ACTUALLY HAPPENING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</a:pPr>
            <a:r>
              <a:rPr sz="1700" b="1">
                <a:solidFill>
                  <a:srgbClr val="003366"/>
                </a:solidFill>
                <a:latin typeface="Poppins"/>
              </a:rPr>
              <a:t>“It understood my question.”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968496"/>
            <a:ext cx="5696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500" b="0">
                <a:solidFill>
                  <a:srgbClr val="68737F"/>
                </a:solidFill>
                <a:latin typeface="Calibri"/>
              </a:rPr>
              <a:t>The prompt changed which words came next. Nothing was understood.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</a:pPr>
            <a:r>
              <a:rPr sz="1700" b="1">
                <a:solidFill>
                  <a:srgbClr val="003366"/>
                </a:solidFill>
                <a:latin typeface="Poppins"/>
              </a:rPr>
              <a:t>“It decided to leave that out.”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553712"/>
            <a:ext cx="5696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500" b="0">
                <a:solidFill>
                  <a:srgbClr val="68737F"/>
                </a:solidFill>
                <a:latin typeface="Calibri"/>
              </a:rPr>
              <a:t>That continuation scored lower than another. No decision was taken.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0235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00"/>
              </a:lnSpc>
            </a:pPr>
            <a:r>
              <a:rPr sz="1700" b="1">
                <a:solidFill>
                  <a:srgbClr val="003366"/>
                </a:solidFill>
                <a:latin typeface="Poppins"/>
              </a:rPr>
              <a:t>“It wants to be helpful.”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5138927"/>
            <a:ext cx="5696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00"/>
              </a:lnSpc>
            </a:pPr>
            <a:r>
              <a:rPr sz="1500" b="0">
                <a:solidFill>
                  <a:srgbClr val="68737F"/>
                </a:solidFill>
                <a:latin typeface="Calibri"/>
              </a:rPr>
              <a:t>It was tuned toward answers people rated well. There is no wanting.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05856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200"/>
              </a:lnSpc>
            </a:pPr>
            <a:r>
              <a:rPr sz="2400" b="1">
                <a:solidFill>
                  <a:srgbClr val="003366"/>
                </a:solidFill>
                <a:latin typeface="Poppins"/>
              </a:rPr>
              <a:t>The metaphor is unavoidable. The autonomy it implies is not.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45936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BCC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McLennan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AI at MCC — Foundations</dc:title>
  <dc:subject>Staff and faculty professional development, Tier 1</dc:subject>
  <dc:creator>Ted Gonzalez, JD/MBA</dc:creator>
  <cp:lastModifiedBy>Ted Gonzalez, JD/MBA</cp:lastModifiedBy>
  <cp:revision>1</cp:revision>
  <dcterms:created xsi:type="dcterms:W3CDTF">2026-08-04T14:20:57Z</dcterms:created>
  <dcterms:modified xsi:type="dcterms:W3CDTF">2026-08-04T14:20:57Z</dcterms:modified>
</cp:coreProperties>
</file>