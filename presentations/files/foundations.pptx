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0" r:id="rId6"/>
    <p:sldId id="261" r:id="rId7"/>
    <p:sldId id="282" r:id="rId33"/>
    <p:sldId id="283" r:id="rId34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open by defining large language models. Open with the poll on slide 3. Most of this room used AI this week; starting at "what is an LLM" loses the people you most need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this out loud in the first two minutes. It is the difference between a room that engages and a room that waits you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Report your own pre-work survey numbers here too — especially "have you put student information into an AI tool." Report it flatly. It always comes back higher than people expect.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go deeper. Nobody needs tokens or transformers. They need to predict failure, and "it produces plausible text" is enough.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both columns aloud so the room hears they are identical. This is the slide that reorganises people's intuition — slow down.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Half the room has tried the first three. Naming them without mockery is what makes this land.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the room sort their own pre-work answers into these three columns on the board. Their tasks, not your examples.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They should be able to recite these three by the end of the course. It is the only thing on the exit slip.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where that line is in their own job — the message where drafting with AI is fine, and the one where it is not. Then be quiet. The discomfort is the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Demonstrate each live with a before and after. Do not put examples on slides — the room needs to watch the output change in real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which parts are doing the work. They will name the frustration line, and they are right — audience emotional state changes the output more than almost anything.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people treat every prompt as a fresh vending-machine transaction. Learning to argue with the output is the biggest practical upgrade in this session.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honest about FERPA enforcement — no private right of action per Gonzaga v. Doe, and ED has never withdrawn funding. Overstating it costs you the room. GLBA is where the real exposure sits.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Rebuild this on MCC's own Data Classification vocabulary before teaching it. Using tier names the institution already owns makes adoption dramatically easier.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well-known assistant changed its consumer terms in 2025 so consumer chats can train the model unless the user declines — while its Team, Enterprise and Education tiers stayed exempt. Same company, same model, opposite data terms.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Texas also has TRAIGA, effective January 2026 — but its government-entity provisions likely do not reach MCC, since institutions of higher education are excluded from the definition. Do not teach those as binding, and do not assert a training mandate General Counsel has not confirmed.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345936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4BC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Ted Gonzalez, JD/MBA. All rights reserved.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7215" y="634593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4BCC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345936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E5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Ted Gonzalez, JD/MBA. All rights reserved.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7215" y="634593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E5F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UE">
    <p:bg>
      <p:bgPr>
        <a:solidFill>
          <a:srgbClr val="00336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345936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8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Ted Gonzalez, JD/MBA. All rights reserved.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7215" y="634593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82A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7215" y="634593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4BCC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87452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FF6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MCLENNAN COMMUNITY COLLEGE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914400" y="2331720"/>
            <a:ext cx="1036289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6800"/>
              </a:lnSpc>
              <a:buNone/>
            </a:pPr>
            <a:r>
              <a:rPr lang="en-US" sz="6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Leveraging AI</a:t>
            </a:r>
            <a:endParaRPr lang="en-US" sz="6200" dirty="0"/>
          </a:p>
        </p:txBody>
      </p:sp>
      <p:sp>
        <p:nvSpPr>
          <p:cNvPr id="4" name="Text 2"/>
          <p:cNvSpPr/>
          <p:nvPr/>
        </p:nvSpPr>
        <p:spPr>
          <a:xfrm>
            <a:off x="914400" y="3310128"/>
            <a:ext cx="1036289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6800"/>
              </a:lnSpc>
              <a:buNone/>
            </a:pPr>
            <a:r>
              <a:rPr lang="en-US" sz="6200" b="1" dirty="0">
                <a:solidFill>
                  <a:srgbClr val="5C6E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at MCC</a:t>
            </a:r>
            <a:endParaRPr lang="en-US" sz="6200" dirty="0"/>
          </a:p>
        </p:txBody>
      </p:sp>
      <p:sp>
        <p:nvSpPr>
          <p:cNvPr id="5" name="Text 3"/>
          <p:cNvSpPr/>
          <p:nvPr/>
        </p:nvSpPr>
        <p:spPr>
          <a:xfrm>
            <a:off x="914400" y="470916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A7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 ·  Tier 1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14400" y="5138928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Ted Gonzalez, JD/MBA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7215" y="634593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E5F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965960"/>
            <a:ext cx="9814255" cy="16784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6032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Nobody here is</a:t>
            </a:r>
            <a:endParaRPr lang="en-US" sz="5200" dirty="0"/>
          </a:p>
          <a:p>
            <a:pPr indent="0" marL="0">
              <a:lnSpc>
                <a:spcPts val="6032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starting from zero.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914400" y="3955288"/>
            <a:ext cx="8716975" cy="2034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3000"/>
              </a:lnSpc>
              <a:buNone/>
            </a:pPr>
            <a:r>
              <a:rPr lang="en-US" sz="2000" dirty="0">
                <a:solidFill>
                  <a:srgbClr val="A7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of you have used these tools daily for two years. Some have used them twice. Both are welcome, and neither is behind.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7215" y="634593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E5F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13232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spc="260" kern="0" dirty="0">
                <a:solidFill>
                  <a:srgbClr val="B34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ROOM YOU ARE ACTUALLY IN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914400" y="1078992"/>
            <a:ext cx="10362895" cy="12964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Almost everyone here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already uses AI for work.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14400" y="3063240"/>
            <a:ext cx="22135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94%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914400" y="3465576"/>
            <a:ext cx="2213534" cy="6812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394"/>
              </a:lnSpc>
              <a:buNone/>
            </a:pPr>
            <a:r>
              <a:rPr lang="en-US" sz="19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have used it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14400" y="4347972"/>
            <a:ext cx="2213534" cy="15041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work, in the past six months.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30854" y="3063240"/>
            <a:ext cx="22135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0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38%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630854" y="3465576"/>
            <a:ext cx="2213534" cy="6812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394"/>
              </a:lnSpc>
              <a:buNone/>
            </a:pPr>
            <a:r>
              <a:rPr lang="en-US" sz="19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use it daily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3630854" y="4347972"/>
            <a:ext cx="2213534" cy="15041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those users — every working day.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347308" y="3063240"/>
            <a:ext cx="22135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34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56%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347308" y="3465576"/>
            <a:ext cx="2213534" cy="6812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394"/>
              </a:lnSpc>
              <a:buNone/>
            </a:pPr>
            <a:r>
              <a:rPr lang="en-US" sz="19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 personal accounts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6347308" y="4347972"/>
            <a:ext cx="2213534" cy="15041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Non-institutional tools, unsanctioned.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063761" y="3063240"/>
            <a:ext cx="22135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46%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9063761" y="3465576"/>
            <a:ext cx="2213534" cy="6812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394"/>
              </a:lnSpc>
              <a:buNone/>
            </a:pPr>
            <a:r>
              <a:rPr lang="en-US" sz="19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 not know the rules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9063761" y="4347972"/>
            <a:ext cx="2213534" cy="15041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Unaware of their institution's AI policy.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14400" y="5943600"/>
            <a:ext cx="89912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EDUCAUSE, "The Impact of AI on Work in Higher Education," January 2026 · n = 1,960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7215" y="634593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4BCC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10362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FF66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PART ONE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914400" y="2286000"/>
            <a:ext cx="92656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58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this thing</a:t>
            </a:r>
            <a:endParaRPr lang="en-US" sz="5000" dirty="0"/>
          </a:p>
          <a:p>
            <a:pPr indent="0" marL="0">
              <a:lnSpc>
                <a:spcPts val="58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actually is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914400" y="4023360"/>
            <a:ext cx="79854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B7C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mental model — enough to predict when it will fail you.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7215" y="634593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82A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13232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spc="260" kern="0" dirty="0">
                <a:solidFill>
                  <a:srgbClr val="B34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MECHANISM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914400" y="1078992"/>
            <a:ext cx="10362895" cy="712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 predicts the next word.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14400" y="2468880"/>
            <a:ext cx="88998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982"/>
              </a:lnSpc>
              <a:buNone/>
            </a:pPr>
            <a:r>
              <a:rPr lang="en-US" sz="21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the whole mechanism. Not retrieval from a database. Not reasoning from known facts. Prediction of the most plausible continuation of your text.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914400" y="4160520"/>
            <a:ext cx="88998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3400"/>
              </a:lnSpc>
              <a:buNone/>
            </a:pPr>
            <a:r>
              <a:rPr lang="en-US" sz="24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wrong answer and a right answer are produced by exactly the same process — and they arrive looking exactly the same.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7215" y="634593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4BCC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13232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spc="260" kern="0" dirty="0">
                <a:solidFill>
                  <a:srgbClr val="FF6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KEY IDEA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914400" y="1078992"/>
            <a:ext cx="10362895" cy="12964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Fluency and accuracy are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separate dials.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14400" y="2926080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6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one of them is turned up.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14400" y="3657600"/>
            <a:ext cx="49299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08D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YOU JUDGE A PERSON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14400" y="4059936"/>
            <a:ext cx="4747108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7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Confidence. Fluency. Specific detail. Correct jargon. A well-formed citation. Answering without hesitating.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347308" y="3657600"/>
            <a:ext cx="49299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6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MODEL OPTIMIZES FOR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347308" y="4059936"/>
            <a:ext cx="4747108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7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Confidence. Fluency. Specific detail. Correct jargon. A well-formed citation. Answering without hesitating.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7215" y="634593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E5F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737360"/>
            <a:ext cx="9814255" cy="2090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5104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Our error detection was</a:t>
            </a:r>
            <a:endParaRPr lang="en-US" sz="4400" dirty="0"/>
          </a:p>
          <a:p>
            <a:pPr indent="0" marL="0">
              <a:lnSpc>
                <a:spcPts val="5104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trained on humans.</a:t>
            </a:r>
            <a:endParaRPr lang="en-US" sz="4400" dirty="0"/>
          </a:p>
          <a:p>
            <a:pPr indent="0" marL="0">
              <a:lnSpc>
                <a:spcPts val="5104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 does not transfer.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4139184"/>
            <a:ext cx="8716975" cy="18501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3000"/>
              </a:lnSpc>
              <a:buNone/>
            </a:pPr>
            <a:r>
              <a:rPr lang="en-US" sz="2000" dirty="0">
                <a:solidFill>
                  <a:srgbClr val="A7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fabricated citation looks more like a real citation than most real citations do.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7215" y="634593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82A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13232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spc="260" kern="0" dirty="0">
                <a:solidFill>
                  <a:srgbClr val="B34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COMMON MOVE THAT FAILS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914400" y="1078992"/>
            <a:ext cx="10362895" cy="12964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"Please be accurate"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does not work.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14400" y="2514600"/>
            <a:ext cx="713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C0392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✕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737360" y="2487168"/>
            <a:ext cx="9539935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"Only use real sources."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737360" y="2822448"/>
            <a:ext cx="9082735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 the style of the citations, not whether they exist.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481324"/>
            <a:ext cx="713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C0392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✕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737360" y="3453892"/>
            <a:ext cx="9539935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"Say I don't know if you don't know."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737360" y="3789172"/>
            <a:ext cx="9082735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 how often it hedges. It cannot know what it does not know.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4448048"/>
            <a:ext cx="713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C0392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✕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737360" y="4420616"/>
            <a:ext cx="9539935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"Be accurate. This is important."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1737360" y="4755896"/>
            <a:ext cx="9082735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 the tone. There is no accuracy setting behind it.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14400" y="5414772"/>
            <a:ext cx="713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A7F4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✓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737360" y="5387340"/>
            <a:ext cx="9539935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Give it the document. Then check the output.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737360" y="5722620"/>
            <a:ext cx="9082735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 plus your verification. That is where accuracy comes from.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7215" y="634593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4BCC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13232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spc="260" kern="0" dirty="0">
                <a:solidFill>
                  <a:srgbClr val="B34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PREDICT TROUBLE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914400" y="1078992"/>
            <a:ext cx="10362895" cy="12964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shape of the task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tells you the risk.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14400" y="2880360"/>
            <a:ext cx="311901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1A7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RISK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914400" y="3282696"/>
            <a:ext cx="3119018" cy="9852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394"/>
              </a:lnSpc>
              <a:buNone/>
            </a:pPr>
            <a:r>
              <a:rPr lang="en-US" sz="19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You have the facts.</a:t>
            </a:r>
            <a:endParaRPr lang="en-US" sz="1900" dirty="0"/>
          </a:p>
          <a:p>
            <a:pPr indent="0" marL="0">
              <a:lnSpc>
                <a:spcPts val="2394"/>
              </a:lnSpc>
              <a:buNone/>
            </a:pPr>
            <a:r>
              <a:rPr lang="en-US" sz="19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shapes them.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14400" y="4469130"/>
            <a:ext cx="3119018" cy="14744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this email. Turn these notes into an outline.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tone and completeness.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36338" y="2880360"/>
            <a:ext cx="311901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34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RISK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536338" y="3282696"/>
            <a:ext cx="3119018" cy="9852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394"/>
              </a:lnSpc>
              <a:buNone/>
            </a:pPr>
            <a:r>
              <a:rPr lang="en-US" sz="19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You supply the source.</a:t>
            </a:r>
            <a:endParaRPr lang="en-US" sz="1900" dirty="0"/>
          </a:p>
          <a:p>
            <a:pPr indent="0" marL="0">
              <a:lnSpc>
                <a:spcPts val="2394"/>
              </a:lnSpc>
              <a:buNone/>
            </a:pPr>
            <a:r>
              <a:rPr lang="en-US" sz="19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processes it.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36338" y="4469130"/>
            <a:ext cx="3119018" cy="14744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Summarize this document. Pull out the deadlines.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against the source, every time.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158277" y="2880360"/>
            <a:ext cx="311901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RISK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158277" y="3282696"/>
            <a:ext cx="3119018" cy="9852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394"/>
              </a:lnSpc>
              <a:buNone/>
            </a:pPr>
            <a:r>
              <a:rPr lang="en-US" sz="19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You are asking AI</a:t>
            </a:r>
            <a:endParaRPr lang="en-US" sz="1900" dirty="0"/>
          </a:p>
          <a:p>
            <a:pPr indent="0" marL="0">
              <a:lnSpc>
                <a:spcPts val="2394"/>
              </a:lnSpc>
              <a:buNone/>
            </a:pPr>
            <a:r>
              <a:rPr lang="en-US" sz="19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 supply the facts.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8158277" y="4469130"/>
            <a:ext cx="3119018" cy="14744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our policy on X? When is the deadline for Y?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everything — or do not ask.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7215" y="634593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4BCC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828800"/>
            <a:ext cx="9814255" cy="1442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5104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question is never</a:t>
            </a:r>
            <a:endParaRPr lang="en-US" sz="4400" dirty="0"/>
          </a:p>
          <a:p>
            <a:pPr indent="0" marL="0">
              <a:lnSpc>
                <a:spcPts val="5104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"is AI accurate."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3582416"/>
            <a:ext cx="8716975" cy="2406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3000"/>
              </a:lnSpc>
              <a:buNone/>
            </a:pPr>
            <a:r>
              <a:rPr lang="en-US" sz="2000" dirty="0">
                <a:solidFill>
                  <a:srgbClr val="A7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is: am I asking it to shape information I already have, or to invent information I do not?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7215" y="634593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E5F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13232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spc="260" kern="0" dirty="0">
                <a:solidFill>
                  <a:srgbClr val="B34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TAKEAWAY FROM SESSION ONE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914400" y="1078992"/>
            <a:ext cx="10362895" cy="712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three-question check.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14400" y="2606040"/>
            <a:ext cx="3119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B34A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01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914400" y="3319272"/>
            <a:ext cx="3119018" cy="7452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646"/>
              </a:lnSpc>
              <a:buNone/>
            </a:pPr>
            <a:r>
              <a:rPr lang="en-US" sz="21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would make</a:t>
            </a:r>
            <a:endParaRPr lang="en-US" sz="2100" dirty="0"/>
          </a:p>
          <a:p>
            <a:pPr indent="0" marL="0">
              <a:lnSpc>
                <a:spcPts val="2646"/>
              </a:lnSpc>
              <a:buNone/>
            </a:pPr>
            <a:r>
              <a:rPr lang="en-US" sz="21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this wrong?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14400" y="4265676"/>
            <a:ext cx="3119018" cy="15864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the failure mode before you go looking. Predicting the error is how you find it.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36338" y="2606040"/>
            <a:ext cx="3119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B34A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02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4536338" y="3319272"/>
            <a:ext cx="3119018" cy="7452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646"/>
              </a:lnSpc>
              <a:buNone/>
            </a:pPr>
            <a:r>
              <a:rPr lang="en-US" sz="21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Where did this</a:t>
            </a:r>
            <a:endParaRPr lang="en-US" sz="2100" dirty="0"/>
          </a:p>
          <a:p>
            <a:pPr indent="0" marL="0">
              <a:lnSpc>
                <a:spcPts val="2646"/>
              </a:lnSpc>
              <a:buNone/>
            </a:pPr>
            <a:r>
              <a:rPr lang="en-US" sz="21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come from?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4536338" y="4265676"/>
            <a:ext cx="3119018" cy="15864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fact, number, name and citation traced to a source you can open. If you cannot open it, it does not exist.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158277" y="2606040"/>
            <a:ext cx="3119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B34A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03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8158277" y="3319272"/>
            <a:ext cx="3119018" cy="7452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646"/>
              </a:lnSpc>
              <a:buNone/>
            </a:pPr>
            <a:r>
              <a:rPr lang="en-US" sz="21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Who is accountable</a:t>
            </a:r>
            <a:endParaRPr lang="en-US" sz="2100" dirty="0"/>
          </a:p>
          <a:p>
            <a:pPr indent="0" marL="0">
              <a:lnSpc>
                <a:spcPts val="2646"/>
              </a:lnSpc>
              <a:buNone/>
            </a:pPr>
            <a:r>
              <a:rPr lang="en-US" sz="21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when it is wrong?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8158277" y="4265676"/>
            <a:ext cx="3119018" cy="15864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are. Your name is on it, your judgment is in it, and the tool is not a co-signer.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7215" y="634593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4BCC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13232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spc="260" kern="0" dirty="0">
                <a:solidFill>
                  <a:srgbClr val="FF6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VANDERBILT · FEBRUARY 2023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914400" y="1078992"/>
            <a:ext cx="10362895" cy="12964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failure actually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looks like.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14400" y="2880360"/>
            <a:ext cx="88998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840"/>
              </a:lnSpc>
              <a:buNone/>
            </a:pPr>
            <a:r>
              <a:rPr lang="en-US" sz="2000" dirty="0">
                <a:solidFill>
                  <a:srgbClr val="A7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Administrators sent a campus-wide condolence message about the shooting at Michigan State. It had been generated by ChatGPT — and the attribution line was still in the sent email. Two administrators stepped back from their roles.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914400" y="4389120"/>
            <a:ext cx="311901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THIS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14400" y="4791456"/>
            <a:ext cx="3119018" cy="3611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68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data disclosed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5353812"/>
            <a:ext cx="3119018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A7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student record moved anywhere.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36338" y="4389120"/>
            <a:ext cx="311901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THIS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536338" y="4791456"/>
            <a:ext cx="3119018" cy="3611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68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law broken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36338" y="5353812"/>
            <a:ext cx="3119018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A7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regulation applied. Nothing to report.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158277" y="4389120"/>
            <a:ext cx="311901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6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158277" y="4791456"/>
            <a:ext cx="3119018" cy="3611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68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Judgment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158277" y="5353812"/>
            <a:ext cx="3119018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A7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damaging AI incident that year.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14400" y="5943600"/>
            <a:ext cx="89912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CNN, February 22, 2023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7215" y="634593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E5F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10362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FF66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PART TWO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914400" y="2286000"/>
            <a:ext cx="92656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58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Prompting as</a:t>
            </a:r>
            <a:endParaRPr lang="en-US" sz="5000" dirty="0"/>
          </a:p>
          <a:p>
            <a:pPr indent="0" marL="0">
              <a:lnSpc>
                <a:spcPts val="58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work skill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914400" y="4023360"/>
            <a:ext cx="79854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B7C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moves, one habit, and knowing when to stop.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7215" y="634593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82A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13232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spc="260" kern="0" dirty="0">
                <a:solidFill>
                  <a:srgbClr val="B34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TWO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914400" y="1078992"/>
            <a:ext cx="10362895" cy="12964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Four moves that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reliably work.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14400" y="2542032"/>
            <a:ext cx="22135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B34A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01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914400" y="3255264"/>
            <a:ext cx="2213534" cy="6812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394"/>
              </a:lnSpc>
              <a:buNone/>
            </a:pPr>
            <a:r>
              <a:rPr lang="en-US" sz="19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Context it</a:t>
            </a:r>
            <a:endParaRPr lang="en-US" sz="1900" dirty="0"/>
          </a:p>
          <a:p>
            <a:pPr indent="0" marL="0">
              <a:lnSpc>
                <a:spcPts val="2394"/>
              </a:lnSpc>
              <a:buNone/>
            </a:pPr>
            <a:r>
              <a:rPr lang="en-US" sz="19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cannot have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14400" y="4137660"/>
            <a:ext cx="2213534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does not know your audience is already annoyed about this policy, or that the deadline moved twice.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30854" y="2542032"/>
            <a:ext cx="22135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B34A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02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3630854" y="3255264"/>
            <a:ext cx="2213534" cy="6812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394"/>
              </a:lnSpc>
              <a:buNone/>
            </a:pPr>
            <a:r>
              <a:rPr lang="en-US" sz="19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example</a:t>
            </a:r>
            <a:endParaRPr lang="en-US" sz="1900" dirty="0"/>
          </a:p>
          <a:p>
            <a:pPr indent="0" marL="0">
              <a:lnSpc>
                <a:spcPts val="2394"/>
              </a:lnSpc>
              <a:buNone/>
            </a:pPr>
            <a:r>
              <a:rPr lang="en-US" sz="19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of good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3630854" y="4137660"/>
            <a:ext cx="2213534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sample of your actual voice beats three paragraphs describing it.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347308" y="2542032"/>
            <a:ext cx="22135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B34A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03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6347308" y="3255264"/>
            <a:ext cx="2213534" cy="6812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394"/>
              </a:lnSpc>
              <a:buNone/>
            </a:pPr>
            <a:r>
              <a:rPr lang="en-US" sz="19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Audience</a:t>
            </a:r>
            <a:endParaRPr lang="en-US" sz="1900" dirty="0"/>
          </a:p>
          <a:p>
            <a:pPr indent="0" marL="0">
              <a:lnSpc>
                <a:spcPts val="2394"/>
              </a:lnSpc>
              <a:buNone/>
            </a:pPr>
            <a:r>
              <a:rPr lang="en-US" sz="19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and role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6347308" y="4137660"/>
            <a:ext cx="2213534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"Explain this to a first-semester student" and "to the VP of Finance" produce different documents.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063761" y="2542032"/>
            <a:ext cx="22135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B34A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04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9063761" y="3255264"/>
            <a:ext cx="2213534" cy="6812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394"/>
              </a:lnSpc>
              <a:buNone/>
            </a:pPr>
            <a:r>
              <a:rPr lang="en-US" sz="19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Constrain</a:t>
            </a:r>
            <a:endParaRPr lang="en-US" sz="1900" dirty="0"/>
          </a:p>
          <a:p>
            <a:pPr indent="0" marL="0">
              <a:lnSpc>
                <a:spcPts val="2394"/>
              </a:lnSpc>
              <a:buNone/>
            </a:pPr>
            <a:r>
              <a:rPr lang="en-US" sz="19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output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9063761" y="4137660"/>
            <a:ext cx="2213534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Length, format, what to leave out. "Three bullets, no preamble" removes most of what people dislike.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7215" y="634593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4BCC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13232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spc="260" kern="0" dirty="0">
                <a:solidFill>
                  <a:srgbClr val="B34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REQUEST, TWICE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914400" y="1078992"/>
            <a:ext cx="10362895" cy="712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Forty seconds of context.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14400" y="2514600"/>
            <a:ext cx="49299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914400" y="2916936"/>
            <a:ext cx="4747108" cy="2615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"Write an email about the new travel reimbursement process."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347308" y="2514600"/>
            <a:ext cx="49299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1A7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347308" y="2916936"/>
            <a:ext cx="4747108" cy="2615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am a department coordinator at a Texas community college. I need to email 40 faculty about a change to travel reimbursement — receipts now go through a portal instead of paper forms. This is the third process change this year and people are frustrated. Short, matter-of-fact, no corporate cheerfulness, with the three steps they have to do. Under 150 words."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7215" y="634593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4BCC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13232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spc="260" kern="0" dirty="0">
                <a:solidFill>
                  <a:srgbClr val="B34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MOVE ALMOST NOBODY TRIES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914400" y="1078992"/>
            <a:ext cx="10362895" cy="12964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 not rewrite the prompt.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Talk back to the output.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14400" y="2953512"/>
            <a:ext cx="713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B34A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737360" y="2926080"/>
            <a:ext cx="9539935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Ask for what you want. Then read it properly.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737360" y="3261360"/>
            <a:ext cx="9082735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down one specific thing that is wrong — not "it is bad."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985260"/>
            <a:ext cx="713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069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02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737360" y="3957828"/>
            <a:ext cx="9539935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Respond to the output. Do not re-specify.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737360" y="4293108"/>
            <a:ext cx="9082735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second paragraph is too formal. And you invented a deadline — remove it."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5283708"/>
            <a:ext cx="713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03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737360" y="5256276"/>
            <a:ext cx="9539935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Ask it to critique itself, then decide if you agree.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1737360" y="5591556"/>
            <a:ext cx="9082735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"What is the weakest part of this for frustrated adjunct faculty?"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7215" y="634593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4BCC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13232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spc="260" kern="0" dirty="0">
                <a:solidFill>
                  <a:srgbClr val="FF6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KNOWING WHEN TO STOP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914400" y="1078992"/>
            <a:ext cx="10362895" cy="12964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When the prompt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is not the problem.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14400" y="2697480"/>
            <a:ext cx="22135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914400" y="3099816"/>
            <a:ext cx="2213534" cy="9372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68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 needs facts</a:t>
            </a:r>
            <a:endParaRPr lang="en-US" sz="1800" dirty="0"/>
          </a:p>
          <a:p>
            <a:pPr indent="0" marL="0">
              <a:lnSpc>
                <a:spcPts val="2268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only MCC has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4238244"/>
            <a:ext cx="2213534" cy="16322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A7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prompt retrieves our catalog language. Give it the document.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30854" y="2697480"/>
            <a:ext cx="22135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630854" y="3099816"/>
            <a:ext cx="2213534" cy="9372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68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judgment</a:t>
            </a:r>
            <a:endParaRPr lang="en-US" sz="1800" dirty="0"/>
          </a:p>
          <a:p>
            <a:pPr indent="0" marL="0">
              <a:lnSpc>
                <a:spcPts val="2268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is the job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630854" y="4238244"/>
            <a:ext cx="2213534" cy="16322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A7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appeal. A performance conversation. Decide first.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347308" y="2697480"/>
            <a:ext cx="22135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347308" y="3099816"/>
            <a:ext cx="2213534" cy="9372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68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Checking costs</a:t>
            </a:r>
            <a:endParaRPr lang="en-US" sz="1800" dirty="0"/>
          </a:p>
          <a:p>
            <a:pPr indent="0" marL="0">
              <a:lnSpc>
                <a:spcPts val="2268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more than doing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347308" y="4238244"/>
            <a:ext cx="2213534" cy="16322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A7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verifying takes longer than writing it, you have lost.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063761" y="2697480"/>
            <a:ext cx="22135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9D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CAREFUL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9063761" y="3099816"/>
            <a:ext cx="2213534" cy="9372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68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You would lose</a:t>
            </a:r>
            <a:endParaRPr lang="en-US" sz="1800" dirty="0"/>
          </a:p>
          <a:p>
            <a:pPr indent="0" marL="0">
              <a:lnSpc>
                <a:spcPts val="2268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skill you need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063761" y="4238244"/>
            <a:ext cx="2213534" cy="16322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A7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juniors stop building judgment through the work, the pipeline weakens.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14400" y="5943600"/>
            <a:ext cx="89912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De-skilling concern documented in Ithaka S+R, "AI Adoption in Research Administration," 2025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7215" y="634593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E5F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10362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FF66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PART THREE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914400" y="2286000"/>
            <a:ext cx="92656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58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MCC</a:t>
            </a:r>
            <a:endParaRPr lang="en-US" sz="5000" dirty="0"/>
          </a:p>
          <a:p>
            <a:pPr indent="0" marL="0">
              <a:lnSpc>
                <a:spcPts val="58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line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914400" y="4023360"/>
            <a:ext cx="79854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B7C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session with real consequences — and the one to get right.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7215" y="634593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82A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13232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spc="260" kern="0" dirty="0">
                <a:solidFill>
                  <a:srgbClr val="B34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GOVERNS WHAT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914400" y="1078992"/>
            <a:ext cx="10362895" cy="712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Five regimes, in plain language.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14400" y="2203704"/>
            <a:ext cx="713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737360" y="2176272"/>
            <a:ext cx="9539935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FERPA — student education records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737360" y="2511552"/>
            <a:ext cx="9082735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Grades, rosters, advising notes, conduct records, transcripts.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006471"/>
            <a:ext cx="713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C0392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737360" y="2979039"/>
            <a:ext cx="9539935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GLBA and the FTC Safeguards Rule — financial aid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737360" y="3314319"/>
            <a:ext cx="9082735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FAFSA data, ISIRs, SSNs. Enforceable since 2023. Reaches Title IV.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3809238"/>
            <a:ext cx="713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069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737360" y="3781806"/>
            <a:ext cx="9539935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Health, counseling and disability documentation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1737360" y="4117086"/>
            <a:ext cx="9082735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the category itself the stop sign, not the statute.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14400" y="4612005"/>
            <a:ext cx="713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B34A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737360" y="4584573"/>
            <a:ext cx="9539935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Title IX, conduct and HR investigations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737360" y="4919853"/>
            <a:ext cx="9082735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stop. No drafting, no summarizing, no AI notetakers.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14400" y="5414772"/>
            <a:ext cx="713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8F5E0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737360" y="5387340"/>
            <a:ext cx="9539935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Personnel and HR data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1737360" y="5722620"/>
            <a:ext cx="9082735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FERPA, still sensitive. Student-employee records ARE education records.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7215" y="634593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4BCC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691640"/>
            <a:ext cx="9814255" cy="25034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464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FERPA's worst case</a:t>
            </a:r>
            <a:endParaRPr lang="en-US" sz="4000" dirty="0"/>
          </a:p>
          <a:p>
            <a:pPr indent="0" marL="0">
              <a:lnSpc>
                <a:spcPts val="464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is a letter.</a:t>
            </a:r>
            <a:endParaRPr lang="en-US" sz="4000" dirty="0"/>
          </a:p>
          <a:p>
            <a:pPr indent="0" marL="0">
              <a:lnSpc>
                <a:spcPts val="464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GLBA's reaches our</a:t>
            </a:r>
            <a:endParaRPr lang="en-US" sz="4000" dirty="0"/>
          </a:p>
          <a:p>
            <a:pPr indent="0" marL="0">
              <a:lnSpc>
                <a:spcPts val="464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ability to disburse aid.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7215" y="634593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E5F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13232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spc="260" kern="0" dirty="0">
                <a:solidFill>
                  <a:srgbClr val="B34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LINE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914400" y="1078992"/>
            <a:ext cx="10362895" cy="712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Green, yellow, red.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14400" y="2606040"/>
            <a:ext cx="311901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1A7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— ANY TOOL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914400" y="3008376"/>
            <a:ext cx="31190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520"/>
              </a:lnSpc>
              <a:buNone/>
            </a:pPr>
            <a:r>
              <a:rPr lang="en-US" sz="20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Already public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914400" y="3922776"/>
            <a:ext cx="3119018" cy="19293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catalog and marketing text. Public policy language. Generic drafting with no institutional data.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36338" y="2606040"/>
            <a:ext cx="311901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F5E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YELLOW — LICENSED TOOLS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536338" y="3008376"/>
            <a:ext cx="31190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520"/>
              </a:lnSpc>
              <a:buNone/>
            </a:pPr>
            <a:r>
              <a:rPr lang="en-US" sz="20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Internal, not personal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36338" y="3922776"/>
            <a:ext cx="3119018" cy="19293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procedures, agendas, internal communications, planning documents, aggregate enrolment. Signed in with your MCC account.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158277" y="2606040"/>
            <a:ext cx="311901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— NO AI TOOL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158277" y="3008376"/>
            <a:ext cx="31190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520"/>
              </a:lnSpc>
              <a:buNone/>
            </a:pPr>
            <a:r>
              <a:rPr lang="en-US" sz="20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About a person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158277" y="3922776"/>
            <a:ext cx="3119018" cy="19293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records · financial aid · health and disability · Title IX, conduct and HR · personnel files · SSNs · credentials · legal hold.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14400" y="5532120"/>
            <a:ext cx="103628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When in doubt, it is red.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7215" y="634593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4BCC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13232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spc="260" kern="0" dirty="0">
                <a:solidFill>
                  <a:srgbClr val="FF6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 ONE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914400" y="1463040"/>
            <a:ext cx="9814255" cy="23855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4408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If you did not sign in</a:t>
            </a:r>
            <a:endParaRPr lang="en-US" sz="3800" dirty="0"/>
          </a:p>
          <a:p>
            <a:pPr indent="0" marL="0">
              <a:lnSpc>
                <a:spcPts val="4408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with your MCC account,</a:t>
            </a:r>
            <a:endParaRPr lang="en-US" sz="3800" dirty="0"/>
          </a:p>
          <a:p>
            <a:pPr indent="0" marL="0">
              <a:lnSpc>
                <a:spcPts val="4408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treat it as publishing</a:t>
            </a:r>
            <a:endParaRPr lang="en-US" sz="3800" dirty="0"/>
          </a:p>
          <a:p>
            <a:pPr indent="0" marL="0">
              <a:lnSpc>
                <a:spcPts val="4408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 the open internet.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914400" y="5029200"/>
            <a:ext cx="90827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B7C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distinction is never the brand. It is the contract — and protection attaches to the authenticated session, not the logo on the page.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7215" y="634593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82A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13232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spc="260" kern="0" dirty="0">
                <a:solidFill>
                  <a:srgbClr val="B34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 TWO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914400" y="1078992"/>
            <a:ext cx="10362895" cy="712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notetakers.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14400" y="2331720"/>
            <a:ext cx="88998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698"/>
              </a:lnSpc>
              <a:buNone/>
            </a:pPr>
            <a:r>
              <a:rPr lang="en-US" sz="19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Otter. Teams recap. Zoom AI Companion. Read.ai. Anything that joins a meeting and starts transcribing.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914400" y="3291840"/>
            <a:ext cx="94484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3600"/>
              </a:lnSpc>
              <a:buNone/>
            </a:pPr>
            <a:r>
              <a:rPr lang="en-US" sz="2700" b="1" dirty="0">
                <a:solidFill>
                  <a:srgbClr val="C0392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Never in an advising, counseling, Title IX, conduct, HR investigation or grievance meeting.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4407408"/>
            <a:ext cx="88998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2500"/>
              </a:lnSpc>
              <a:buNone/>
            </a:pPr>
            <a:r>
              <a:rPr lang="en-US" sz="17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exceptions without written authorization from the Title IX Coordinator or General Counsel.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14400" y="5120640"/>
            <a:ext cx="8899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the highest-frequency accidental disclosure in higher education right now — because it attaches without anyone deciding to use it.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7215" y="634593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4BCC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13232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spc="260" kern="0" dirty="0">
                <a:solidFill>
                  <a:srgbClr val="FF6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TEXAS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914400" y="1078992"/>
            <a:ext cx="10362895" cy="12964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Your prompts are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probably public records.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14400" y="2880360"/>
            <a:ext cx="88998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698"/>
              </a:lnSpc>
              <a:buNone/>
            </a:pPr>
            <a:r>
              <a:rPr lang="en-US" sz="1900" dirty="0">
                <a:solidFill>
                  <a:srgbClr val="A7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MCC is a governmental body. Prompts and outputs created in the course of official business are very likely public information under Government Code Chapter 552, and subject to records retention.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914400" y="4343400"/>
            <a:ext cx="88998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FF6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a personal account does not take the record out of reach. It just makes it harder to produce — and adds a records-management problem on top.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5285232"/>
            <a:ext cx="999713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8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Write every prompt as though it could be printed in the Waco Tribune-Herald.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7215" y="634593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E5F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13232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spc="260" kern="0" dirty="0">
                <a:solidFill>
                  <a:srgbClr val="B34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ONE COMPLETE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914400" y="1078992"/>
            <a:ext cx="10362895" cy="712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you are leaving with.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14400" y="2606040"/>
            <a:ext cx="311901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914400" y="3008376"/>
            <a:ext cx="3119018" cy="4091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646"/>
              </a:lnSpc>
              <a:buNone/>
            </a:pPr>
            <a:r>
              <a:rPr lang="en-US" sz="21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mental model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14400" y="3618738"/>
            <a:ext cx="3119018" cy="22334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predicts plausible text. Fluency and accuracy are separate dials. The shape of the task tells you the risk.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36338" y="2606040"/>
            <a:ext cx="311901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0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536338" y="3008376"/>
            <a:ext cx="3119018" cy="4091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646"/>
              </a:lnSpc>
              <a:buNone/>
            </a:pPr>
            <a:r>
              <a:rPr lang="en-US" sz="21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Three questions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4536338" y="3618738"/>
            <a:ext cx="3119018" cy="22334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make this wrong? Where did it come from? Who is accountable? (You are.)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158277" y="2606040"/>
            <a:ext cx="311901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34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158277" y="3008376"/>
            <a:ext cx="3119018" cy="4091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646"/>
              </a:lnSpc>
              <a:buNone/>
            </a:pPr>
            <a:r>
              <a:rPr lang="en-US" sz="21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line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8158277" y="3618738"/>
            <a:ext cx="3119018" cy="22334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Green, yellow, red. The sign-in check. No notetakers in the hard rooms. When in doubt, it is red.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14400" y="5440680"/>
            <a:ext cx="96313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300"/>
              </a:lnSpc>
              <a:buNone/>
            </a:pPr>
            <a:r>
              <a:rPr lang="en-US" sz="1550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exit artifact: three tasks classified by risk and by data line · your time-audit task, before and after · and one behavior you are changing, in one sentence.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7215" y="634593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4BCC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13232"/>
            <a:ext cx="103601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spc="260">
                <a:solidFill>
                  <a:srgbClr val="FF6600"/>
                </a:solidFill>
                <a:latin typeface="Calibri"/>
              </a:rPr>
              <a:t>A DEFINITION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78992"/>
            <a:ext cx="10360152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4600"/>
              </a:lnSpc>
            </a:pPr>
            <a:r>
              <a:rPr sz="4000" b="1">
                <a:solidFill>
                  <a:srgbClr val="FFFFFF"/>
                </a:solidFill>
                <a:latin typeface="Poppins"/>
              </a:rPr>
              <a:t>Qualia: what it is like</a:t>
            </a:r>
          </a:p>
          <a:p>
            <a:pPr>
              <a:lnSpc>
                <a:spcPts val="4600"/>
              </a:lnSpc>
            </a:pPr>
            <a:r>
              <a:rPr sz="4000" b="1">
                <a:solidFill>
                  <a:srgbClr val="FFFFFF"/>
                </a:solidFill>
                <a:latin typeface="Poppins"/>
              </a:rPr>
              <a:t>to be something.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9875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A7B7C9"/>
                </a:solidFill>
                <a:latin typeface="Calibri"/>
              </a:rPr>
              <a:t>The subjective, qualitative, phenomenal properties of conscious experience — the individual </a:t>
            </a:r>
            <a:r>
              <a:rPr sz="1900" b="1">
                <a:solidFill>
                  <a:srgbClr val="FF6600"/>
                </a:solidFill>
                <a:latin typeface="Calibri"/>
              </a:rPr>
              <a:t>“raw feel”</a:t>
            </a:r>
            <a:r>
              <a:rPr sz="1900" b="0">
                <a:solidFill>
                  <a:srgbClr val="A7B7C9"/>
                </a:solidFill>
                <a:latin typeface="Calibri"/>
              </a:rPr>
              <a:t> of what it is like to perceive, feel, or sense something.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18688"/>
            <a:ext cx="98755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5C6E82"/>
                </a:solidFill>
                <a:latin typeface="Calibri"/>
              </a:rPr>
              <a:t>Philosophy of mind · the phrase is Thomas Nagel’s, 1974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529584"/>
            <a:ext cx="492861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 spc="220">
                <a:solidFill>
                  <a:srgbClr val="008DA7"/>
                </a:solidFill>
                <a:latin typeface="Calibri"/>
              </a:rPr>
              <a:t>YOU HAVE THEM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931920"/>
            <a:ext cx="4745736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2100"/>
              </a:lnSpc>
            </a:pPr>
            <a:r>
              <a:rPr sz="1600" b="0">
                <a:solidFill>
                  <a:srgbClr val="A7B7C9"/>
                </a:solidFill>
                <a:latin typeface="Calibri"/>
              </a:rPr>
              <a:t>The specific sting of being corrected in a meeting. Coffee that has gone cold. Nobody can hand you these in a description — you had to have been there.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45936" y="3529584"/>
            <a:ext cx="492861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 spc="220">
                <a:solidFill>
                  <a:srgbClr val="FF6600"/>
                </a:solidFill>
                <a:latin typeface="Calibri"/>
              </a:rPr>
              <a:t>IT DOES NOT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45936" y="3931920"/>
            <a:ext cx="4745736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2100"/>
              </a:lnSpc>
            </a:pPr>
            <a:r>
              <a:rPr sz="1600" b="0">
                <a:solidFill>
                  <a:srgbClr val="A7B7C9"/>
                </a:solidFill>
                <a:latin typeface="Calibri"/>
              </a:rPr>
              <a:t>There is nothing it is like to be the model. It produces the sentence about the coffee without the taste — and the sentence is all we ever see.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230368"/>
            <a:ext cx="999439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2700"/>
              </a:lnSpc>
            </a:pPr>
            <a:r>
              <a:rPr sz="2100" b="1">
                <a:solidFill>
                  <a:srgbClr val="FFFFFF"/>
                </a:solidFill>
                <a:latin typeface="Poppins"/>
              </a:rPr>
              <a:t>Every word we have for thinking assumes qualia.</a:t>
            </a:r>
          </a:p>
          <a:p>
            <a:pPr>
              <a:lnSpc>
                <a:spcPts val="2700"/>
              </a:lnSpc>
            </a:pPr>
            <a:r>
              <a:rPr sz="2100" b="1">
                <a:solidFill>
                  <a:srgbClr val="FFFFFF"/>
                </a:solidFill>
                <a:latin typeface="Poppins"/>
              </a:rPr>
              <a:t>That is the loan we keep making.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7215" y="634593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E5F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13232"/>
            <a:ext cx="103601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spc="260">
                <a:solidFill>
                  <a:srgbClr val="B34A00"/>
                </a:solidFill>
                <a:latin typeface="Calibri"/>
              </a:rPr>
              <a:t>THE WORDS WE BORROW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78992"/>
            <a:ext cx="10360152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4600"/>
              </a:lnSpc>
            </a:pPr>
            <a:r>
              <a:rPr sz="4000" b="1">
                <a:solidFill>
                  <a:srgbClr val="003366"/>
                </a:solidFill>
                <a:latin typeface="Poppins"/>
              </a:rPr>
              <a:t>We have no vocabulary for it</a:t>
            </a:r>
          </a:p>
          <a:p>
            <a:pPr>
              <a:lnSpc>
                <a:spcPts val="4600"/>
              </a:lnSpc>
            </a:pPr>
            <a:r>
              <a:rPr sz="4000" b="1">
                <a:solidFill>
                  <a:srgbClr val="003366"/>
                </a:solidFill>
                <a:latin typeface="Poppins"/>
              </a:rPr>
              <a:t>except our own.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93268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2800"/>
              </a:lnSpc>
            </a:pPr>
            <a:r>
              <a:rPr sz="2000" b="0">
                <a:solidFill>
                  <a:srgbClr val="68737F"/>
                </a:solidFill>
                <a:latin typeface="Calibri"/>
              </a:rPr>
              <a:t>Every verb for what it does was built to describe a mind — it understood, it decided, it wants to help. English offers nothing else, and each word quietly lends it a self.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584448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 spc="220">
                <a:solidFill>
                  <a:srgbClr val="96A0AC"/>
                </a:solidFill>
                <a:latin typeface="Calibri"/>
              </a:rPr>
              <a:t>WHAT WE SAY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77840" y="3584448"/>
            <a:ext cx="569671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 spc="220">
                <a:solidFill>
                  <a:srgbClr val="96A0AC"/>
                </a:solidFill>
                <a:latin typeface="Calibri"/>
              </a:rPr>
              <a:t>WHAT IS ACTUALLY HAPPENING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931920"/>
            <a:ext cx="4434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2100"/>
              </a:lnSpc>
            </a:pPr>
            <a:r>
              <a:rPr sz="1700" b="1">
                <a:solidFill>
                  <a:srgbClr val="003366"/>
                </a:solidFill>
                <a:latin typeface="Poppins"/>
              </a:rPr>
              <a:t>“It understood my question.”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3968496"/>
            <a:ext cx="569671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900"/>
              </a:lnSpc>
            </a:pPr>
            <a:r>
              <a:rPr sz="1500" b="0">
                <a:solidFill>
                  <a:srgbClr val="68737F"/>
                </a:solidFill>
                <a:latin typeface="Calibri"/>
              </a:rPr>
              <a:t>The prompt changed which words came next. Nothing was understood.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517136"/>
            <a:ext cx="4434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2100"/>
              </a:lnSpc>
            </a:pPr>
            <a:r>
              <a:rPr sz="1700" b="1">
                <a:solidFill>
                  <a:srgbClr val="003366"/>
                </a:solidFill>
                <a:latin typeface="Poppins"/>
              </a:rPr>
              <a:t>“It decided to leave that out.”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7840" y="4553712"/>
            <a:ext cx="569671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900"/>
              </a:lnSpc>
            </a:pPr>
            <a:r>
              <a:rPr sz="1500" b="0">
                <a:solidFill>
                  <a:srgbClr val="68737F"/>
                </a:solidFill>
                <a:latin typeface="Calibri"/>
              </a:rPr>
              <a:t>That continuation scored lower than another. No decision was taken.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102351"/>
            <a:ext cx="4434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2100"/>
              </a:lnSpc>
            </a:pPr>
            <a:r>
              <a:rPr sz="1700" b="1">
                <a:solidFill>
                  <a:srgbClr val="003366"/>
                </a:solidFill>
                <a:latin typeface="Poppins"/>
              </a:rPr>
              <a:t>“It wants to be helpful.”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7840" y="5138927"/>
            <a:ext cx="569671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900"/>
              </a:lnSpc>
            </a:pPr>
            <a:r>
              <a:rPr sz="1500" b="0">
                <a:solidFill>
                  <a:srgbClr val="68737F"/>
                </a:solidFill>
                <a:latin typeface="Calibri"/>
              </a:rPr>
              <a:t>It was tuned toward answers people rated well. There is no wanting.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705856"/>
            <a:ext cx="96926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3200"/>
              </a:lnSpc>
            </a:pPr>
            <a:r>
              <a:rPr sz="2400" b="1">
                <a:solidFill>
                  <a:srgbClr val="003366"/>
                </a:solidFill>
                <a:latin typeface="Poppins"/>
              </a:rPr>
              <a:t>The metaphor is unavoidable. The autonomy it implies is not.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7215" y="634593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4BCC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McLennan Community College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Leveraging AI at MCC — Foundations</dc:title>
  <dc:subject>Staff and faculty professional development, Tier 1</dc:subject>
  <dc:creator>Ted Gonzalez, JD/MBA</dc:creator>
  <cp:lastModifiedBy>Ted Gonzalez, JD/MBA</cp:lastModifiedBy>
  <cp:revision>1</cp:revision>
  <dcterms:created xsi:type="dcterms:W3CDTF">2026-08-04T14:20:57Z</dcterms:created>
  <dcterms:modified xsi:type="dcterms:W3CDTF">2026-08-04T14:20:57Z</dcterms:modified>
</cp:coreProperties>
</file>